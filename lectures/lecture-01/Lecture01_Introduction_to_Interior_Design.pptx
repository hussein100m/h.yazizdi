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9e6ee82-f68a-6a75-46c9-8b1c8773077f}">
          <p14:sldIdLst>
            <p14:sldId id="256"/>
            <p14:sldId id="257"/>
            <p14:sldId id="258"/>
          </p14:sldIdLst>
        </p14:section>
        <p14:section name="Design &amp; Interior Design" id="{fd98d23f-f2cc-6695-7beb-d10991ff5cfc}">
          <p14:sldIdLst>
            <p14:sldId id="259"/>
            <p14:sldId id="260"/>
            <p14:sldId id="261"/>
            <p14:sldId id="262"/>
          </p14:sldIdLst>
        </p14:section>
        <p14:section name="Space" id="{2f6c7cad-e6cf-5098-8fa9-1bc779609e58}">
          <p14:sldIdLst>
            <p14:sldId id="263"/>
            <p14:sldId id="264"/>
            <p14:sldId id="265"/>
            <p14:sldId id="266"/>
            <p14:sldId id="267"/>
            <p14:sldId id="268"/>
            <p14:sldId id="269"/>
            <p14:sldId id="270"/>
            <p14:sldId id="271"/>
            <p14:sldId id="272"/>
            <p14:sldId id="273"/>
            <p14:sldId id="274"/>
            <p14:sldId id="275"/>
            <p14:sldId id="276"/>
          </p14:sldIdLst>
        </p14:section>
        <p14:section name="Openings &amp; Human" id="{ed969209-a337-653e-620d-f8c40d454feb}">
          <p14:sldIdLst>
            <p14:sldId id="277"/>
            <p14:sldId id="278"/>
            <p14:sldId id="279"/>
          </p14:sldIdLst>
        </p14:section>
        <p14:section name="Synthesis &amp; Exercise" id="{20ec065e-0298-d9c4-eba4-67adff730335}">
          <p14:sldIdLst>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افتتاحية المحاضرة: في المحاضرة الأولى لا ندخل في الألوان والخامات والأثاث. نضع الأساس الفكري: ما هو التصميم الداخلي؟ وما هو الشيء الذي نصممه أصلًا؟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للطلاب أن الهدف ليس الحفظ بل تكوين طريقة تفكير. هذه الأهداف هي ما سيُقاس من خلال تمرين نهاية المحاضرة.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استعرض المحاور سريعًا. نبدأ من سؤال (ما التصميم؟) وننتهي بتمرين قراءة فراغ حقيقي. لا تترك الطلاب يستمعون ساعة ونصف دون مشاركة.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بسؤال الطلاب: ما هو التصميم؟ ثم صحّح المفهوم: التصميم عملية اتخاذ قرارات. اطلب منهم إضافة أسئلة أخرى قبل عرض القائمة.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التصميم الداخلي = الإنسان + الوظيفة + الفراغ + التجربة. أكّد أن غياب أي محور يجعل التصميم ناقصًا: فراغ جميل لا يعمل، أو فراغ وظيفي بلا تجربة.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نقطة يجب التأكيد عليها من البداية. لاحظ أن عناصر الديكور (اللون، الأثاث، الخامات) موجودة أيضًا داخل منظومة التصميم الداخلي، لكنها تأتي ضمن قرارات أكبر: تخطيط الفراغ، الوظيفة، الحركة، ومقياس الإنسان.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المرجع يبدأ من Theory of Architecture بتعريف العمارة كفن وعلم. نستخدم ذلك مدخلًا للعلاقة: العمارة تنتقل من الموقع إلى الغلاف، والتصميم الداخلي ينتقل من المبنى إلى التجربة. يمكن الإشارة إلى ثلاثية فيتروفيوس: المتانة، المنفعة، الجمال.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الطلاب: هل نحن نصمم الأثاث؟ لا. هل نصمم الجدران فقط؟ لا. إذن ماذا نصمم؟ نحن نصمم الفراغ — وهذه أهم فكرة في المحاضرة الأولى. انتظر إجاباتهم قبل كشف الجواب.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غرفة النوم ليست أربعة جدران وأرضية وسقف، بل فراغ + نوم + حركة + تخزين + خصوصية + ضوء. اطلب من الطلاب صياغة معادلة مشابهة لفصل دراسي أو مطبخ.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التسلسل POINT → LINE → PLANE → VOLUME مهم جدًا للمحاضرات القادمة. النقطة ذات بُعد صفري، والخط ينتج من امتداد النقطة، والمستوى من امتداد الخط، والحجم من امتداد المستوى إلى البعد الثالث. الخصائص المذكورة (Position, Length, Direction, Shape, Surface, Orientation) مأخوذة من تصنيف Ching للعناصر الأولية.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ملف Theory of Architecture: المستوى يُعرف أولًا بشكله، ثم بخصائص السطح واللون والنمط والملمس التي تؤثر في وزنه البصري، ووظيفته تحديد حدود الحجم. الحجم يتكون من نقاط (رؤوس) وخطوط (حواف يلتقي عندها مستويان) ومستويات (أسطح)، والحجم قد يكون كتلة صلبة أو فراغًا تحتويه المستويات. أكّد للطلاب: المصمم الداخلي يعمل على الـ 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المرجع يوضح ثلاثة أنواع عامة من المستويات المستخدمة في تشكيل الفراغ: Base Plane و Wall Plane و Overhead Plane. المخطط المفكك (exploded) على اليسار يوضح كيف تتحول المستويات المجردة إلى أرضية وجدران وسقف.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المرجع يوضح أن تغيير اللون أو الملمس أو تحديد الحواف يمكن أن يجعل المستوى الأرضي أكثر وضوحًا كعنصر مستقل داخل الفراغ. أعط أمثلة: منصة في قاعة محاضرات (مرتفعة)، جلسة عربية منخفضة (Sunken)، سجادة تحدد منطقة جلوس (تغيير خامة).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ملف Theory of Architecture: Elevated Base Plane — spatial &amp; visual continuity. الحالة 1: حافة واضحة مع بقاء الاستمرارية والوصول سهل. الحالة 2: تنقطع الاستمرارية الفراغية وتبقى البصرية ويلزم درج. الحالة 3: ينقطع الاتصال البصري والفراغي ويصبح المستوى معزولًا. الارتفاعات تقريبية للتوضيح.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أمثلة من ملف المرجع: الأكروبوليس (ارتفاع ناتج عن الموقع يميّز المبنى المقدس)، فيلا سافوي (رفع المبنى عن الأرض)، ساحة كانتين CEPT (منصة تحدد منطقة جلوس)، ومثال داخلي لمنصة تحدد منطقة عمل. اسأل الطلاب عن أمثلة محلية: منبر المسجد، المجلس المرتفع، منصة المحاضر.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ملف المرجع: Depressed Base Plane — spatial &amp; visual continuity. كلما زاد عمق الانخفاض قلّ اتصاله بالفراغ المحيط: يبقى جزءًا منه، ثم يصبح مميزًا، ثم ينفصل. المدرجات مثال كلاسيكي: الانخفاض يحسّن الرؤية والصوت والإحساس بالاحتواء. النزول للفراغ يعطي طابعًا انطوائيًا، والصعود طابعًا انفتاحيًا. مثال داخلي: الجلسة المنخفضة (Sunken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وظيفة الجدار ليست الفصل فقط. المرجع يوضح أن المستوى الرأسي يحدد مجالًا فراغيًا، وأن ارتفاعه بالنسبة لجسم الإنسان ومستوى العين يؤثر في مدى قدرته على وصف الفراغ بصريًا. الارتفاعات المعروضة تقريبية للتوضيح (Ching).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ملف Theory of Architecture: العناصر الخطية الرأسية تحدد حواف حجم الفراغ؛ المستوى المنفرد يُبرز الفراغ الذي يواجهه؛ المستوى L يولّد فراغًا من مركزه نحو الخارج قطريًا؛ المستويان المتوازيان يحددان فراغًا موجّهًا محوريًا نحو الطرفين المفتوحين؛ مستوى U يحدد فراغًا موجهًا نحو الطرف المفتوح (مثل مطبخ U)؛ والإغلاق بأربعة مستويات يصنع فراغًا منطويًا. المنطقة المظللة في كل مخطط هي المجال الفراغي الذي يتحدد.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المرجع يذكر أن مستوى السقف يمكن تعديله ورفعه أو خفضه وتغيير شكله ولونه وملمسه للمساعدة في تحديد المناطق وتحسين جودة الضوء والصوت والإحساس الاتجاهي. المقطع يوضح منطقة طعام تحت سقف منخفض مع إضاءة مركّزة.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ملف Theory of Architecture: المستوى العلوي يشبه الشجرة، يعطي إحساسًا بالاحتواء ويحدد مجالًا بينه وبين الأرض، وحوافه تحدد حدود هذا المجال. العناصر الرأسية وحواف السقف والأرضيات المرتفعة والمنخفضة تساعد على تثبيت حدود الفراغ بصريًا. سقف المبنى يوفر الحماية ويحدد الهيئة العامة ويعبّر عن المواد والنظام الإنشائي (أوبرا فالنسيا، ملعب ميونخ الأولمبي).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صورة فراغ داخلي بسيط (من المرسم أو من الكتاب) وقل للطلاب: لدينا ثلاثة عناصر رئيسية: الأرضية والجدران والسقف، ومن العلاقة بينها يتكوّن الفراغ.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المرجع يوضح أن الفتحات تؤثر على الاستمرارية البصرية والفراغية، وأنها تحدد أنماط الحركة وتسمح بدخول الضوء وتوفر الرؤية والتهوية وتخلق علاقات بصرية بين الفراغات. التصنيف (داخل المستوى/عند الزاوية/بين المستويات) من 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أهم عنصر هو الإنسان. الأرقام المرجعية تقريبية مأخوذة من مراجع المقاييس الإنسانية (Neufert / Panero &amp; Zelnik: Human Dimension &amp; Interior Space) وستُفصّل لاحقًا في محاضرة الأبعاد الإنسانية.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مخطط غرفة معيشة واسأل: هل أضع الكنبة هنا لأنها أجمل؟ لا. ناقش الأسئلة واحدًا تلو الآخر على المخطط: المدخل (1)، مسار الحركة (3)، نقطة التركيز (4)، النافذة (7). الكنبة وُضعت لتواجه نقطة التركيز دون أن تقطع مسار الحركة.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اكتب هذه الجملة وحدها على الشاشة: FUNCTION → SPACE → EXPERIENCE → FORM. ثم اشرح كل خطوة. هذه هي العقلية التي نريد أن يبدأ بها الطالب المادة. لاحظ أن الترتيب هنا يُقرأ باللغة الإنجليزية من اليسار إلى اليمين.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تترك الطلاب يجلسون ساعة ونصف يستمعون. التمرين يبدأ داخل المرسم ويُستكمل للمحاضرة القادمة. المُخرَج (لوحة A3 وترميز لوني) مقترح ويمكن تعديله حسب سياسة المرسم. استخدم نفس ألوان المحاضرة: الأرضية بالتيراكوتا، الجدران بالأخضر المزرق، السقف بالأصفر.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راجع الأفكار الست بسرعة مع الطلاب واطلب من أحدهم صياغة كل فكرة بكلماته.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أنهِ المحاضرة بهذه الجملة: قبل أن نتعلم كيف نجمّل الفراغ، يجب أن نتعلم كيف نفهمه. ثم أخبرهم أن المحاضرات القادمة ستبدأ بتفكيك الفراغ إلى عناصره الأساسية: Point, Line, Plane &amp;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المرجع الأساسي للمادة هو Ching: Architecture: Form, Space, and Order. بقية المراجع للاستزادة.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algn="l" indent="0" marL="0">
              <a:buNone/>
            </a:pPr>
            <a:r>
              <a:rPr lang="en-US" sz="1000" dirty="0">
                <a:solidFill>
                  <a:schemeClr val="accent3"/>
                </a:solidFill>
              </a:rPr>
              <a:t>Introduction to Interior Design  ·  Lecture 01</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rtlCol="0"/>
          <a:lstStyle>
            <a:lvl1pPr algn="r" indent="0" marL="0">
              <a:buNone/>
              <a:defRPr lang="en-US" sz="1300" b="1" spc="100" kern="0" dirty="0">
                <a:solidFill>
                  <a:schemeClr val="accent1"/>
                </a:solidFill>
              </a:defRPr>
            </a:lvl1pPr>
          </a:lstStyle>
          <a:p>
            <a:pPr algn="r" indent="0" marL="0">
              <a:buNone/>
            </a:pP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rtlCol="0"/>
          <a:lstStyle>
            <a:lvl1pPr algn="r" indent="0" marL="0">
              <a:buNone/>
              <a:defRPr lang="en-US" sz="3200" b="1" dirty="0">
                <a:solidFill>
                  <a:schemeClr val="tx1"/>
                </a:solidFill>
              </a:defRPr>
            </a:lvl1pPr>
          </a:lstStyle>
          <a:p>
            <a:pPr algn="r" indent="0" marL="0">
              <a:buNone/>
            </a:pPr>
            <a:endParaRPr lang="en-US" sz="3200" dirty="0"/>
          </a:p>
        </p:txBody>
      </p:sp>
      <p:sp>
        <p:nvSpPr>
          <p:cNvPr id="4" name="Text 0"/>
          <p:cNvSpPr/>
          <p:nvPr/>
        </p:nvSpPr>
        <p:spPr>
          <a:xfrm>
            <a:off x="548640" y="6355080"/>
            <a:ext cx="5486400" cy="274320"/>
          </a:xfrm>
          <a:prstGeom prst="rect">
            <a:avLst/>
          </a:prstGeom>
          <a:noFill/>
          <a:ln/>
        </p:spPr>
        <p:txBody>
          <a:bodyPr wrap="square" lIns="0" tIns="0" rIns="0" bIns="0" rtlCol="0" anchor="ctr"/>
          <a:lstStyle/>
          <a:p>
            <a:pPr algn="l" indent="0" marL="0">
              <a:buNone/>
            </a:pPr>
            <a:r>
              <a:rPr lang="en-US" sz="1000" dirty="0">
                <a:solidFill>
                  <a:schemeClr val="accent3"/>
                </a:solidFill>
              </a:rPr>
              <a:t>Introduction to Interior Design  ·  Lecture 01</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4.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png"/><Relationship Id="rId4" Type="http://schemas.openxmlformats.org/officeDocument/2006/relationships/image" Target="../media/image-12-4.jpeg"/><Relationship Id="rId5" Type="http://schemas.openxmlformats.org/officeDocument/2006/relationships/image" Target="../media/image-12-5.png"/><Relationship Id="rId6" Type="http://schemas.openxmlformats.org/officeDocument/2006/relationships/image" Target="../media/image-12-6.jpe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image" Target="../media/image-15-4.jpe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jpeg"/><Relationship Id="rId7" Type="http://schemas.openxmlformats.org/officeDocument/2006/relationships/image" Target="../media/image-20-7.jpeg"/><Relationship Id="rId8" Type="http://schemas.openxmlformats.org/officeDocument/2006/relationships/image" Target="../media/image-20-8.jpeg"/><Relationship Id="rId9" Type="http://schemas.openxmlformats.org/officeDocument/2006/relationships/slideLayout" Target="../slideLayouts/slideLayout4.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floor side A"/>
          <p:cNvSpPr/>
          <p:nvPr/>
        </p:nvSpPr>
        <p:spPr>
          <a:xfrm>
            <a:off x="931253" y="3894430"/>
            <a:ext cx="2177707" cy="1317650"/>
          </a:xfrm>
          <a:custGeom>
            <a:avLst/>
            <a:gdLst/>
            <a:ahLst/>
            <a:cxnLst/>
            <a:rect l="l" t="t" r="r" b="b"/>
            <a:pathLst>
              <a:path w="2177707" h="1317650">
                <a:moveTo>
                  <a:pt x="0" y="60350"/>
                </a:moveTo>
                <a:lnTo>
                  <a:pt x="2177707" y="1317650"/>
                </a:lnTo>
                <a:lnTo>
                  <a:pt x="2177707" y="1257300"/>
                </a:lnTo>
                <a:lnTo>
                  <a:pt x="0" y="0"/>
                </a:lnTo>
                <a:close/>
              </a:path>
            </a:pathLst>
          </a:custGeom>
          <a:solidFill>
            <a:srgbClr val="9E4429"/>
          </a:solidFill>
          <a:ln w="6350">
            <a:solidFill>
              <a:srgbClr val="1F2224"/>
            </a:solidFill>
            <a:prstDash val="solid"/>
          </a:ln>
        </p:spPr>
      </p:sp>
      <p:sp>
        <p:nvSpPr>
          <p:cNvPr id="3" name="floor side B"/>
          <p:cNvSpPr/>
          <p:nvPr/>
        </p:nvSpPr>
        <p:spPr>
          <a:xfrm>
            <a:off x="3108960" y="3894430"/>
            <a:ext cx="2177707" cy="1317650"/>
          </a:xfrm>
          <a:custGeom>
            <a:avLst/>
            <a:gdLst/>
            <a:ahLst/>
            <a:cxnLst/>
            <a:rect l="l" t="t" r="r" b="b"/>
            <a:pathLst>
              <a:path w="2177707" h="1317650">
                <a:moveTo>
                  <a:pt x="2177707" y="60350"/>
                </a:moveTo>
                <a:lnTo>
                  <a:pt x="0" y="1317650"/>
                </a:lnTo>
                <a:lnTo>
                  <a:pt x="0" y="1257300"/>
                </a:lnTo>
                <a:lnTo>
                  <a:pt x="2177707" y="0"/>
                </a:lnTo>
                <a:close/>
              </a:path>
            </a:pathLst>
          </a:custGeom>
          <a:solidFill>
            <a:srgbClr val="B04F33"/>
          </a:solidFill>
          <a:ln w="6350">
            <a:solidFill>
              <a:srgbClr val="1F2224"/>
            </a:solidFill>
            <a:prstDash val="solid"/>
          </a:ln>
        </p:spPr>
      </p:sp>
      <p:sp>
        <p:nvSpPr>
          <p:cNvPr id="4" name="floor top"/>
          <p:cNvSpPr/>
          <p:nvPr/>
        </p:nvSpPr>
        <p:spPr>
          <a:xfrm>
            <a:off x="931253" y="2637130"/>
            <a:ext cx="4355415" cy="2514600"/>
          </a:xfrm>
          <a:custGeom>
            <a:avLst/>
            <a:gdLst/>
            <a:ahLst/>
            <a:cxnLst/>
            <a:rect l="l" t="t" r="r" b="b"/>
            <a:pathLst>
              <a:path w="4355415" h="2514600">
                <a:moveTo>
                  <a:pt x="2177707" y="0"/>
                </a:moveTo>
                <a:lnTo>
                  <a:pt x="4355415" y="1257300"/>
                </a:lnTo>
                <a:lnTo>
                  <a:pt x="2177707" y="2514600"/>
                </a:lnTo>
                <a:lnTo>
                  <a:pt x="0" y="1257300"/>
                </a:lnTo>
                <a:close/>
              </a:path>
            </a:pathLst>
          </a:custGeom>
          <a:solidFill>
            <a:srgbClr val="C2593A"/>
          </a:solidFill>
          <a:ln w="6350">
            <a:solidFill>
              <a:srgbClr val="1F2224"/>
            </a:solidFill>
            <a:prstDash val="solid"/>
          </a:ln>
        </p:spPr>
      </p:sp>
      <p:sp>
        <p:nvSpPr>
          <p:cNvPr id="5" name="back wall"/>
          <p:cNvSpPr/>
          <p:nvPr/>
        </p:nvSpPr>
        <p:spPr>
          <a:xfrm>
            <a:off x="3108960" y="685800"/>
            <a:ext cx="2177707" cy="3208630"/>
          </a:xfrm>
          <a:custGeom>
            <a:avLst/>
            <a:gdLst/>
            <a:ahLst/>
            <a:cxnLst/>
            <a:rect l="l" t="t" r="r" b="b"/>
            <a:pathLst>
              <a:path w="2177707" h="3208630">
                <a:moveTo>
                  <a:pt x="0" y="1951330"/>
                </a:moveTo>
                <a:lnTo>
                  <a:pt x="2177707" y="3208630"/>
                </a:lnTo>
                <a:lnTo>
                  <a:pt x="2177707" y="1257300"/>
                </a:lnTo>
                <a:lnTo>
                  <a:pt x="0" y="0"/>
                </a:lnTo>
                <a:close/>
              </a:path>
            </a:pathLst>
          </a:custGeom>
          <a:solidFill>
            <a:srgbClr val="3A4146"/>
          </a:solidFill>
          <a:ln w="6350">
            <a:solidFill>
              <a:srgbClr val="1F2224"/>
            </a:solidFill>
            <a:prstDash val="solid"/>
          </a:ln>
        </p:spPr>
      </p:sp>
      <p:sp>
        <p:nvSpPr>
          <p:cNvPr id="6" name="side wall"/>
          <p:cNvSpPr/>
          <p:nvPr/>
        </p:nvSpPr>
        <p:spPr>
          <a:xfrm>
            <a:off x="931253" y="685800"/>
            <a:ext cx="2177707" cy="3208630"/>
          </a:xfrm>
          <a:custGeom>
            <a:avLst/>
            <a:gdLst/>
            <a:ahLst/>
            <a:cxnLst/>
            <a:rect l="l" t="t" r="r" b="b"/>
            <a:pathLst>
              <a:path w="2177707" h="3208630">
                <a:moveTo>
                  <a:pt x="2177707" y="1951330"/>
                </a:moveTo>
                <a:lnTo>
                  <a:pt x="0" y="3208630"/>
                </a:lnTo>
                <a:lnTo>
                  <a:pt x="0" y="1257300"/>
                </a:lnTo>
                <a:lnTo>
                  <a:pt x="2177707" y="0"/>
                </a:lnTo>
                <a:close/>
              </a:path>
            </a:pathLst>
          </a:custGeom>
          <a:solidFill>
            <a:srgbClr val="5B6770"/>
          </a:solidFill>
          <a:ln w="6350">
            <a:solidFill>
              <a:srgbClr val="1F2224"/>
            </a:solidFill>
            <a:prstDash val="solid"/>
          </a:ln>
        </p:spPr>
      </p:sp>
      <p:sp>
        <p:nvSpPr>
          <p:cNvPr id="7" name="window"/>
          <p:cNvSpPr/>
          <p:nvPr/>
        </p:nvSpPr>
        <p:spPr>
          <a:xfrm>
            <a:off x="3718718" y="1440180"/>
            <a:ext cx="958191" cy="1659636"/>
          </a:xfrm>
          <a:custGeom>
            <a:avLst/>
            <a:gdLst/>
            <a:ahLst/>
            <a:cxnLst/>
            <a:rect l="l" t="t" r="r" b="b"/>
            <a:pathLst>
              <a:path w="958191" h="1659636">
                <a:moveTo>
                  <a:pt x="0" y="1106424"/>
                </a:moveTo>
                <a:lnTo>
                  <a:pt x="958191" y="1659636"/>
                </a:lnTo>
                <a:lnTo>
                  <a:pt x="958191" y="553212"/>
                </a:lnTo>
                <a:lnTo>
                  <a:pt x="0" y="0"/>
                </a:lnTo>
                <a:close/>
              </a:path>
            </a:pathLst>
          </a:custGeom>
          <a:solidFill>
            <a:srgbClr val="D9A441">
              <a:alpha val="80000"/>
            </a:srgbClr>
          </a:solidFill>
          <a:ln/>
        </p:spPr>
      </p:sp>
      <p:sp>
        <p:nvSpPr>
          <p:cNvPr id="8" name="door"/>
          <p:cNvSpPr/>
          <p:nvPr/>
        </p:nvSpPr>
        <p:spPr>
          <a:xfrm>
            <a:off x="1889444" y="1641348"/>
            <a:ext cx="522650" cy="1699870"/>
          </a:xfrm>
          <a:custGeom>
            <a:avLst/>
            <a:gdLst/>
            <a:ahLst/>
            <a:cxnLst/>
            <a:rect l="l" t="t" r="r" b="b"/>
            <a:pathLst>
              <a:path w="522650" h="1699870">
                <a:moveTo>
                  <a:pt x="522650" y="1398118"/>
                </a:moveTo>
                <a:lnTo>
                  <a:pt x="0" y="1699870"/>
                </a:lnTo>
                <a:lnTo>
                  <a:pt x="0" y="301752"/>
                </a:lnTo>
                <a:lnTo>
                  <a:pt x="522650" y="0"/>
                </a:lnTo>
                <a:close/>
              </a:path>
            </a:pathLst>
          </a:custGeom>
          <a:solidFill>
            <a:srgbClr val="1F2224"/>
          </a:solidFill>
          <a:ln/>
        </p:spPr>
      </p:sp>
      <p:sp>
        <p:nvSpPr>
          <p:cNvPr id="9" name="sofa side A"/>
          <p:cNvSpPr/>
          <p:nvPr/>
        </p:nvSpPr>
        <p:spPr>
          <a:xfrm>
            <a:off x="2673419" y="3743554"/>
            <a:ext cx="783975" cy="704088"/>
          </a:xfrm>
          <a:custGeom>
            <a:avLst/>
            <a:gdLst/>
            <a:ahLst/>
            <a:cxnLst/>
            <a:rect l="l" t="t" r="r" b="b"/>
            <a:pathLst>
              <a:path w="783975" h="704088">
                <a:moveTo>
                  <a:pt x="0" y="251460"/>
                </a:moveTo>
                <a:lnTo>
                  <a:pt x="783975" y="704088"/>
                </a:lnTo>
                <a:lnTo>
                  <a:pt x="783975" y="452628"/>
                </a:lnTo>
                <a:lnTo>
                  <a:pt x="0" y="0"/>
                </a:lnTo>
                <a:close/>
              </a:path>
            </a:pathLst>
          </a:custGeom>
          <a:solidFill>
            <a:srgbClr val="B9C4C4"/>
          </a:solidFill>
          <a:ln w="6350">
            <a:solidFill>
              <a:srgbClr val="1F2224"/>
            </a:solidFill>
            <a:prstDash val="solid"/>
          </a:ln>
        </p:spPr>
      </p:sp>
      <p:sp>
        <p:nvSpPr>
          <p:cNvPr id="10" name="sofa side B"/>
          <p:cNvSpPr/>
          <p:nvPr/>
        </p:nvSpPr>
        <p:spPr>
          <a:xfrm>
            <a:off x="3457393" y="3995014"/>
            <a:ext cx="348433" cy="452628"/>
          </a:xfrm>
          <a:custGeom>
            <a:avLst/>
            <a:gdLst/>
            <a:ahLst/>
            <a:cxnLst/>
            <a:rect l="l" t="t" r="r" b="b"/>
            <a:pathLst>
              <a:path w="348433" h="452628">
                <a:moveTo>
                  <a:pt x="348433" y="251460"/>
                </a:moveTo>
                <a:lnTo>
                  <a:pt x="0" y="452628"/>
                </a:lnTo>
                <a:lnTo>
                  <a:pt x="0" y="201168"/>
                </a:lnTo>
                <a:lnTo>
                  <a:pt x="348433" y="0"/>
                </a:lnTo>
                <a:close/>
              </a:path>
            </a:pathLst>
          </a:custGeom>
          <a:solidFill>
            <a:srgbClr val="8A9A9B"/>
          </a:solidFill>
          <a:ln w="6350">
            <a:solidFill>
              <a:srgbClr val="1F2224"/>
            </a:solidFill>
            <a:prstDash val="solid"/>
          </a:ln>
        </p:spPr>
      </p:sp>
      <p:sp>
        <p:nvSpPr>
          <p:cNvPr id="11" name="sofa top"/>
          <p:cNvSpPr/>
          <p:nvPr/>
        </p:nvSpPr>
        <p:spPr>
          <a:xfrm>
            <a:off x="2673419" y="3542386"/>
            <a:ext cx="1132408" cy="653796"/>
          </a:xfrm>
          <a:custGeom>
            <a:avLst/>
            <a:gdLst/>
            <a:ahLst/>
            <a:cxnLst/>
            <a:rect l="l" t="t" r="r" b="b"/>
            <a:pathLst>
              <a:path w="1132408" h="653796">
                <a:moveTo>
                  <a:pt x="348433" y="0"/>
                </a:moveTo>
                <a:lnTo>
                  <a:pt x="1132408" y="452628"/>
                </a:lnTo>
                <a:lnTo>
                  <a:pt x="783975" y="653796"/>
                </a:lnTo>
                <a:lnTo>
                  <a:pt x="0" y="201168"/>
                </a:lnTo>
                <a:close/>
              </a:path>
            </a:pathLst>
          </a:custGeom>
          <a:solidFill>
            <a:srgbClr val="EEF0F0"/>
          </a:solidFill>
          <a:ln w="6350">
            <a:solidFill>
              <a:srgbClr val="1F2224"/>
            </a:solidFill>
            <a:prstDash val="solid"/>
          </a:ln>
        </p:spPr>
      </p:sp>
      <p:sp>
        <p:nvSpPr>
          <p:cNvPr id="12" name="Text 10"/>
          <p:cNvSpPr txBox="1"/>
          <p:nvPr/>
        </p:nvSpPr>
        <p:spPr>
          <a:xfrm>
            <a:off x="6309360" y="1143000"/>
            <a:ext cx="5330952" cy="411480"/>
          </a:xfrm>
          <a:prstGeom prst="rect">
            <a:avLst/>
          </a:prstGeom>
          <a:noFill/>
          <a:ln/>
        </p:spPr>
        <p:txBody>
          <a:bodyPr wrap="square" lIns="0" tIns="0" rIns="0" bIns="0" rtlCol="0" anchor="t"/>
          <a:lstStyle/>
          <a:p>
            <a:pPr rtl="1" algn="r" indent="0" marL="0">
              <a:buNone/>
            </a:pPr>
            <a:r>
              <a:rPr lang="ar-SA" altLang="en-US" sz="1800" b="1" dirty="0">
                <a:solidFill>
                  <a:srgbClr val="C2593A"/>
                </a:solidFill>
              </a:rPr>
              <a:t>المحاضرة الأولى</a:t>
            </a:r>
            <a:endParaRPr lang="ar-SA" sz="1800" dirty="0"/>
          </a:p>
        </p:txBody>
      </p:sp>
      <p:sp>
        <p:nvSpPr>
          <p:cNvPr id="13" name="Text 11"/>
          <p:cNvSpPr txBox="1"/>
          <p:nvPr/>
        </p:nvSpPr>
        <p:spPr>
          <a:xfrm>
            <a:off x="5852160" y="1600200"/>
            <a:ext cx="5788152" cy="868680"/>
          </a:xfrm>
          <a:prstGeom prst="rect">
            <a:avLst/>
          </a:prstGeom>
          <a:noFill/>
          <a:ln/>
        </p:spPr>
        <p:txBody>
          <a:bodyPr wrap="square" lIns="0" tIns="0" rIns="0" bIns="0" rtlCol="0" anchor="t">
            <a:normAutofit/>
          </a:bodyPr>
          <a:lstStyle/>
          <a:p>
            <a:pPr rtl="1" algn="r" indent="0" marL="0">
              <a:buNone/>
            </a:pPr>
            <a:r>
              <a:rPr lang="ar-SA" altLang="en-US" sz="4000" b="1" dirty="0">
                <a:solidFill>
                  <a:srgbClr val="FFFFFF"/>
                </a:solidFill>
              </a:rPr>
              <a:t>مقدمة في التصميم الداخلي</a:t>
            </a:r>
            <a:endParaRPr lang="ar-SA" sz="4000" dirty="0"/>
          </a:p>
        </p:txBody>
      </p:sp>
      <p:sp>
        <p:nvSpPr>
          <p:cNvPr id="14" name="Text 12"/>
          <p:cNvSpPr txBox="1"/>
          <p:nvPr/>
        </p:nvSpPr>
        <p:spPr>
          <a:xfrm>
            <a:off x="5852160" y="2514600"/>
            <a:ext cx="5788152" cy="548640"/>
          </a:xfrm>
          <a:prstGeom prst="rect">
            <a:avLst/>
          </a:prstGeom>
          <a:noFill/>
          <a:ln/>
        </p:spPr>
        <p:txBody>
          <a:bodyPr wrap="square" lIns="0" tIns="0" rIns="0" bIns="0" rtlCol="0" anchor="t"/>
          <a:lstStyle/>
          <a:p>
            <a:pPr algn="r" indent="0" marL="0">
              <a:buNone/>
            </a:pPr>
            <a:r>
              <a:rPr lang="en-US" sz="2400" dirty="0">
                <a:solidFill>
                  <a:srgbClr val="B9C4C4"/>
                </a:solidFill>
              </a:rPr>
              <a:t>Introduction to Interior Design</a:t>
            </a:r>
            <a:endParaRPr lang="en-US" sz="2400" dirty="0"/>
          </a:p>
        </p:txBody>
      </p:sp>
      <p:sp>
        <p:nvSpPr>
          <p:cNvPr id="15" name="divider"/>
          <p:cNvSpPr/>
          <p:nvPr/>
        </p:nvSpPr>
        <p:spPr>
          <a:xfrm>
            <a:off x="8897112" y="3337560"/>
            <a:ext cx="2743200" cy="0"/>
          </a:xfrm>
          <a:prstGeom prst="line">
            <a:avLst/>
          </a:prstGeom>
          <a:noFill/>
          <a:ln w="9525">
            <a:solidFill>
              <a:srgbClr val="5B6770"/>
            </a:solidFill>
            <a:prstDash val="solid"/>
          </a:ln>
        </p:spPr>
      </p:sp>
      <p:sp>
        <p:nvSpPr>
          <p:cNvPr id="16" name="Text 14"/>
          <p:cNvSpPr txBox="1"/>
          <p:nvPr/>
        </p:nvSpPr>
        <p:spPr>
          <a:xfrm>
            <a:off x="5852160" y="3520440"/>
            <a:ext cx="5788152" cy="1280160"/>
          </a:xfrm>
          <a:prstGeom prst="rect">
            <a:avLst/>
          </a:prstGeom>
          <a:noFill/>
          <a:ln/>
        </p:spPr>
        <p:txBody>
          <a:bodyPr wrap="square" lIns="0" tIns="0" rIns="0" bIns="0" rtlCol="0" anchor="t"/>
          <a:lstStyle/>
          <a:p>
            <a:pPr algn="r" indent="0" marL="0">
              <a:spcAft>
                <a:spcPts val="600"/>
              </a:spcAft>
              <a:buNone/>
            </a:pPr>
            <a:r>
              <a:rPr lang="ar-SA" altLang="en-US" sz="1500" b="1" dirty="0">
                <a:solidFill>
                  <a:srgbClr val="C2593A"/>
                </a:solidFill>
              </a:rPr>
              <a:t>المادة: </a:t>
            </a:r>
            <a:pPr algn="r" indent="0" marL="0">
              <a:spcAft>
                <a:spcPts val="600"/>
              </a:spcAft>
              <a:buNone/>
            </a:pPr>
            <a:r>
              <a:rPr lang="ar-SA" altLang="en-US" sz="1500" dirty="0">
                <a:solidFill>
                  <a:srgbClr val="FFFFFF"/>
                </a:solidFill>
              </a:rPr>
              <a:t>Introduction to Interior Design &amp; Fundamentals</a:t>
            </a:r>
            <a:endParaRPr lang="ar-SA" sz="1500" dirty="0"/>
          </a:p>
          <a:p>
            <a:pPr algn="r" indent="0" marL="0">
              <a:spcAft>
                <a:spcPts val="600"/>
              </a:spcAft>
              <a:buNone/>
            </a:pPr>
            <a:r>
              <a:rPr lang="ar-SA" altLang="en-US" sz="1500" b="1" dirty="0">
                <a:solidFill>
                  <a:srgbClr val="C2593A"/>
                </a:solidFill>
              </a:rPr>
              <a:t>المرسم: </a:t>
            </a:r>
            <a:pPr algn="r" indent="0" marL="0">
              <a:spcAft>
                <a:spcPts val="600"/>
              </a:spcAft>
              <a:buNone/>
            </a:pPr>
            <a:r>
              <a:rPr lang="ar-SA" altLang="en-US" sz="1500" dirty="0">
                <a:solidFill>
                  <a:srgbClr val="FFFFFF"/>
                </a:solidFill>
              </a:rPr>
              <a:t>Studio 3</a:t>
            </a:r>
            <a:endParaRPr lang="ar-SA" sz="1500" dirty="0"/>
          </a:p>
          <a:p>
            <a:pPr algn="r" indent="0" marL="0">
              <a:spcAft>
                <a:spcPts val="600"/>
              </a:spcAft>
              <a:buNone/>
            </a:pPr>
            <a:r>
              <a:rPr lang="ar-SA" altLang="en-US" sz="1500" b="1" dirty="0">
                <a:solidFill>
                  <a:srgbClr val="D9A441"/>
                </a:solidFill>
              </a:rPr>
              <a:t>Lecture 01</a:t>
            </a:r>
            <a:endParaRPr lang="ar-SA" sz="1500" dirty="0"/>
          </a:p>
        </p:txBody>
      </p:sp>
      <p:sp>
        <p:nvSpPr>
          <p:cNvPr id="17" name="Text 15"/>
          <p:cNvSpPr txBox="1"/>
          <p:nvPr/>
        </p:nvSpPr>
        <p:spPr>
          <a:xfrm>
            <a:off x="5852160" y="6172200"/>
            <a:ext cx="5788152" cy="274320"/>
          </a:xfrm>
          <a:prstGeom prst="rect">
            <a:avLst/>
          </a:prstGeom>
          <a:noFill/>
          <a:ln/>
        </p:spPr>
        <p:txBody>
          <a:bodyPr wrap="square" lIns="0" tIns="0" rIns="0" bIns="0" rtlCol="0" anchor="t"/>
          <a:lstStyle/>
          <a:p>
            <a:pPr algn="r" indent="0" marL="0">
              <a:buNone/>
            </a:pPr>
            <a:r>
              <a:rPr lang="en-US" sz="1000" dirty="0">
                <a:solidFill>
                  <a:srgbClr val="8A9A9B"/>
                </a:solidFill>
              </a:rPr>
              <a:t>Theory reference: Ching, F.D.K. — Architecture: Form, Space, and Order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LECTURE OBJECTIVES</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ماذا نريد من هذه المحاضرة؟</a:t>
            </a:r>
            <a:endParaRPr lang="ar-SA" sz="3200" dirty="0"/>
          </a:p>
        </p:txBody>
      </p:sp>
      <p:sp>
        <p:nvSpPr>
          <p:cNvPr id="4" name="Text 2"/>
          <p:cNvSpPr txBox="1"/>
          <p:nvPr/>
        </p:nvSpPr>
        <p:spPr>
          <a:xfrm>
            <a:off x="548640" y="1463040"/>
            <a:ext cx="11094415" cy="411480"/>
          </a:xfrm>
          <a:prstGeom prst="rect">
            <a:avLst/>
          </a:prstGeom>
          <a:noFill/>
          <a:ln/>
        </p:spPr>
        <p:txBody>
          <a:bodyPr wrap="square" lIns="0" tIns="0" rIns="0" bIns="0" rtlCol="0" anchor="t"/>
          <a:lstStyle/>
          <a:p>
            <a:pPr rtl="1" algn="r" indent="0" marL="0">
              <a:buNone/>
            </a:pPr>
            <a:r>
              <a:rPr lang="ar-SA" altLang="en-US" sz="1600" dirty="0">
                <a:solidFill>
                  <a:srgbClr val="3A4146"/>
                </a:solidFill>
              </a:rPr>
              <a:t>في أول محاضرة لا ندخل في الألوان والخامات والأثاث؛ بل نضع الأساس الفكري للمادة.</a:t>
            </a:r>
            <a:endParaRPr lang="ar-SA" sz="1600" dirty="0"/>
          </a:p>
        </p:txBody>
      </p:sp>
      <p:sp>
        <p:nvSpPr>
          <p:cNvPr id="5" name="objective 1"/>
          <p:cNvSpPr/>
          <p:nvPr/>
        </p:nvSpPr>
        <p:spPr>
          <a:xfrm>
            <a:off x="8127797" y="2057400"/>
            <a:ext cx="3515258" cy="1965960"/>
          </a:xfrm>
          <a:prstGeom prst="roundRect">
            <a:avLst>
              <a:gd name="adj" fmla="val 3721"/>
            </a:avLst>
          </a:prstGeom>
          <a:solidFill>
            <a:schemeClr val="bg2"/>
          </a:solidFill>
          <a:ln/>
          <a:effectLst>
            <a:outerShdw sx="100000" sy="100000" kx="0" ky="0" algn="bl" rotWithShape="0" blurRad="101600" dist="25400" dir="5400000">
              <a:srgbClr val="000000">
                <a:alpha val="12000"/>
              </a:srgbClr>
            </a:outerShdw>
          </a:effectLst>
        </p:spPr>
      </p:sp>
      <p:sp>
        <p:nvSpPr>
          <p:cNvPr id="6" name="objective 1 circle"/>
          <p:cNvSpPr/>
          <p:nvPr/>
        </p:nvSpPr>
        <p:spPr>
          <a:xfrm>
            <a:off x="10774375" y="2331720"/>
            <a:ext cx="594360" cy="594360"/>
          </a:xfrm>
          <a:prstGeom prst="ellipse">
            <a:avLst/>
          </a:prstGeom>
          <a:solidFill>
            <a:srgbClr val="2F6B6A"/>
          </a:solidFill>
          <a:ln/>
        </p:spPr>
      </p:sp>
      <p:pic>
        <p:nvPicPr>
          <p:cNvPr id="7" name="objective 1 icon" descr="objective 1">    </p:cNvPr>
          <p:cNvPicPr>
            <a:picLocks noChangeAspect="1"/>
          </p:cNvPicPr>
          <p:nvPr/>
        </p:nvPicPr>
        <p:blipFill>
          <a:blip r:embed="rId1"/>
          <a:stretch>
            <a:fillRect/>
          </a:stretch>
        </p:blipFill>
        <p:spPr>
          <a:xfrm>
            <a:off x="10922965" y="2480310"/>
            <a:ext cx="297180" cy="297180"/>
          </a:xfrm>
          <a:prstGeom prst="rect">
            <a:avLst/>
          </a:prstGeom>
        </p:spPr>
      </p:pic>
      <p:sp>
        <p:nvSpPr>
          <p:cNvPr id="8" name="Text 5"/>
          <p:cNvSpPr txBox="1"/>
          <p:nvPr/>
        </p:nvSpPr>
        <p:spPr>
          <a:xfrm>
            <a:off x="8402117" y="2377440"/>
            <a:ext cx="914400" cy="457200"/>
          </a:xfrm>
          <a:prstGeom prst="rect">
            <a:avLst/>
          </a:prstGeom>
          <a:noFill/>
          <a:ln/>
        </p:spPr>
        <p:txBody>
          <a:bodyPr wrap="square" lIns="0" tIns="0" rIns="0" bIns="0" rtlCol="0" anchor="t"/>
          <a:lstStyle/>
          <a:p>
            <a:pPr algn="l" indent="0" marL="0">
              <a:buNone/>
            </a:pPr>
            <a:r>
              <a:rPr lang="en-US" sz="2400" b="1" dirty="0">
                <a:solidFill>
                  <a:srgbClr val="B9C4C4"/>
                </a:solidFill>
              </a:rPr>
              <a:t>01</a:t>
            </a:r>
            <a:endParaRPr lang="en-US" sz="2400" dirty="0"/>
          </a:p>
        </p:txBody>
      </p:sp>
      <p:sp>
        <p:nvSpPr>
          <p:cNvPr id="9" name="Text 6"/>
          <p:cNvSpPr txBox="1"/>
          <p:nvPr/>
        </p:nvSpPr>
        <p:spPr>
          <a:xfrm>
            <a:off x="8402117" y="3017520"/>
            <a:ext cx="2966618" cy="365760"/>
          </a:xfrm>
          <a:prstGeom prst="rect">
            <a:avLst/>
          </a:prstGeom>
          <a:noFill/>
          <a:ln/>
        </p:spPr>
        <p:txBody>
          <a:bodyPr wrap="square" lIns="0" tIns="0" rIns="0" bIns="0" rtlCol="0" anchor="t"/>
          <a:lstStyle/>
          <a:p>
            <a:pPr rtl="1" algn="r" indent="0" marL="0">
              <a:buNone/>
            </a:pPr>
            <a:r>
              <a:rPr lang="ar-SA" altLang="en-US" sz="1700" b="1" dirty="0">
                <a:solidFill>
                  <a:srgbClr val="1F2224"/>
                </a:solidFill>
              </a:rPr>
              <a:t>تعريف التصميم</a:t>
            </a:r>
            <a:endParaRPr lang="ar-SA" sz="1700" dirty="0"/>
          </a:p>
        </p:txBody>
      </p:sp>
      <p:sp>
        <p:nvSpPr>
          <p:cNvPr id="10" name="Text 7"/>
          <p:cNvSpPr txBox="1"/>
          <p:nvPr/>
        </p:nvSpPr>
        <p:spPr>
          <a:xfrm>
            <a:off x="8402117" y="3383280"/>
            <a:ext cx="2966618" cy="594360"/>
          </a:xfrm>
          <a:prstGeom prst="rect">
            <a:avLst/>
          </a:prstGeom>
          <a:noFill/>
          <a:ln/>
        </p:spPr>
        <p:txBody>
          <a:bodyPr wrap="square" lIns="0" tIns="0" rIns="0" bIns="0" rtlCol="0" anchor="t"/>
          <a:lstStyle/>
          <a:p>
            <a:pPr rtl="1" algn="r" indent="0" marL="0">
              <a:buNone/>
            </a:pPr>
            <a:r>
              <a:rPr lang="ar-SA" altLang="en-US" sz="1300" dirty="0">
                <a:solidFill>
                  <a:srgbClr val="3A4146"/>
                </a:solidFill>
              </a:rPr>
              <a:t>فهم التصميم كعملية اتخاذ قرارات منظمة وليس رسمًا لشكل جميل.</a:t>
            </a:r>
            <a:endParaRPr lang="ar-SA" sz="1300" dirty="0"/>
          </a:p>
        </p:txBody>
      </p:sp>
      <p:sp>
        <p:nvSpPr>
          <p:cNvPr id="11" name="objective 2"/>
          <p:cNvSpPr/>
          <p:nvPr/>
        </p:nvSpPr>
        <p:spPr>
          <a:xfrm>
            <a:off x="4338218" y="2057400"/>
            <a:ext cx="3515258" cy="1965960"/>
          </a:xfrm>
          <a:prstGeom prst="roundRect">
            <a:avLst>
              <a:gd name="adj" fmla="val 3721"/>
            </a:avLst>
          </a:prstGeom>
          <a:solidFill>
            <a:schemeClr val="bg2"/>
          </a:solidFill>
          <a:ln/>
          <a:effectLst>
            <a:outerShdw sx="100000" sy="100000" kx="0" ky="0" algn="bl" rotWithShape="0" blurRad="101600" dist="25400" dir="5400000">
              <a:srgbClr val="000000">
                <a:alpha val="12000"/>
              </a:srgbClr>
            </a:outerShdw>
          </a:effectLst>
        </p:spPr>
      </p:sp>
      <p:sp>
        <p:nvSpPr>
          <p:cNvPr id="12" name="objective 2 circle"/>
          <p:cNvSpPr/>
          <p:nvPr/>
        </p:nvSpPr>
        <p:spPr>
          <a:xfrm>
            <a:off x="6984797" y="2331720"/>
            <a:ext cx="594360" cy="594360"/>
          </a:xfrm>
          <a:prstGeom prst="ellipse">
            <a:avLst/>
          </a:prstGeom>
          <a:solidFill>
            <a:srgbClr val="2F6B6A"/>
          </a:solidFill>
          <a:ln/>
        </p:spPr>
      </p:sp>
      <p:pic>
        <p:nvPicPr>
          <p:cNvPr id="13" name="objective 2 icon" descr="objective 2">    </p:cNvPr>
          <p:cNvPicPr>
            <a:picLocks noChangeAspect="1"/>
          </p:cNvPicPr>
          <p:nvPr/>
        </p:nvPicPr>
        <p:blipFill>
          <a:blip r:embed="rId2"/>
          <a:stretch>
            <a:fillRect/>
          </a:stretch>
        </p:blipFill>
        <p:spPr>
          <a:xfrm>
            <a:off x="7133387" y="2480310"/>
            <a:ext cx="297180" cy="297180"/>
          </a:xfrm>
          <a:prstGeom prst="rect">
            <a:avLst/>
          </a:prstGeom>
        </p:spPr>
      </p:pic>
      <p:sp>
        <p:nvSpPr>
          <p:cNvPr id="14" name="Text 10"/>
          <p:cNvSpPr txBox="1"/>
          <p:nvPr/>
        </p:nvSpPr>
        <p:spPr>
          <a:xfrm>
            <a:off x="4612538" y="2377440"/>
            <a:ext cx="914400" cy="457200"/>
          </a:xfrm>
          <a:prstGeom prst="rect">
            <a:avLst/>
          </a:prstGeom>
          <a:noFill/>
          <a:ln/>
        </p:spPr>
        <p:txBody>
          <a:bodyPr wrap="square" lIns="0" tIns="0" rIns="0" bIns="0" rtlCol="0" anchor="t"/>
          <a:lstStyle/>
          <a:p>
            <a:pPr algn="l" indent="0" marL="0">
              <a:buNone/>
            </a:pPr>
            <a:r>
              <a:rPr lang="en-US" sz="2400" b="1" dirty="0">
                <a:solidFill>
                  <a:srgbClr val="B9C4C4"/>
                </a:solidFill>
              </a:rPr>
              <a:t>02</a:t>
            </a:r>
            <a:endParaRPr lang="en-US" sz="2400" dirty="0"/>
          </a:p>
        </p:txBody>
      </p:sp>
      <p:sp>
        <p:nvSpPr>
          <p:cNvPr id="15" name="Text 11"/>
          <p:cNvSpPr txBox="1"/>
          <p:nvPr/>
        </p:nvSpPr>
        <p:spPr>
          <a:xfrm>
            <a:off x="4612538" y="3017520"/>
            <a:ext cx="2966618" cy="365760"/>
          </a:xfrm>
          <a:prstGeom prst="rect">
            <a:avLst/>
          </a:prstGeom>
          <a:noFill/>
          <a:ln/>
        </p:spPr>
        <p:txBody>
          <a:bodyPr wrap="square" lIns="0" tIns="0" rIns="0" bIns="0" rtlCol="0" anchor="t"/>
          <a:lstStyle/>
          <a:p>
            <a:pPr rtl="1" algn="r" indent="0" marL="0">
              <a:buNone/>
            </a:pPr>
            <a:r>
              <a:rPr lang="ar-SA" altLang="en-US" sz="1700" b="1" dirty="0">
                <a:solidFill>
                  <a:srgbClr val="1F2224"/>
                </a:solidFill>
              </a:rPr>
              <a:t>التمييز عن الديكور</a:t>
            </a:r>
            <a:endParaRPr lang="ar-SA" sz="1700" dirty="0"/>
          </a:p>
        </p:txBody>
      </p:sp>
      <p:sp>
        <p:nvSpPr>
          <p:cNvPr id="16" name="Text 12"/>
          <p:cNvSpPr txBox="1"/>
          <p:nvPr/>
        </p:nvSpPr>
        <p:spPr>
          <a:xfrm>
            <a:off x="4612538" y="3383280"/>
            <a:ext cx="2966618" cy="594360"/>
          </a:xfrm>
          <a:prstGeom prst="rect">
            <a:avLst/>
          </a:prstGeom>
          <a:noFill/>
          <a:ln/>
        </p:spPr>
        <p:txBody>
          <a:bodyPr wrap="square" lIns="0" tIns="0" rIns="0" bIns="0" rtlCol="0" anchor="t"/>
          <a:lstStyle/>
          <a:p>
            <a:pPr rtl="1" algn="r" indent="0" marL="0">
              <a:buNone/>
            </a:pPr>
            <a:r>
              <a:rPr lang="ar-SA" altLang="en-US" sz="1300" dirty="0">
                <a:solidFill>
                  <a:srgbClr val="3A4146"/>
                </a:solidFill>
              </a:rPr>
              <a:t>التفريق بين Interior Design و Interior Decoration.</a:t>
            </a:r>
            <a:endParaRPr lang="ar-SA" sz="1300" dirty="0"/>
          </a:p>
        </p:txBody>
      </p:sp>
      <p:sp>
        <p:nvSpPr>
          <p:cNvPr id="17" name="objective 3"/>
          <p:cNvSpPr/>
          <p:nvPr/>
        </p:nvSpPr>
        <p:spPr>
          <a:xfrm>
            <a:off x="548640" y="2057400"/>
            <a:ext cx="3515258" cy="1965960"/>
          </a:xfrm>
          <a:prstGeom prst="roundRect">
            <a:avLst>
              <a:gd name="adj" fmla="val 3721"/>
            </a:avLst>
          </a:prstGeom>
          <a:solidFill>
            <a:schemeClr val="bg2"/>
          </a:solidFill>
          <a:ln/>
          <a:effectLst>
            <a:outerShdw sx="100000" sy="100000" kx="0" ky="0" algn="bl" rotWithShape="0" blurRad="101600" dist="25400" dir="5400000">
              <a:srgbClr val="000000">
                <a:alpha val="12000"/>
              </a:srgbClr>
            </a:outerShdw>
          </a:effectLst>
        </p:spPr>
      </p:sp>
      <p:sp>
        <p:nvSpPr>
          <p:cNvPr id="18" name="objective 3 circle"/>
          <p:cNvSpPr/>
          <p:nvPr/>
        </p:nvSpPr>
        <p:spPr>
          <a:xfrm>
            <a:off x="3195218" y="2331720"/>
            <a:ext cx="594360" cy="594360"/>
          </a:xfrm>
          <a:prstGeom prst="ellipse">
            <a:avLst/>
          </a:prstGeom>
          <a:solidFill>
            <a:srgbClr val="2F6B6A"/>
          </a:solidFill>
          <a:ln/>
        </p:spPr>
      </p:sp>
      <p:pic>
        <p:nvPicPr>
          <p:cNvPr id="19" name="objective 3 icon" descr="objective 3">    </p:cNvPr>
          <p:cNvPicPr>
            <a:picLocks noChangeAspect="1"/>
          </p:cNvPicPr>
          <p:nvPr/>
        </p:nvPicPr>
        <p:blipFill>
          <a:blip r:embed="rId3"/>
          <a:stretch>
            <a:fillRect/>
          </a:stretch>
        </p:blipFill>
        <p:spPr>
          <a:xfrm>
            <a:off x="3343808" y="2480310"/>
            <a:ext cx="297180" cy="297180"/>
          </a:xfrm>
          <a:prstGeom prst="rect">
            <a:avLst/>
          </a:prstGeom>
        </p:spPr>
      </p:pic>
      <p:sp>
        <p:nvSpPr>
          <p:cNvPr id="20" name="Text 15"/>
          <p:cNvSpPr txBox="1"/>
          <p:nvPr/>
        </p:nvSpPr>
        <p:spPr>
          <a:xfrm>
            <a:off x="822960" y="2377440"/>
            <a:ext cx="914400" cy="457200"/>
          </a:xfrm>
          <a:prstGeom prst="rect">
            <a:avLst/>
          </a:prstGeom>
          <a:noFill/>
          <a:ln/>
        </p:spPr>
        <p:txBody>
          <a:bodyPr wrap="square" lIns="0" tIns="0" rIns="0" bIns="0" rtlCol="0" anchor="t"/>
          <a:lstStyle/>
          <a:p>
            <a:pPr algn="l" indent="0" marL="0">
              <a:buNone/>
            </a:pPr>
            <a:r>
              <a:rPr lang="en-US" sz="2400" b="1" dirty="0">
                <a:solidFill>
                  <a:srgbClr val="B9C4C4"/>
                </a:solidFill>
              </a:rPr>
              <a:t>03</a:t>
            </a:r>
            <a:endParaRPr lang="en-US" sz="2400" dirty="0"/>
          </a:p>
        </p:txBody>
      </p:sp>
      <p:sp>
        <p:nvSpPr>
          <p:cNvPr id="21" name="Text 16"/>
          <p:cNvSpPr txBox="1"/>
          <p:nvPr/>
        </p:nvSpPr>
        <p:spPr>
          <a:xfrm>
            <a:off x="822960" y="3017520"/>
            <a:ext cx="2966618" cy="365760"/>
          </a:xfrm>
          <a:prstGeom prst="rect">
            <a:avLst/>
          </a:prstGeom>
          <a:noFill/>
          <a:ln/>
        </p:spPr>
        <p:txBody>
          <a:bodyPr wrap="square" lIns="0" tIns="0" rIns="0" bIns="0" rtlCol="0" anchor="t"/>
          <a:lstStyle/>
          <a:p>
            <a:pPr rtl="1" algn="r" indent="0" marL="0">
              <a:buNone/>
            </a:pPr>
            <a:r>
              <a:rPr lang="ar-SA" altLang="en-US" sz="1700" b="1" dirty="0">
                <a:solidFill>
                  <a:srgbClr val="1F2224"/>
                </a:solidFill>
              </a:rPr>
              <a:t>فهم الفراغ</a:t>
            </a:r>
            <a:endParaRPr lang="ar-SA" sz="1700" dirty="0"/>
          </a:p>
        </p:txBody>
      </p:sp>
      <p:sp>
        <p:nvSpPr>
          <p:cNvPr id="22" name="Text 17"/>
          <p:cNvSpPr txBox="1"/>
          <p:nvPr/>
        </p:nvSpPr>
        <p:spPr>
          <a:xfrm>
            <a:off x="822960" y="3383280"/>
            <a:ext cx="2966618" cy="594360"/>
          </a:xfrm>
          <a:prstGeom prst="rect">
            <a:avLst/>
          </a:prstGeom>
          <a:noFill/>
          <a:ln/>
        </p:spPr>
        <p:txBody>
          <a:bodyPr wrap="square" lIns="0" tIns="0" rIns="0" bIns="0" rtlCol="0" anchor="t"/>
          <a:lstStyle/>
          <a:p>
            <a:pPr rtl="1" algn="r" indent="0" marL="0">
              <a:buNone/>
            </a:pPr>
            <a:r>
              <a:rPr lang="ar-SA" altLang="en-US" sz="1300" dirty="0">
                <a:solidFill>
                  <a:srgbClr val="3A4146"/>
                </a:solidFill>
              </a:rPr>
              <a:t>إدراك أن الفراغ هو موضوع التصميم، وأنه يتحدد بما يحدث داخله.</a:t>
            </a:r>
            <a:endParaRPr lang="ar-SA" sz="1300" dirty="0"/>
          </a:p>
        </p:txBody>
      </p:sp>
      <p:sp>
        <p:nvSpPr>
          <p:cNvPr id="23" name="objective 4"/>
          <p:cNvSpPr/>
          <p:nvPr/>
        </p:nvSpPr>
        <p:spPr>
          <a:xfrm>
            <a:off x="8127797" y="4297680"/>
            <a:ext cx="3515258" cy="1965960"/>
          </a:xfrm>
          <a:prstGeom prst="roundRect">
            <a:avLst>
              <a:gd name="adj" fmla="val 3721"/>
            </a:avLst>
          </a:prstGeom>
          <a:solidFill>
            <a:schemeClr val="bg2"/>
          </a:solidFill>
          <a:ln/>
          <a:effectLst>
            <a:outerShdw sx="100000" sy="100000" kx="0" ky="0" algn="bl" rotWithShape="0" blurRad="101600" dist="25400" dir="5400000">
              <a:srgbClr val="000000">
                <a:alpha val="12000"/>
              </a:srgbClr>
            </a:outerShdw>
          </a:effectLst>
        </p:spPr>
      </p:sp>
      <p:sp>
        <p:nvSpPr>
          <p:cNvPr id="24" name="objective 4 circle"/>
          <p:cNvSpPr/>
          <p:nvPr/>
        </p:nvSpPr>
        <p:spPr>
          <a:xfrm>
            <a:off x="10774375" y="4572000"/>
            <a:ext cx="594360" cy="594360"/>
          </a:xfrm>
          <a:prstGeom prst="ellipse">
            <a:avLst/>
          </a:prstGeom>
          <a:solidFill>
            <a:srgbClr val="2F6B6A"/>
          </a:solidFill>
          <a:ln/>
        </p:spPr>
      </p:sp>
      <p:pic>
        <p:nvPicPr>
          <p:cNvPr id="25" name="objective 4 icon" descr="objective 4">    </p:cNvPr>
          <p:cNvPicPr>
            <a:picLocks noChangeAspect="1"/>
          </p:cNvPicPr>
          <p:nvPr/>
        </p:nvPicPr>
        <p:blipFill>
          <a:blip r:embed="rId4"/>
          <a:stretch>
            <a:fillRect/>
          </a:stretch>
        </p:blipFill>
        <p:spPr>
          <a:xfrm>
            <a:off x="10922965" y="4720590"/>
            <a:ext cx="297180" cy="297180"/>
          </a:xfrm>
          <a:prstGeom prst="rect">
            <a:avLst/>
          </a:prstGeom>
        </p:spPr>
      </p:pic>
      <p:sp>
        <p:nvSpPr>
          <p:cNvPr id="26" name="Text 20"/>
          <p:cNvSpPr txBox="1"/>
          <p:nvPr/>
        </p:nvSpPr>
        <p:spPr>
          <a:xfrm>
            <a:off x="8402117" y="4617720"/>
            <a:ext cx="914400" cy="457200"/>
          </a:xfrm>
          <a:prstGeom prst="rect">
            <a:avLst/>
          </a:prstGeom>
          <a:noFill/>
          <a:ln/>
        </p:spPr>
        <p:txBody>
          <a:bodyPr wrap="square" lIns="0" tIns="0" rIns="0" bIns="0" rtlCol="0" anchor="t"/>
          <a:lstStyle/>
          <a:p>
            <a:pPr algn="l" indent="0" marL="0">
              <a:buNone/>
            </a:pPr>
            <a:r>
              <a:rPr lang="en-US" sz="2400" b="1" dirty="0">
                <a:solidFill>
                  <a:srgbClr val="B9C4C4"/>
                </a:solidFill>
              </a:rPr>
              <a:t>04</a:t>
            </a:r>
            <a:endParaRPr lang="en-US" sz="2400" dirty="0"/>
          </a:p>
        </p:txBody>
      </p:sp>
      <p:sp>
        <p:nvSpPr>
          <p:cNvPr id="27" name="Text 21"/>
          <p:cNvSpPr txBox="1"/>
          <p:nvPr/>
        </p:nvSpPr>
        <p:spPr>
          <a:xfrm>
            <a:off x="8402117" y="5257800"/>
            <a:ext cx="2966618" cy="365760"/>
          </a:xfrm>
          <a:prstGeom prst="rect">
            <a:avLst/>
          </a:prstGeom>
          <a:noFill/>
          <a:ln/>
        </p:spPr>
        <p:txBody>
          <a:bodyPr wrap="square" lIns="0" tIns="0" rIns="0" bIns="0" rtlCol="0" anchor="t"/>
          <a:lstStyle/>
          <a:p>
            <a:pPr rtl="1" algn="r" indent="0" marL="0">
              <a:buNone/>
            </a:pPr>
            <a:r>
              <a:rPr lang="ar-SA" altLang="en-US" sz="1700" b="1" dirty="0">
                <a:solidFill>
                  <a:srgbClr val="1F2224"/>
                </a:solidFill>
              </a:rPr>
              <a:t>عناصر تشكيل الفراغ</a:t>
            </a:r>
            <a:endParaRPr lang="ar-SA" sz="1700" dirty="0"/>
          </a:p>
        </p:txBody>
      </p:sp>
      <p:sp>
        <p:nvSpPr>
          <p:cNvPr id="28" name="Text 22"/>
          <p:cNvSpPr txBox="1"/>
          <p:nvPr/>
        </p:nvSpPr>
        <p:spPr>
          <a:xfrm>
            <a:off x="8402117" y="5623560"/>
            <a:ext cx="2966618" cy="594360"/>
          </a:xfrm>
          <a:prstGeom prst="rect">
            <a:avLst/>
          </a:prstGeom>
          <a:noFill/>
          <a:ln/>
        </p:spPr>
        <p:txBody>
          <a:bodyPr wrap="square" lIns="0" tIns="0" rIns="0" bIns="0" rtlCol="0" anchor="t"/>
          <a:lstStyle/>
          <a:p>
            <a:pPr rtl="1" algn="r" indent="0" marL="0">
              <a:buNone/>
            </a:pPr>
            <a:r>
              <a:rPr lang="ar-SA" altLang="en-US" sz="1300" dirty="0">
                <a:solidFill>
                  <a:srgbClr val="3A4146"/>
                </a:solidFill>
              </a:rPr>
              <a:t>التعرف على Point · Line · Plane · Volume ومستويات الفراغ الثلاثة.</a:t>
            </a:r>
            <a:endParaRPr lang="ar-SA" sz="1300" dirty="0"/>
          </a:p>
        </p:txBody>
      </p:sp>
      <p:sp>
        <p:nvSpPr>
          <p:cNvPr id="29" name="objective 5"/>
          <p:cNvSpPr/>
          <p:nvPr/>
        </p:nvSpPr>
        <p:spPr>
          <a:xfrm>
            <a:off x="4338218" y="4297680"/>
            <a:ext cx="3515258" cy="1965960"/>
          </a:xfrm>
          <a:prstGeom prst="roundRect">
            <a:avLst>
              <a:gd name="adj" fmla="val 3721"/>
            </a:avLst>
          </a:prstGeom>
          <a:solidFill>
            <a:schemeClr val="bg2"/>
          </a:solidFill>
          <a:ln/>
          <a:effectLst>
            <a:outerShdw sx="100000" sy="100000" kx="0" ky="0" algn="bl" rotWithShape="0" blurRad="101600" dist="25400" dir="5400000">
              <a:srgbClr val="000000">
                <a:alpha val="12000"/>
              </a:srgbClr>
            </a:outerShdw>
          </a:effectLst>
        </p:spPr>
      </p:sp>
      <p:sp>
        <p:nvSpPr>
          <p:cNvPr id="30" name="objective 5 circle"/>
          <p:cNvSpPr/>
          <p:nvPr/>
        </p:nvSpPr>
        <p:spPr>
          <a:xfrm>
            <a:off x="6984797" y="4572000"/>
            <a:ext cx="594360" cy="594360"/>
          </a:xfrm>
          <a:prstGeom prst="ellipse">
            <a:avLst/>
          </a:prstGeom>
          <a:solidFill>
            <a:srgbClr val="2F6B6A"/>
          </a:solidFill>
          <a:ln/>
        </p:spPr>
      </p:sp>
      <p:pic>
        <p:nvPicPr>
          <p:cNvPr id="31" name="objective 5 icon" descr="objective 5">    </p:cNvPr>
          <p:cNvPicPr>
            <a:picLocks noChangeAspect="1"/>
          </p:cNvPicPr>
          <p:nvPr/>
        </p:nvPicPr>
        <p:blipFill>
          <a:blip r:embed="rId5"/>
          <a:stretch>
            <a:fillRect/>
          </a:stretch>
        </p:blipFill>
        <p:spPr>
          <a:xfrm>
            <a:off x="7133387" y="4720590"/>
            <a:ext cx="297180" cy="297180"/>
          </a:xfrm>
          <a:prstGeom prst="rect">
            <a:avLst/>
          </a:prstGeom>
        </p:spPr>
      </p:pic>
      <p:sp>
        <p:nvSpPr>
          <p:cNvPr id="32" name="Text 25"/>
          <p:cNvSpPr txBox="1"/>
          <p:nvPr/>
        </p:nvSpPr>
        <p:spPr>
          <a:xfrm>
            <a:off x="4612538" y="4617720"/>
            <a:ext cx="914400" cy="457200"/>
          </a:xfrm>
          <a:prstGeom prst="rect">
            <a:avLst/>
          </a:prstGeom>
          <a:noFill/>
          <a:ln/>
        </p:spPr>
        <p:txBody>
          <a:bodyPr wrap="square" lIns="0" tIns="0" rIns="0" bIns="0" rtlCol="0" anchor="t"/>
          <a:lstStyle/>
          <a:p>
            <a:pPr algn="l" indent="0" marL="0">
              <a:buNone/>
            </a:pPr>
            <a:r>
              <a:rPr lang="en-US" sz="2400" b="1" dirty="0">
                <a:solidFill>
                  <a:srgbClr val="B9C4C4"/>
                </a:solidFill>
              </a:rPr>
              <a:t>05</a:t>
            </a:r>
            <a:endParaRPr lang="en-US" sz="2400" dirty="0"/>
          </a:p>
        </p:txBody>
      </p:sp>
      <p:sp>
        <p:nvSpPr>
          <p:cNvPr id="33" name="Text 26"/>
          <p:cNvSpPr txBox="1"/>
          <p:nvPr/>
        </p:nvSpPr>
        <p:spPr>
          <a:xfrm>
            <a:off x="4612538" y="5257800"/>
            <a:ext cx="2966618" cy="365760"/>
          </a:xfrm>
          <a:prstGeom prst="rect">
            <a:avLst/>
          </a:prstGeom>
          <a:noFill/>
          <a:ln/>
        </p:spPr>
        <p:txBody>
          <a:bodyPr wrap="square" lIns="0" tIns="0" rIns="0" bIns="0" rtlCol="0" anchor="t"/>
          <a:lstStyle/>
          <a:p>
            <a:pPr rtl="1" algn="r" indent="0" marL="0">
              <a:buNone/>
            </a:pPr>
            <a:r>
              <a:rPr lang="ar-SA" altLang="en-US" sz="1700" b="1" dirty="0">
                <a:solidFill>
                  <a:srgbClr val="1F2224"/>
                </a:solidFill>
              </a:rPr>
              <a:t>الإنسان أولًا</a:t>
            </a:r>
            <a:endParaRPr lang="ar-SA" sz="1700" dirty="0"/>
          </a:p>
        </p:txBody>
      </p:sp>
      <p:sp>
        <p:nvSpPr>
          <p:cNvPr id="34" name="Text 27"/>
          <p:cNvSpPr txBox="1"/>
          <p:nvPr/>
        </p:nvSpPr>
        <p:spPr>
          <a:xfrm>
            <a:off x="4612538" y="5623560"/>
            <a:ext cx="2966618" cy="594360"/>
          </a:xfrm>
          <a:prstGeom prst="rect">
            <a:avLst/>
          </a:prstGeom>
          <a:noFill/>
          <a:ln/>
        </p:spPr>
        <p:txBody>
          <a:bodyPr wrap="square" lIns="0" tIns="0" rIns="0" bIns="0" rtlCol="0" anchor="t"/>
          <a:lstStyle/>
          <a:p>
            <a:pPr rtl="1" algn="r" indent="0" marL="0">
              <a:buNone/>
            </a:pPr>
            <a:r>
              <a:rPr lang="ar-SA" altLang="en-US" sz="1300" dirty="0">
                <a:solidFill>
                  <a:srgbClr val="3A4146"/>
                </a:solidFill>
              </a:rPr>
              <a:t>ربط قرارات التصميم بالإنسان والحركة والمقياس والوظيفة.</a:t>
            </a:r>
            <a:endParaRPr lang="ar-SA" sz="1300" dirty="0"/>
          </a:p>
        </p:txBody>
      </p:sp>
      <p:sp>
        <p:nvSpPr>
          <p:cNvPr id="35" name="objective 6"/>
          <p:cNvSpPr/>
          <p:nvPr/>
        </p:nvSpPr>
        <p:spPr>
          <a:xfrm>
            <a:off x="548640" y="4297680"/>
            <a:ext cx="3515258" cy="1965960"/>
          </a:xfrm>
          <a:prstGeom prst="roundRect">
            <a:avLst>
              <a:gd name="adj" fmla="val 3721"/>
            </a:avLst>
          </a:prstGeom>
          <a:solidFill>
            <a:schemeClr val="bg2"/>
          </a:solidFill>
          <a:ln/>
          <a:effectLst>
            <a:outerShdw sx="100000" sy="100000" kx="0" ky="0" algn="bl" rotWithShape="0" blurRad="101600" dist="25400" dir="5400000">
              <a:srgbClr val="000000">
                <a:alpha val="12000"/>
              </a:srgbClr>
            </a:outerShdw>
          </a:effectLst>
        </p:spPr>
      </p:sp>
      <p:sp>
        <p:nvSpPr>
          <p:cNvPr id="36" name="objective 6 circle"/>
          <p:cNvSpPr/>
          <p:nvPr/>
        </p:nvSpPr>
        <p:spPr>
          <a:xfrm>
            <a:off x="3195218" y="4572000"/>
            <a:ext cx="594360" cy="594360"/>
          </a:xfrm>
          <a:prstGeom prst="ellipse">
            <a:avLst/>
          </a:prstGeom>
          <a:solidFill>
            <a:srgbClr val="2F6B6A"/>
          </a:solidFill>
          <a:ln/>
        </p:spPr>
      </p:sp>
      <p:pic>
        <p:nvPicPr>
          <p:cNvPr id="37" name="objective 6 icon" descr="objective 6">    </p:cNvPr>
          <p:cNvPicPr>
            <a:picLocks noChangeAspect="1"/>
          </p:cNvPicPr>
          <p:nvPr/>
        </p:nvPicPr>
        <p:blipFill>
          <a:blip r:embed="rId6"/>
          <a:stretch>
            <a:fillRect/>
          </a:stretch>
        </p:blipFill>
        <p:spPr>
          <a:xfrm>
            <a:off x="3343808" y="4720590"/>
            <a:ext cx="297180" cy="297180"/>
          </a:xfrm>
          <a:prstGeom prst="rect">
            <a:avLst/>
          </a:prstGeom>
        </p:spPr>
      </p:pic>
      <p:sp>
        <p:nvSpPr>
          <p:cNvPr id="38" name="Text 30"/>
          <p:cNvSpPr txBox="1"/>
          <p:nvPr/>
        </p:nvSpPr>
        <p:spPr>
          <a:xfrm>
            <a:off x="822960" y="4617720"/>
            <a:ext cx="914400" cy="457200"/>
          </a:xfrm>
          <a:prstGeom prst="rect">
            <a:avLst/>
          </a:prstGeom>
          <a:noFill/>
          <a:ln/>
        </p:spPr>
        <p:txBody>
          <a:bodyPr wrap="square" lIns="0" tIns="0" rIns="0" bIns="0" rtlCol="0" anchor="t"/>
          <a:lstStyle/>
          <a:p>
            <a:pPr algn="l" indent="0" marL="0">
              <a:buNone/>
            </a:pPr>
            <a:r>
              <a:rPr lang="en-US" sz="2400" b="1" dirty="0">
                <a:solidFill>
                  <a:srgbClr val="B9C4C4"/>
                </a:solidFill>
              </a:rPr>
              <a:t>06</a:t>
            </a:r>
            <a:endParaRPr lang="en-US" sz="2400" dirty="0"/>
          </a:p>
        </p:txBody>
      </p:sp>
      <p:sp>
        <p:nvSpPr>
          <p:cNvPr id="39" name="Text 31"/>
          <p:cNvSpPr txBox="1"/>
          <p:nvPr/>
        </p:nvSpPr>
        <p:spPr>
          <a:xfrm>
            <a:off x="822960" y="5257800"/>
            <a:ext cx="2966618" cy="365760"/>
          </a:xfrm>
          <a:prstGeom prst="rect">
            <a:avLst/>
          </a:prstGeom>
          <a:noFill/>
          <a:ln/>
        </p:spPr>
        <p:txBody>
          <a:bodyPr wrap="square" lIns="0" tIns="0" rIns="0" bIns="0" rtlCol="0" anchor="t"/>
          <a:lstStyle/>
          <a:p>
            <a:pPr rtl="1" algn="r" indent="0" marL="0">
              <a:buNone/>
            </a:pPr>
            <a:r>
              <a:rPr lang="ar-SA" altLang="en-US" sz="1700" b="1" dirty="0">
                <a:solidFill>
                  <a:srgbClr val="1F2224"/>
                </a:solidFill>
              </a:rPr>
              <a:t>قراءة فراغ</a:t>
            </a:r>
            <a:endParaRPr lang="ar-SA" sz="1700" dirty="0"/>
          </a:p>
        </p:txBody>
      </p:sp>
      <p:sp>
        <p:nvSpPr>
          <p:cNvPr id="40" name="Text 32"/>
          <p:cNvSpPr txBox="1"/>
          <p:nvPr/>
        </p:nvSpPr>
        <p:spPr>
          <a:xfrm>
            <a:off x="822960" y="5623560"/>
            <a:ext cx="2966618" cy="594360"/>
          </a:xfrm>
          <a:prstGeom prst="rect">
            <a:avLst/>
          </a:prstGeom>
          <a:noFill/>
          <a:ln/>
        </p:spPr>
        <p:txBody>
          <a:bodyPr wrap="square" lIns="0" tIns="0" rIns="0" bIns="0" rtlCol="0" anchor="t"/>
          <a:lstStyle/>
          <a:p>
            <a:pPr rtl="1" algn="r" indent="0" marL="0">
              <a:buNone/>
            </a:pPr>
            <a:r>
              <a:rPr lang="ar-SA" altLang="en-US" sz="1300" dirty="0">
                <a:solidFill>
                  <a:srgbClr val="3A4146"/>
                </a:solidFill>
              </a:rPr>
              <a:t>تطبيق التحليل على فراغ حقيقي من خلال Exercise 01.</a:t>
            </a:r>
            <a:endParaRPr lang="ar-SA"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LECTURE OUTLINE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محاور المحاضرة</a:t>
            </a:r>
            <a:endParaRPr lang="ar-SA" sz="3200" dirty="0"/>
          </a:p>
        </p:txBody>
      </p:sp>
      <p:sp>
        <p:nvSpPr>
          <p:cNvPr id="4" name="agenda row 1"/>
          <p:cNvSpPr/>
          <p:nvPr/>
        </p:nvSpPr>
        <p:spPr>
          <a:xfrm>
            <a:off x="2926080" y="1600200"/>
            <a:ext cx="8716975" cy="841248"/>
          </a:xfrm>
          <a:prstGeom prst="roundRect">
            <a:avLst>
              <a:gd name="adj" fmla="val 8696"/>
            </a:avLst>
          </a:prstGeom>
          <a:solidFill>
            <a:schemeClr val="bg2"/>
          </a:solidFill>
          <a:ln/>
        </p:spPr>
      </p:sp>
      <p:sp>
        <p:nvSpPr>
          <p:cNvPr id="5" name="agenda tag 1"/>
          <p:cNvSpPr/>
          <p:nvPr/>
        </p:nvSpPr>
        <p:spPr>
          <a:xfrm>
            <a:off x="10317175" y="1755648"/>
            <a:ext cx="1143000" cy="530352"/>
          </a:xfrm>
          <a:prstGeom prst="roundRect">
            <a:avLst>
              <a:gd name="adj" fmla="val 10345"/>
            </a:avLst>
          </a:prstGeom>
          <a:solidFill>
            <a:schemeClr val="accent1"/>
          </a:solidFill>
          <a:ln/>
        </p:spPr>
      </p:sp>
      <p:sp>
        <p:nvSpPr>
          <p:cNvPr id="6" name="Text 4"/>
          <p:cNvSpPr txBox="1"/>
          <p:nvPr/>
        </p:nvSpPr>
        <p:spPr>
          <a:xfrm>
            <a:off x="10317175" y="1755648"/>
            <a:ext cx="1143000" cy="530352"/>
          </a:xfrm>
          <a:prstGeom prst="rect">
            <a:avLst/>
          </a:prstGeom>
          <a:noFill/>
          <a:ln/>
        </p:spPr>
        <p:txBody>
          <a:bodyPr wrap="square" lIns="0" tIns="0" rIns="0" bIns="0" rtlCol="0" anchor="ctr"/>
          <a:lstStyle/>
          <a:p>
            <a:pPr algn="ctr" indent="0" marL="0">
              <a:buNone/>
            </a:pPr>
            <a:r>
              <a:rPr lang="en-US" sz="1500" b="1" dirty="0">
                <a:solidFill>
                  <a:srgbClr val="FFFFFF"/>
                </a:solidFill>
              </a:rPr>
              <a:t>01–03</a:t>
            </a:r>
            <a:endParaRPr lang="en-US" sz="1500" dirty="0"/>
          </a:p>
        </p:txBody>
      </p:sp>
      <p:sp>
        <p:nvSpPr>
          <p:cNvPr id="7" name="Text 5"/>
          <p:cNvSpPr txBox="1"/>
          <p:nvPr/>
        </p:nvSpPr>
        <p:spPr>
          <a:xfrm>
            <a:off x="3200400" y="1709928"/>
            <a:ext cx="6842455" cy="365760"/>
          </a:xfrm>
          <a:prstGeom prst="rect">
            <a:avLst/>
          </a:prstGeom>
          <a:noFill/>
          <a:ln/>
        </p:spPr>
        <p:txBody>
          <a:bodyPr wrap="square" lIns="0" tIns="0" rIns="0" bIns="0" rtlCol="0" anchor="t"/>
          <a:lstStyle/>
          <a:p>
            <a:pPr rtl="1" algn="r" indent="0" marL="0">
              <a:buNone/>
            </a:pPr>
            <a:r>
              <a:rPr lang="ar-SA" altLang="en-US" sz="1800" b="1" dirty="0">
                <a:solidFill>
                  <a:srgbClr val="1F2224"/>
                </a:solidFill>
              </a:rPr>
              <a:t>التصميم والتصميم الداخلي</a:t>
            </a:r>
            <a:endParaRPr lang="ar-SA" sz="1800" dirty="0"/>
          </a:p>
        </p:txBody>
      </p:sp>
      <p:sp>
        <p:nvSpPr>
          <p:cNvPr id="8" name="Text 6"/>
          <p:cNvSpPr txBox="1"/>
          <p:nvPr/>
        </p:nvSpPr>
        <p:spPr>
          <a:xfrm>
            <a:off x="3200400" y="2075688"/>
            <a:ext cx="6842455" cy="292608"/>
          </a:xfrm>
          <a:prstGeom prst="rect">
            <a:avLst/>
          </a:prstGeom>
          <a:noFill/>
          <a:ln/>
        </p:spPr>
        <p:txBody>
          <a:bodyPr wrap="square" lIns="0" tIns="0" rIns="0" bIns="0" rtlCol="0" anchor="t"/>
          <a:lstStyle/>
          <a:p>
            <a:pPr algn="r" indent="0" marL="0">
              <a:buNone/>
            </a:pPr>
            <a:r>
              <a:rPr lang="en-US" sz="1200" dirty="0">
                <a:solidFill>
                  <a:srgbClr val="5B6770"/>
                </a:solidFill>
              </a:rPr>
              <a:t>What is Design? · What is Interior Design? · NOT Decoration</a:t>
            </a:r>
            <a:endParaRPr lang="en-US" sz="1200" dirty="0"/>
          </a:p>
        </p:txBody>
      </p:sp>
      <p:sp>
        <p:nvSpPr>
          <p:cNvPr id="9" name="agenda row 2"/>
          <p:cNvSpPr/>
          <p:nvPr/>
        </p:nvSpPr>
        <p:spPr>
          <a:xfrm>
            <a:off x="2926080" y="2505456"/>
            <a:ext cx="8716975" cy="841248"/>
          </a:xfrm>
          <a:prstGeom prst="roundRect">
            <a:avLst>
              <a:gd name="adj" fmla="val 8696"/>
            </a:avLst>
          </a:prstGeom>
          <a:solidFill>
            <a:schemeClr val="bg1"/>
          </a:solidFill>
          <a:ln/>
        </p:spPr>
      </p:sp>
      <p:sp>
        <p:nvSpPr>
          <p:cNvPr id="10" name="agenda tag 2"/>
          <p:cNvSpPr/>
          <p:nvPr/>
        </p:nvSpPr>
        <p:spPr>
          <a:xfrm>
            <a:off x="10317175" y="2660904"/>
            <a:ext cx="1143000" cy="530352"/>
          </a:xfrm>
          <a:prstGeom prst="roundRect">
            <a:avLst>
              <a:gd name="adj" fmla="val 10345"/>
            </a:avLst>
          </a:prstGeom>
          <a:solidFill>
            <a:schemeClr val="accent1"/>
          </a:solidFill>
          <a:ln/>
        </p:spPr>
      </p:sp>
      <p:sp>
        <p:nvSpPr>
          <p:cNvPr id="11" name="Text 9"/>
          <p:cNvSpPr txBox="1"/>
          <p:nvPr/>
        </p:nvSpPr>
        <p:spPr>
          <a:xfrm>
            <a:off x="10317175" y="2660904"/>
            <a:ext cx="1143000" cy="530352"/>
          </a:xfrm>
          <a:prstGeom prst="rect">
            <a:avLst/>
          </a:prstGeom>
          <a:noFill/>
          <a:ln/>
        </p:spPr>
        <p:txBody>
          <a:bodyPr wrap="square" lIns="0" tIns="0" rIns="0" bIns="0" rtlCol="0" anchor="ctr"/>
          <a:lstStyle/>
          <a:p>
            <a:pPr algn="ctr" indent="0" marL="0">
              <a:buNone/>
            </a:pPr>
            <a:r>
              <a:rPr lang="en-US" sz="1500" b="1" dirty="0">
                <a:solidFill>
                  <a:srgbClr val="FFFFFF"/>
                </a:solidFill>
              </a:rPr>
              <a:t>04–06</a:t>
            </a:r>
            <a:endParaRPr lang="en-US" sz="1500" dirty="0"/>
          </a:p>
        </p:txBody>
      </p:sp>
      <p:sp>
        <p:nvSpPr>
          <p:cNvPr id="12" name="Text 10"/>
          <p:cNvSpPr txBox="1"/>
          <p:nvPr/>
        </p:nvSpPr>
        <p:spPr>
          <a:xfrm>
            <a:off x="3200400" y="2615184"/>
            <a:ext cx="6842455" cy="365760"/>
          </a:xfrm>
          <a:prstGeom prst="rect">
            <a:avLst/>
          </a:prstGeom>
          <a:noFill/>
          <a:ln/>
        </p:spPr>
        <p:txBody>
          <a:bodyPr wrap="square" lIns="0" tIns="0" rIns="0" bIns="0" rtlCol="0" anchor="t"/>
          <a:lstStyle/>
          <a:p>
            <a:pPr rtl="1" algn="r" indent="0" marL="0">
              <a:buNone/>
            </a:pPr>
            <a:r>
              <a:rPr lang="ar-SA" altLang="en-US" sz="1800" b="1" dirty="0">
                <a:solidFill>
                  <a:srgbClr val="1F2224"/>
                </a:solidFill>
              </a:rPr>
              <a:t>العمارة والفراغ</a:t>
            </a:r>
            <a:endParaRPr lang="ar-SA" sz="1800" dirty="0"/>
          </a:p>
        </p:txBody>
      </p:sp>
      <p:sp>
        <p:nvSpPr>
          <p:cNvPr id="13" name="Text 11"/>
          <p:cNvSpPr txBox="1"/>
          <p:nvPr/>
        </p:nvSpPr>
        <p:spPr>
          <a:xfrm>
            <a:off x="3200400" y="2980944"/>
            <a:ext cx="6842455" cy="292608"/>
          </a:xfrm>
          <a:prstGeom prst="rect">
            <a:avLst/>
          </a:prstGeom>
          <a:noFill/>
          <a:ln/>
        </p:spPr>
        <p:txBody>
          <a:bodyPr wrap="square" lIns="0" tIns="0" rIns="0" bIns="0" rtlCol="0" anchor="t"/>
          <a:lstStyle/>
          <a:p>
            <a:pPr algn="r" indent="0" marL="0">
              <a:buNone/>
            </a:pPr>
            <a:r>
              <a:rPr lang="en-US" sz="1200" dirty="0">
                <a:solidFill>
                  <a:srgbClr val="5B6770"/>
                </a:solidFill>
              </a:rPr>
              <a:t>Architecture &amp; Interior · What are we designing? · What is Space?</a:t>
            </a:r>
            <a:endParaRPr lang="en-US" sz="1200" dirty="0"/>
          </a:p>
        </p:txBody>
      </p:sp>
      <p:sp>
        <p:nvSpPr>
          <p:cNvPr id="14" name="agenda row 3"/>
          <p:cNvSpPr/>
          <p:nvPr/>
        </p:nvSpPr>
        <p:spPr>
          <a:xfrm>
            <a:off x="2926080" y="3410712"/>
            <a:ext cx="8716975" cy="841248"/>
          </a:xfrm>
          <a:prstGeom prst="roundRect">
            <a:avLst>
              <a:gd name="adj" fmla="val 8696"/>
            </a:avLst>
          </a:prstGeom>
          <a:solidFill>
            <a:schemeClr val="bg2"/>
          </a:solidFill>
          <a:ln/>
        </p:spPr>
      </p:sp>
      <p:sp>
        <p:nvSpPr>
          <p:cNvPr id="15" name="agenda tag 3"/>
          <p:cNvSpPr/>
          <p:nvPr/>
        </p:nvSpPr>
        <p:spPr>
          <a:xfrm>
            <a:off x="10317175" y="3566160"/>
            <a:ext cx="1143000" cy="530352"/>
          </a:xfrm>
          <a:prstGeom prst="roundRect">
            <a:avLst>
              <a:gd name="adj" fmla="val 10345"/>
            </a:avLst>
          </a:prstGeom>
          <a:solidFill>
            <a:schemeClr val="accent1"/>
          </a:solidFill>
          <a:ln/>
        </p:spPr>
      </p:sp>
      <p:sp>
        <p:nvSpPr>
          <p:cNvPr id="16" name="Text 14"/>
          <p:cNvSpPr txBox="1"/>
          <p:nvPr/>
        </p:nvSpPr>
        <p:spPr>
          <a:xfrm>
            <a:off x="10317175" y="3566160"/>
            <a:ext cx="1143000" cy="530352"/>
          </a:xfrm>
          <a:prstGeom prst="rect">
            <a:avLst/>
          </a:prstGeom>
          <a:noFill/>
          <a:ln/>
        </p:spPr>
        <p:txBody>
          <a:bodyPr wrap="square" lIns="0" tIns="0" rIns="0" bIns="0" rtlCol="0" anchor="ctr"/>
          <a:lstStyle/>
          <a:p>
            <a:pPr algn="ctr" indent="0" marL="0">
              <a:buNone/>
            </a:pPr>
            <a:r>
              <a:rPr lang="en-US" sz="1500" b="1" dirty="0">
                <a:solidFill>
                  <a:srgbClr val="FFFFFF"/>
                </a:solidFill>
              </a:rPr>
              <a:t>07–12</a:t>
            </a:r>
            <a:endParaRPr lang="en-US" sz="1500" dirty="0"/>
          </a:p>
        </p:txBody>
      </p:sp>
      <p:sp>
        <p:nvSpPr>
          <p:cNvPr id="17" name="Text 15"/>
          <p:cNvSpPr txBox="1"/>
          <p:nvPr/>
        </p:nvSpPr>
        <p:spPr>
          <a:xfrm>
            <a:off x="3200400" y="3520440"/>
            <a:ext cx="6842455" cy="365760"/>
          </a:xfrm>
          <a:prstGeom prst="rect">
            <a:avLst/>
          </a:prstGeom>
          <a:noFill/>
          <a:ln/>
        </p:spPr>
        <p:txBody>
          <a:bodyPr wrap="square" lIns="0" tIns="0" rIns="0" bIns="0" rtlCol="0" anchor="t"/>
          <a:lstStyle/>
          <a:p>
            <a:pPr rtl="1" algn="r" indent="0" marL="0">
              <a:buNone/>
            </a:pPr>
            <a:r>
              <a:rPr lang="ar-SA" altLang="en-US" sz="1800" b="1" dirty="0">
                <a:solidFill>
                  <a:srgbClr val="1F2224"/>
                </a:solidFill>
              </a:rPr>
              <a:t>عناصر تشكيل الفراغ</a:t>
            </a:r>
            <a:endParaRPr lang="ar-SA" sz="1800" dirty="0"/>
          </a:p>
        </p:txBody>
      </p:sp>
      <p:sp>
        <p:nvSpPr>
          <p:cNvPr id="18" name="Text 16"/>
          <p:cNvSpPr txBox="1"/>
          <p:nvPr/>
        </p:nvSpPr>
        <p:spPr>
          <a:xfrm>
            <a:off x="3200400" y="3886200"/>
            <a:ext cx="6842455" cy="292608"/>
          </a:xfrm>
          <a:prstGeom prst="rect">
            <a:avLst/>
          </a:prstGeom>
          <a:noFill/>
          <a:ln/>
        </p:spPr>
        <p:txBody>
          <a:bodyPr wrap="square" lIns="0" tIns="0" rIns="0" bIns="0" rtlCol="0" anchor="t"/>
          <a:lstStyle/>
          <a:p>
            <a:pPr algn="r" indent="0" marL="0">
              <a:buNone/>
            </a:pPr>
            <a:r>
              <a:rPr lang="en-US" sz="1200" dirty="0">
                <a:solidFill>
                  <a:srgbClr val="5B6770"/>
                </a:solidFill>
              </a:rPr>
              <a:t>Point → Line → Plane → Volume · Base · Wall · Overhead</a:t>
            </a:r>
            <a:endParaRPr lang="en-US" sz="1200" dirty="0"/>
          </a:p>
        </p:txBody>
      </p:sp>
      <p:sp>
        <p:nvSpPr>
          <p:cNvPr id="19" name="agenda row 4"/>
          <p:cNvSpPr/>
          <p:nvPr/>
        </p:nvSpPr>
        <p:spPr>
          <a:xfrm>
            <a:off x="2926080" y="4315968"/>
            <a:ext cx="8716975" cy="841248"/>
          </a:xfrm>
          <a:prstGeom prst="roundRect">
            <a:avLst>
              <a:gd name="adj" fmla="val 8696"/>
            </a:avLst>
          </a:prstGeom>
          <a:solidFill>
            <a:schemeClr val="bg1"/>
          </a:solidFill>
          <a:ln/>
        </p:spPr>
      </p:sp>
      <p:sp>
        <p:nvSpPr>
          <p:cNvPr id="20" name="agenda tag 4"/>
          <p:cNvSpPr/>
          <p:nvPr/>
        </p:nvSpPr>
        <p:spPr>
          <a:xfrm>
            <a:off x="10317175" y="4471416"/>
            <a:ext cx="1143000" cy="530352"/>
          </a:xfrm>
          <a:prstGeom prst="roundRect">
            <a:avLst>
              <a:gd name="adj" fmla="val 10345"/>
            </a:avLst>
          </a:prstGeom>
          <a:solidFill>
            <a:schemeClr val="accent1"/>
          </a:solidFill>
          <a:ln/>
        </p:spPr>
      </p:sp>
      <p:sp>
        <p:nvSpPr>
          <p:cNvPr id="21" name="Text 19"/>
          <p:cNvSpPr txBox="1"/>
          <p:nvPr/>
        </p:nvSpPr>
        <p:spPr>
          <a:xfrm>
            <a:off x="10317175" y="4471416"/>
            <a:ext cx="1143000" cy="530352"/>
          </a:xfrm>
          <a:prstGeom prst="rect">
            <a:avLst/>
          </a:prstGeom>
          <a:noFill/>
          <a:ln/>
        </p:spPr>
        <p:txBody>
          <a:bodyPr wrap="square" lIns="0" tIns="0" rIns="0" bIns="0" rtlCol="0" anchor="ctr"/>
          <a:lstStyle/>
          <a:p>
            <a:pPr algn="ctr" indent="0" marL="0">
              <a:buNone/>
            </a:pPr>
            <a:r>
              <a:rPr lang="en-US" sz="1500" b="1" dirty="0">
                <a:solidFill>
                  <a:srgbClr val="FFFFFF"/>
                </a:solidFill>
              </a:rPr>
              <a:t>13–15</a:t>
            </a:r>
            <a:endParaRPr lang="en-US" sz="1500" dirty="0"/>
          </a:p>
        </p:txBody>
      </p:sp>
      <p:sp>
        <p:nvSpPr>
          <p:cNvPr id="22" name="Text 20"/>
          <p:cNvSpPr txBox="1"/>
          <p:nvPr/>
        </p:nvSpPr>
        <p:spPr>
          <a:xfrm>
            <a:off x="3200400" y="4425696"/>
            <a:ext cx="6842455" cy="365760"/>
          </a:xfrm>
          <a:prstGeom prst="rect">
            <a:avLst/>
          </a:prstGeom>
          <a:noFill/>
          <a:ln/>
        </p:spPr>
        <p:txBody>
          <a:bodyPr wrap="square" lIns="0" tIns="0" rIns="0" bIns="0" rtlCol="0" anchor="t"/>
          <a:lstStyle/>
          <a:p>
            <a:pPr rtl="1" algn="r" indent="0" marL="0">
              <a:buNone/>
            </a:pPr>
            <a:r>
              <a:rPr lang="ar-SA" altLang="en-US" sz="1800" b="1" dirty="0">
                <a:solidFill>
                  <a:srgbClr val="1F2224"/>
                </a:solidFill>
              </a:rPr>
              <a:t>الفتحات والإنسان</a:t>
            </a:r>
            <a:endParaRPr lang="ar-SA" sz="1800" dirty="0"/>
          </a:p>
        </p:txBody>
      </p:sp>
      <p:sp>
        <p:nvSpPr>
          <p:cNvPr id="23" name="Text 21"/>
          <p:cNvSpPr txBox="1"/>
          <p:nvPr/>
        </p:nvSpPr>
        <p:spPr>
          <a:xfrm>
            <a:off x="3200400" y="4791456"/>
            <a:ext cx="6842455" cy="292608"/>
          </a:xfrm>
          <a:prstGeom prst="rect">
            <a:avLst/>
          </a:prstGeom>
          <a:noFill/>
          <a:ln/>
        </p:spPr>
        <p:txBody>
          <a:bodyPr wrap="square" lIns="0" tIns="0" rIns="0" bIns="0" rtlCol="0" anchor="t"/>
          <a:lstStyle/>
          <a:p>
            <a:pPr algn="r" indent="0" marL="0">
              <a:buNone/>
            </a:pPr>
            <a:r>
              <a:rPr lang="en-US" sz="1200" dirty="0">
                <a:solidFill>
                  <a:srgbClr val="5B6770"/>
                </a:solidFill>
              </a:rPr>
              <a:t>Openings · Human &amp; Space · Living-room example</a:t>
            </a:r>
            <a:endParaRPr lang="en-US" sz="1200" dirty="0"/>
          </a:p>
        </p:txBody>
      </p:sp>
      <p:sp>
        <p:nvSpPr>
          <p:cNvPr id="24" name="agenda row 5"/>
          <p:cNvSpPr/>
          <p:nvPr/>
        </p:nvSpPr>
        <p:spPr>
          <a:xfrm>
            <a:off x="2926080" y="5221224"/>
            <a:ext cx="8716975" cy="841248"/>
          </a:xfrm>
          <a:prstGeom prst="roundRect">
            <a:avLst>
              <a:gd name="adj" fmla="val 8696"/>
            </a:avLst>
          </a:prstGeom>
          <a:solidFill>
            <a:schemeClr val="bg2"/>
          </a:solidFill>
          <a:ln/>
        </p:spPr>
      </p:sp>
      <p:sp>
        <p:nvSpPr>
          <p:cNvPr id="25" name="agenda tag 5"/>
          <p:cNvSpPr/>
          <p:nvPr/>
        </p:nvSpPr>
        <p:spPr>
          <a:xfrm>
            <a:off x="10317175" y="5376672"/>
            <a:ext cx="1143000" cy="530352"/>
          </a:xfrm>
          <a:prstGeom prst="roundRect">
            <a:avLst>
              <a:gd name="adj" fmla="val 10345"/>
            </a:avLst>
          </a:prstGeom>
          <a:solidFill>
            <a:schemeClr val="accent1"/>
          </a:solidFill>
          <a:ln/>
        </p:spPr>
      </p:sp>
      <p:sp>
        <p:nvSpPr>
          <p:cNvPr id="26" name="Text 24"/>
          <p:cNvSpPr txBox="1"/>
          <p:nvPr/>
        </p:nvSpPr>
        <p:spPr>
          <a:xfrm>
            <a:off x="10317175" y="5376672"/>
            <a:ext cx="1143000" cy="530352"/>
          </a:xfrm>
          <a:prstGeom prst="rect">
            <a:avLst/>
          </a:prstGeom>
          <a:noFill/>
          <a:ln/>
        </p:spPr>
        <p:txBody>
          <a:bodyPr wrap="square" lIns="0" tIns="0" rIns="0" bIns="0" rtlCol="0" anchor="ctr"/>
          <a:lstStyle/>
          <a:p>
            <a:pPr algn="ctr" indent="0" marL="0">
              <a:buNone/>
            </a:pPr>
            <a:r>
              <a:rPr lang="en-US" sz="1500" b="1" dirty="0">
                <a:solidFill>
                  <a:srgbClr val="FFFFFF"/>
                </a:solidFill>
              </a:rPr>
              <a:t>16–17</a:t>
            </a:r>
            <a:endParaRPr lang="en-US" sz="1500" dirty="0"/>
          </a:p>
        </p:txBody>
      </p:sp>
      <p:sp>
        <p:nvSpPr>
          <p:cNvPr id="27" name="Text 25"/>
          <p:cNvSpPr txBox="1"/>
          <p:nvPr/>
        </p:nvSpPr>
        <p:spPr>
          <a:xfrm>
            <a:off x="3200400" y="5330952"/>
            <a:ext cx="6842455" cy="365760"/>
          </a:xfrm>
          <a:prstGeom prst="rect">
            <a:avLst/>
          </a:prstGeom>
          <a:noFill/>
          <a:ln/>
        </p:spPr>
        <p:txBody>
          <a:bodyPr wrap="square" lIns="0" tIns="0" rIns="0" bIns="0" rtlCol="0" anchor="t"/>
          <a:lstStyle/>
          <a:p>
            <a:pPr rtl="1" algn="r" indent="0" marL="0">
              <a:buNone/>
            </a:pPr>
            <a:r>
              <a:rPr lang="ar-SA" altLang="en-US" sz="1800" b="1" dirty="0">
                <a:solidFill>
                  <a:srgbClr val="1F2224"/>
                </a:solidFill>
              </a:rPr>
              <a:t>الفكرة الأساسية والتمرين</a:t>
            </a:r>
            <a:endParaRPr lang="ar-SA" sz="1800" dirty="0"/>
          </a:p>
        </p:txBody>
      </p:sp>
      <p:sp>
        <p:nvSpPr>
          <p:cNvPr id="28" name="Text 26"/>
          <p:cNvSpPr txBox="1"/>
          <p:nvPr/>
        </p:nvSpPr>
        <p:spPr>
          <a:xfrm>
            <a:off x="3200400" y="5696712"/>
            <a:ext cx="6842455" cy="292608"/>
          </a:xfrm>
          <a:prstGeom prst="rect">
            <a:avLst/>
          </a:prstGeom>
          <a:noFill/>
          <a:ln/>
        </p:spPr>
        <p:txBody>
          <a:bodyPr wrap="square" lIns="0" tIns="0" rIns="0" bIns="0" rtlCol="0" anchor="t"/>
          <a:lstStyle/>
          <a:p>
            <a:pPr algn="r" indent="0" marL="0">
              <a:buNone/>
            </a:pPr>
            <a:r>
              <a:rPr lang="en-US" sz="1200" dirty="0">
                <a:solidFill>
                  <a:srgbClr val="5B6770"/>
                </a:solidFill>
              </a:rPr>
              <a:t>Function → Space → Experience → Form · Exercise 01</a:t>
            </a:r>
            <a:endParaRPr lang="en-US" sz="1200" dirty="0"/>
          </a:p>
        </p:txBody>
      </p:sp>
      <p:sp>
        <p:nvSpPr>
          <p:cNvPr id="29" name="duration panel"/>
          <p:cNvSpPr/>
          <p:nvPr/>
        </p:nvSpPr>
        <p:spPr>
          <a:xfrm>
            <a:off x="548640" y="1600200"/>
            <a:ext cx="2103120" cy="4462272"/>
          </a:xfrm>
          <a:prstGeom prst="rect">
            <a:avLst/>
          </a:prstGeom>
          <a:solidFill>
            <a:schemeClr val="tx1"/>
          </a:solidFill>
          <a:ln/>
        </p:spPr>
      </p:sp>
      <p:sp>
        <p:nvSpPr>
          <p:cNvPr id="30" name="Text 28"/>
          <p:cNvSpPr txBox="1"/>
          <p:nvPr/>
        </p:nvSpPr>
        <p:spPr>
          <a:xfrm>
            <a:off x="548640" y="2148840"/>
            <a:ext cx="2103120" cy="1097280"/>
          </a:xfrm>
          <a:prstGeom prst="rect">
            <a:avLst/>
          </a:prstGeom>
          <a:noFill/>
          <a:ln/>
        </p:spPr>
        <p:txBody>
          <a:bodyPr wrap="square" lIns="0" tIns="0" rIns="0" bIns="0" rtlCol="0" anchor="t"/>
          <a:lstStyle/>
          <a:p>
            <a:pPr algn="ctr" indent="0" marL="0">
              <a:buNone/>
            </a:pPr>
            <a:r>
              <a:rPr lang="en-US" sz="6600" b="1" dirty="0">
                <a:solidFill>
                  <a:srgbClr val="FFFFFF"/>
                </a:solidFill>
              </a:rPr>
              <a:t>90</a:t>
            </a:r>
            <a:endParaRPr lang="en-US" sz="6600" dirty="0"/>
          </a:p>
        </p:txBody>
      </p:sp>
      <p:sp>
        <p:nvSpPr>
          <p:cNvPr id="31" name="Text 29"/>
          <p:cNvSpPr txBox="1"/>
          <p:nvPr/>
        </p:nvSpPr>
        <p:spPr>
          <a:xfrm>
            <a:off x="548640" y="3246120"/>
            <a:ext cx="2103120" cy="365760"/>
          </a:xfrm>
          <a:prstGeom prst="rect">
            <a:avLst/>
          </a:prstGeom>
          <a:noFill/>
          <a:ln/>
        </p:spPr>
        <p:txBody>
          <a:bodyPr wrap="square" lIns="0" tIns="0" rIns="0" bIns="0" rtlCol="0" anchor="t"/>
          <a:lstStyle/>
          <a:p>
            <a:pPr rtl="1" algn="ctr" indent="0" marL="0">
              <a:buNone/>
            </a:pPr>
            <a:r>
              <a:rPr lang="ar-SA" altLang="en-US" sz="1600" dirty="0">
                <a:solidFill>
                  <a:srgbClr val="B9C4C4"/>
                </a:solidFill>
              </a:rPr>
              <a:t>دقيقة</a:t>
            </a:r>
            <a:endParaRPr lang="ar-SA" sz="1600" dirty="0"/>
          </a:p>
        </p:txBody>
      </p:sp>
      <p:sp>
        <p:nvSpPr>
          <p:cNvPr id="32" name="Text 30"/>
          <p:cNvSpPr txBox="1"/>
          <p:nvPr/>
        </p:nvSpPr>
        <p:spPr>
          <a:xfrm>
            <a:off x="731520" y="3977640"/>
            <a:ext cx="1737360" cy="1280160"/>
          </a:xfrm>
          <a:prstGeom prst="rect">
            <a:avLst/>
          </a:prstGeom>
          <a:noFill/>
          <a:ln/>
        </p:spPr>
        <p:txBody>
          <a:bodyPr wrap="square" lIns="0" tIns="0" rIns="0" bIns="0" rtlCol="0" anchor="t"/>
          <a:lstStyle/>
          <a:p>
            <a:pPr rtl="1" algn="ctr" indent="0" marL="0">
              <a:buNone/>
            </a:pPr>
            <a:r>
              <a:rPr lang="ar-SA" altLang="en-US" sz="1300" dirty="0">
                <a:solidFill>
                  <a:srgbClr val="D9A441"/>
                </a:solidFill>
              </a:rPr>
              <a:t>شرح تفاعلي + تمرين تطبيقي داخل المرسم</a:t>
            </a:r>
            <a:endParaRPr lang="ar-SA"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01 — WHAT IS DESIGN?</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ما هو التصميم؟</a:t>
            </a:r>
            <a:endParaRPr lang="ar-SA" sz="3200" dirty="0"/>
          </a:p>
        </p:txBody>
      </p:sp>
      <p:sp>
        <p:nvSpPr>
          <p:cNvPr id="4" name="definition panel"/>
          <p:cNvSpPr/>
          <p:nvPr/>
        </p:nvSpPr>
        <p:spPr>
          <a:xfrm>
            <a:off x="6400800" y="1600200"/>
            <a:ext cx="5242255" cy="4526280"/>
          </a:xfrm>
          <a:prstGeom prst="rect">
            <a:avLst/>
          </a:prstGeom>
          <a:solidFill>
            <a:schemeClr val="tx1"/>
          </a:solidFill>
          <a:ln/>
        </p:spPr>
      </p:sp>
      <p:sp>
        <p:nvSpPr>
          <p:cNvPr id="5" name="Text 3"/>
          <p:cNvSpPr txBox="1"/>
          <p:nvPr/>
        </p:nvSpPr>
        <p:spPr>
          <a:xfrm>
            <a:off x="6766560" y="1874520"/>
            <a:ext cx="4510735" cy="457200"/>
          </a:xfrm>
          <a:prstGeom prst="rect">
            <a:avLst/>
          </a:prstGeom>
          <a:noFill/>
          <a:ln/>
        </p:spPr>
        <p:txBody>
          <a:bodyPr wrap="square" lIns="0" tIns="0" rIns="0" bIns="0" rtlCol="0" anchor="t"/>
          <a:lstStyle/>
          <a:p>
            <a:pPr rtl="1" algn="r" indent="0" marL="0">
              <a:buNone/>
            </a:pPr>
            <a:r>
              <a:rPr lang="ar-SA" altLang="en-US" sz="1800" dirty="0">
                <a:solidFill>
                  <a:srgbClr val="B9C4C4"/>
                </a:solidFill>
              </a:rPr>
              <a:t>التصميم ليس مجرد رسم شكل جميل.</a:t>
            </a:r>
            <a:endParaRPr lang="ar-SA" sz="1800" dirty="0"/>
          </a:p>
        </p:txBody>
      </p:sp>
      <p:sp>
        <p:nvSpPr>
          <p:cNvPr id="6" name="Text 4"/>
          <p:cNvSpPr txBox="1"/>
          <p:nvPr/>
        </p:nvSpPr>
        <p:spPr>
          <a:xfrm>
            <a:off x="6766560" y="2377440"/>
            <a:ext cx="4510735" cy="1463040"/>
          </a:xfrm>
          <a:prstGeom prst="rect">
            <a:avLst/>
          </a:prstGeom>
          <a:noFill/>
          <a:ln/>
        </p:spPr>
        <p:txBody>
          <a:bodyPr wrap="square" lIns="0" tIns="0" rIns="0" bIns="0" rtlCol="0" anchor="t"/>
          <a:lstStyle/>
          <a:p>
            <a:pPr rtl="1" algn="r" indent="0" marL="0">
              <a:buNone/>
            </a:pPr>
            <a:r>
              <a:rPr lang="ar-SA" altLang="en-US" sz="2100" b="1" dirty="0">
                <a:solidFill>
                  <a:srgbClr val="FFFFFF"/>
                </a:solidFill>
              </a:rPr>
              <a:t>التصميم هو عملية اتخاذ قرارات منظمة للوصول إلى حل يحقق مجموعة من المتطلبات.</a:t>
            </a:r>
            <a:endParaRPr lang="ar-SA" sz="2100" dirty="0"/>
          </a:p>
        </p:txBody>
      </p:sp>
      <p:sp>
        <p:nvSpPr>
          <p:cNvPr id="7" name="Text 5"/>
          <p:cNvSpPr txBox="1"/>
          <p:nvPr/>
        </p:nvSpPr>
        <p:spPr>
          <a:xfrm>
            <a:off x="6766560" y="3977640"/>
            <a:ext cx="4510735" cy="822960"/>
          </a:xfrm>
          <a:prstGeom prst="rect">
            <a:avLst/>
          </a:prstGeom>
          <a:noFill/>
          <a:ln/>
        </p:spPr>
        <p:txBody>
          <a:bodyPr wrap="square" lIns="0" tIns="0" rIns="0" bIns="0" rtlCol="0" anchor="t"/>
          <a:lstStyle/>
          <a:p>
            <a:pPr algn="r" indent="0" marL="0">
              <a:buNone/>
            </a:pPr>
            <a:r>
              <a:rPr lang="en-US" sz="1300" i="1" dirty="0">
                <a:solidFill>
                  <a:srgbClr val="D9A441"/>
                </a:solidFill>
              </a:rPr>
              <a:t>Design is an organized decision-making process that leads to a solution meeting a set of requirements.</a:t>
            </a:r>
            <a:endParaRPr lang="en-US" sz="1300" dirty="0"/>
          </a:p>
        </p:txBody>
      </p:sp>
      <p:sp>
        <p:nvSpPr>
          <p:cNvPr id="8" name="Text 6"/>
          <p:cNvSpPr txBox="1"/>
          <p:nvPr/>
        </p:nvSpPr>
        <p:spPr>
          <a:xfrm>
            <a:off x="6766560" y="4937760"/>
            <a:ext cx="4510735" cy="822960"/>
          </a:xfrm>
          <a:prstGeom prst="rect">
            <a:avLst/>
          </a:prstGeom>
          <a:noFill/>
          <a:ln/>
        </p:spPr>
        <p:txBody>
          <a:bodyPr wrap="square" lIns="0" tIns="0" rIns="0" bIns="0" rtlCol="0" anchor="t"/>
          <a:lstStyle/>
          <a:p>
            <a:pPr rtl="1" algn="r" indent="0" marL="0">
              <a:buNone/>
            </a:pPr>
            <a:r>
              <a:rPr lang="ar-SA" altLang="en-US" sz="1500" dirty="0">
                <a:solidFill>
                  <a:srgbClr val="B9C4C4"/>
                </a:solidFill>
              </a:rPr>
              <a:t>في التصميم الداخلي ترتبط هذه المتطلبات بالفراغ والإنسان والوظيفة.</a:t>
            </a:r>
            <a:endParaRPr lang="ar-SA" sz="1500" dirty="0"/>
          </a:p>
        </p:txBody>
      </p:sp>
      <p:sp>
        <p:nvSpPr>
          <p:cNvPr id="9" name="Text 7"/>
          <p:cNvSpPr txBox="1"/>
          <p:nvPr/>
        </p:nvSpPr>
        <p:spPr>
          <a:xfrm>
            <a:off x="548640" y="1600200"/>
            <a:ext cx="5486400" cy="365760"/>
          </a:xfrm>
          <a:prstGeom prst="rect">
            <a:avLst/>
          </a:prstGeom>
          <a:noFill/>
          <a:ln/>
        </p:spPr>
        <p:txBody>
          <a:bodyPr wrap="square" lIns="0" tIns="0" rIns="0" bIns="0" rtlCol="0" anchor="t"/>
          <a:lstStyle/>
          <a:p>
            <a:pPr rtl="1" algn="r" indent="0" marL="0">
              <a:buNone/>
            </a:pPr>
            <a:r>
              <a:rPr lang="ar-SA" altLang="en-US" sz="1500" b="1" dirty="0">
                <a:solidFill>
                  <a:srgbClr val="C2593A"/>
                </a:solidFill>
              </a:rPr>
              <a:t>عندما نصمم غرفة لا نسأل فقط: كيف ستبدو؟ بل نسأل:</a:t>
            </a:r>
            <a:endParaRPr lang="ar-SA" sz="1500" dirty="0"/>
          </a:p>
        </p:txBody>
      </p:sp>
      <p:sp>
        <p:nvSpPr>
          <p:cNvPr id="10" name="question 1 circle"/>
          <p:cNvSpPr/>
          <p:nvPr/>
        </p:nvSpPr>
        <p:spPr>
          <a:xfrm>
            <a:off x="5486400" y="2103120"/>
            <a:ext cx="438912" cy="438912"/>
          </a:xfrm>
          <a:prstGeom prst="ellipse">
            <a:avLst/>
          </a:prstGeom>
          <a:solidFill>
            <a:srgbClr val="EEF0F0"/>
          </a:solidFill>
          <a:ln/>
        </p:spPr>
      </p:sp>
      <p:pic>
        <p:nvPicPr>
          <p:cNvPr id="11" name="question 1 icon" descr="question 1">    </p:cNvPr>
          <p:cNvPicPr>
            <a:picLocks noChangeAspect="1"/>
          </p:cNvPicPr>
          <p:nvPr/>
        </p:nvPicPr>
        <p:blipFill>
          <a:blip r:embed="rId1"/>
          <a:stretch>
            <a:fillRect/>
          </a:stretch>
        </p:blipFill>
        <p:spPr>
          <a:xfrm>
            <a:off x="5596128" y="2212848"/>
            <a:ext cx="219456" cy="219456"/>
          </a:xfrm>
          <a:prstGeom prst="rect">
            <a:avLst/>
          </a:prstGeom>
        </p:spPr>
      </p:pic>
      <p:sp>
        <p:nvSpPr>
          <p:cNvPr id="12" name="Text 9"/>
          <p:cNvSpPr txBox="1"/>
          <p:nvPr/>
        </p:nvSpPr>
        <p:spPr>
          <a:xfrm>
            <a:off x="548640" y="2139696"/>
            <a:ext cx="4800600" cy="384048"/>
          </a:xfrm>
          <a:prstGeom prst="rect">
            <a:avLst/>
          </a:prstGeom>
          <a:noFill/>
          <a:ln/>
        </p:spPr>
        <p:txBody>
          <a:bodyPr wrap="square" lIns="0" tIns="0" rIns="0" bIns="0" rtlCol="0" anchor="ctr"/>
          <a:lstStyle/>
          <a:p>
            <a:pPr rtl="1" algn="r" indent="0" marL="0">
              <a:buNone/>
            </a:pPr>
            <a:r>
              <a:rPr lang="ar-SA" altLang="en-US" sz="1600" dirty="0">
                <a:solidFill>
                  <a:srgbClr val="1F2224"/>
                </a:solidFill>
              </a:rPr>
              <a:t>من سيستخدمها؟</a:t>
            </a:r>
            <a:endParaRPr lang="ar-SA" sz="1600" dirty="0"/>
          </a:p>
        </p:txBody>
      </p:sp>
      <p:sp>
        <p:nvSpPr>
          <p:cNvPr id="13" name="question 2 circle"/>
          <p:cNvSpPr/>
          <p:nvPr/>
        </p:nvSpPr>
        <p:spPr>
          <a:xfrm>
            <a:off x="5486400" y="2670048"/>
            <a:ext cx="438912" cy="438912"/>
          </a:xfrm>
          <a:prstGeom prst="ellipse">
            <a:avLst/>
          </a:prstGeom>
          <a:solidFill>
            <a:srgbClr val="EEF0F0"/>
          </a:solidFill>
          <a:ln/>
        </p:spPr>
      </p:sp>
      <p:pic>
        <p:nvPicPr>
          <p:cNvPr id="14" name="question 2 icon" descr="question 2">    </p:cNvPr>
          <p:cNvPicPr>
            <a:picLocks noChangeAspect="1"/>
          </p:cNvPicPr>
          <p:nvPr/>
        </p:nvPicPr>
        <p:blipFill>
          <a:blip r:embed="rId2"/>
          <a:stretch>
            <a:fillRect/>
          </a:stretch>
        </p:blipFill>
        <p:spPr>
          <a:xfrm>
            <a:off x="5596128" y="2779776"/>
            <a:ext cx="219456" cy="219456"/>
          </a:xfrm>
          <a:prstGeom prst="rect">
            <a:avLst/>
          </a:prstGeom>
        </p:spPr>
      </p:pic>
      <p:sp>
        <p:nvSpPr>
          <p:cNvPr id="15" name="Text 11"/>
          <p:cNvSpPr txBox="1"/>
          <p:nvPr/>
        </p:nvSpPr>
        <p:spPr>
          <a:xfrm>
            <a:off x="548640" y="2706624"/>
            <a:ext cx="4800600" cy="384048"/>
          </a:xfrm>
          <a:prstGeom prst="rect">
            <a:avLst/>
          </a:prstGeom>
          <a:noFill/>
          <a:ln/>
        </p:spPr>
        <p:txBody>
          <a:bodyPr wrap="square" lIns="0" tIns="0" rIns="0" bIns="0" rtlCol="0" anchor="ctr"/>
          <a:lstStyle/>
          <a:p>
            <a:pPr rtl="1" algn="r" indent="0" marL="0">
              <a:buNone/>
            </a:pPr>
            <a:r>
              <a:rPr lang="ar-SA" altLang="en-US" sz="1600" dirty="0">
                <a:solidFill>
                  <a:srgbClr val="1F2224"/>
                </a:solidFill>
              </a:rPr>
              <a:t>ماذا سيفعل داخلها؟</a:t>
            </a:r>
            <a:endParaRPr lang="ar-SA" sz="1600" dirty="0"/>
          </a:p>
        </p:txBody>
      </p:sp>
      <p:sp>
        <p:nvSpPr>
          <p:cNvPr id="16" name="question 3 circle"/>
          <p:cNvSpPr/>
          <p:nvPr/>
        </p:nvSpPr>
        <p:spPr>
          <a:xfrm>
            <a:off x="5486400" y="3236976"/>
            <a:ext cx="438912" cy="438912"/>
          </a:xfrm>
          <a:prstGeom prst="ellipse">
            <a:avLst/>
          </a:prstGeom>
          <a:solidFill>
            <a:srgbClr val="EEF0F0"/>
          </a:solidFill>
          <a:ln/>
        </p:spPr>
      </p:sp>
      <p:pic>
        <p:nvPicPr>
          <p:cNvPr id="17" name="question 3 icon" descr="question 3">    </p:cNvPr>
          <p:cNvPicPr>
            <a:picLocks noChangeAspect="1"/>
          </p:cNvPicPr>
          <p:nvPr/>
        </p:nvPicPr>
        <p:blipFill>
          <a:blip r:embed="rId3"/>
          <a:stretch>
            <a:fillRect/>
          </a:stretch>
        </p:blipFill>
        <p:spPr>
          <a:xfrm>
            <a:off x="5596128" y="3346704"/>
            <a:ext cx="219456" cy="219456"/>
          </a:xfrm>
          <a:prstGeom prst="rect">
            <a:avLst/>
          </a:prstGeom>
        </p:spPr>
      </p:pic>
      <p:sp>
        <p:nvSpPr>
          <p:cNvPr id="18" name="Text 13"/>
          <p:cNvSpPr txBox="1"/>
          <p:nvPr/>
        </p:nvSpPr>
        <p:spPr>
          <a:xfrm>
            <a:off x="548640" y="3273552"/>
            <a:ext cx="4800600" cy="384048"/>
          </a:xfrm>
          <a:prstGeom prst="rect">
            <a:avLst/>
          </a:prstGeom>
          <a:noFill/>
          <a:ln/>
        </p:spPr>
        <p:txBody>
          <a:bodyPr wrap="square" lIns="0" tIns="0" rIns="0" bIns="0" rtlCol="0" anchor="ctr"/>
          <a:lstStyle/>
          <a:p>
            <a:pPr rtl="1" algn="r" indent="0" marL="0">
              <a:buNone/>
            </a:pPr>
            <a:r>
              <a:rPr lang="ar-SA" altLang="en-US" sz="1600" dirty="0">
                <a:solidFill>
                  <a:srgbClr val="1F2224"/>
                </a:solidFill>
              </a:rPr>
              <a:t>كيف سيتحرك؟</a:t>
            </a:r>
            <a:endParaRPr lang="ar-SA" sz="1600" dirty="0"/>
          </a:p>
        </p:txBody>
      </p:sp>
      <p:sp>
        <p:nvSpPr>
          <p:cNvPr id="19" name="question 4 circle"/>
          <p:cNvSpPr/>
          <p:nvPr/>
        </p:nvSpPr>
        <p:spPr>
          <a:xfrm>
            <a:off x="5486400" y="3803904"/>
            <a:ext cx="438912" cy="438912"/>
          </a:xfrm>
          <a:prstGeom prst="ellipse">
            <a:avLst/>
          </a:prstGeom>
          <a:solidFill>
            <a:srgbClr val="EEF0F0"/>
          </a:solidFill>
          <a:ln/>
        </p:spPr>
      </p:sp>
      <p:pic>
        <p:nvPicPr>
          <p:cNvPr id="20" name="question 4 icon" descr="question 4">    </p:cNvPr>
          <p:cNvPicPr>
            <a:picLocks noChangeAspect="1"/>
          </p:cNvPicPr>
          <p:nvPr/>
        </p:nvPicPr>
        <p:blipFill>
          <a:blip r:embed="rId4"/>
          <a:stretch>
            <a:fillRect/>
          </a:stretch>
        </p:blipFill>
        <p:spPr>
          <a:xfrm>
            <a:off x="5596128" y="3913632"/>
            <a:ext cx="219456" cy="219456"/>
          </a:xfrm>
          <a:prstGeom prst="rect">
            <a:avLst/>
          </a:prstGeom>
        </p:spPr>
      </p:pic>
      <p:sp>
        <p:nvSpPr>
          <p:cNvPr id="21" name="Text 15"/>
          <p:cNvSpPr txBox="1"/>
          <p:nvPr/>
        </p:nvSpPr>
        <p:spPr>
          <a:xfrm>
            <a:off x="548640" y="3840480"/>
            <a:ext cx="4800600" cy="384048"/>
          </a:xfrm>
          <a:prstGeom prst="rect">
            <a:avLst/>
          </a:prstGeom>
          <a:noFill/>
          <a:ln/>
        </p:spPr>
        <p:txBody>
          <a:bodyPr wrap="square" lIns="0" tIns="0" rIns="0" bIns="0" rtlCol="0" anchor="ctr"/>
          <a:lstStyle/>
          <a:p>
            <a:pPr rtl="1" algn="r" indent="0" marL="0">
              <a:buNone/>
            </a:pPr>
            <a:r>
              <a:rPr lang="ar-SA" altLang="en-US" sz="1600" dirty="0">
                <a:solidFill>
                  <a:srgbClr val="1F2224"/>
                </a:solidFill>
              </a:rPr>
              <a:t>ما مقدار المساحة المطلوبة؟</a:t>
            </a:r>
            <a:endParaRPr lang="ar-SA" sz="1600" dirty="0"/>
          </a:p>
        </p:txBody>
      </p:sp>
      <p:sp>
        <p:nvSpPr>
          <p:cNvPr id="22" name="question 5 circle"/>
          <p:cNvSpPr/>
          <p:nvPr/>
        </p:nvSpPr>
        <p:spPr>
          <a:xfrm>
            <a:off x="5486400" y="4370832"/>
            <a:ext cx="438912" cy="438912"/>
          </a:xfrm>
          <a:prstGeom prst="ellipse">
            <a:avLst/>
          </a:prstGeom>
          <a:solidFill>
            <a:srgbClr val="EEF0F0"/>
          </a:solidFill>
          <a:ln/>
        </p:spPr>
      </p:sp>
      <p:pic>
        <p:nvPicPr>
          <p:cNvPr id="23" name="question 5 icon" descr="question 5">    </p:cNvPr>
          <p:cNvPicPr>
            <a:picLocks noChangeAspect="1"/>
          </p:cNvPicPr>
          <p:nvPr/>
        </p:nvPicPr>
        <p:blipFill>
          <a:blip r:embed="rId5"/>
          <a:stretch>
            <a:fillRect/>
          </a:stretch>
        </p:blipFill>
        <p:spPr>
          <a:xfrm>
            <a:off x="5596128" y="4480560"/>
            <a:ext cx="219456" cy="219456"/>
          </a:xfrm>
          <a:prstGeom prst="rect">
            <a:avLst/>
          </a:prstGeom>
        </p:spPr>
      </p:pic>
      <p:sp>
        <p:nvSpPr>
          <p:cNvPr id="24" name="Text 17"/>
          <p:cNvSpPr txBox="1"/>
          <p:nvPr/>
        </p:nvSpPr>
        <p:spPr>
          <a:xfrm>
            <a:off x="548640" y="4407408"/>
            <a:ext cx="4800600" cy="384048"/>
          </a:xfrm>
          <a:prstGeom prst="rect">
            <a:avLst/>
          </a:prstGeom>
          <a:noFill/>
          <a:ln/>
        </p:spPr>
        <p:txBody>
          <a:bodyPr wrap="square" lIns="0" tIns="0" rIns="0" bIns="0" rtlCol="0" anchor="ctr"/>
          <a:lstStyle/>
          <a:p>
            <a:pPr rtl="1" algn="r" indent="0" marL="0">
              <a:buNone/>
            </a:pPr>
            <a:r>
              <a:rPr lang="ar-SA" altLang="en-US" sz="1600" dirty="0">
                <a:solidFill>
                  <a:srgbClr val="1F2224"/>
                </a:solidFill>
              </a:rPr>
              <a:t>كيف يدخل الضوء؟</a:t>
            </a:r>
            <a:endParaRPr lang="ar-SA" sz="1600" dirty="0"/>
          </a:p>
        </p:txBody>
      </p:sp>
      <p:sp>
        <p:nvSpPr>
          <p:cNvPr id="25" name="question 6 circle"/>
          <p:cNvSpPr/>
          <p:nvPr/>
        </p:nvSpPr>
        <p:spPr>
          <a:xfrm>
            <a:off x="5486400" y="4937760"/>
            <a:ext cx="438912" cy="438912"/>
          </a:xfrm>
          <a:prstGeom prst="ellipse">
            <a:avLst/>
          </a:prstGeom>
          <a:solidFill>
            <a:srgbClr val="EEF0F0"/>
          </a:solidFill>
          <a:ln/>
        </p:spPr>
      </p:sp>
      <p:pic>
        <p:nvPicPr>
          <p:cNvPr id="26" name="question 6 icon" descr="question 6">    </p:cNvPr>
          <p:cNvPicPr>
            <a:picLocks noChangeAspect="1"/>
          </p:cNvPicPr>
          <p:nvPr/>
        </p:nvPicPr>
        <p:blipFill>
          <a:blip r:embed="rId6"/>
          <a:stretch>
            <a:fillRect/>
          </a:stretch>
        </p:blipFill>
        <p:spPr>
          <a:xfrm>
            <a:off x="5596128" y="5047488"/>
            <a:ext cx="219456" cy="219456"/>
          </a:xfrm>
          <a:prstGeom prst="rect">
            <a:avLst/>
          </a:prstGeom>
        </p:spPr>
      </p:pic>
      <p:sp>
        <p:nvSpPr>
          <p:cNvPr id="27" name="Text 19"/>
          <p:cNvSpPr txBox="1"/>
          <p:nvPr/>
        </p:nvSpPr>
        <p:spPr>
          <a:xfrm>
            <a:off x="548640" y="4974336"/>
            <a:ext cx="4800600" cy="384048"/>
          </a:xfrm>
          <a:prstGeom prst="rect">
            <a:avLst/>
          </a:prstGeom>
          <a:noFill/>
          <a:ln/>
        </p:spPr>
        <p:txBody>
          <a:bodyPr wrap="square" lIns="0" tIns="0" rIns="0" bIns="0" rtlCol="0" anchor="ctr"/>
          <a:lstStyle/>
          <a:p>
            <a:pPr rtl="1" algn="r" indent="0" marL="0">
              <a:buNone/>
            </a:pPr>
            <a:r>
              <a:rPr lang="ar-SA" altLang="en-US" sz="1600" dirty="0">
                <a:solidFill>
                  <a:srgbClr val="1F2224"/>
                </a:solidFill>
              </a:rPr>
              <a:t>كيف تتصل بالفراغات الأخرى؟</a:t>
            </a:r>
            <a:endParaRPr lang="ar-SA" sz="1600" dirty="0"/>
          </a:p>
        </p:txBody>
      </p:sp>
      <p:sp>
        <p:nvSpPr>
          <p:cNvPr id="28" name="question 7 circle"/>
          <p:cNvSpPr/>
          <p:nvPr/>
        </p:nvSpPr>
        <p:spPr>
          <a:xfrm>
            <a:off x="5486400" y="5504688"/>
            <a:ext cx="438912" cy="438912"/>
          </a:xfrm>
          <a:prstGeom prst="ellipse">
            <a:avLst/>
          </a:prstGeom>
          <a:solidFill>
            <a:srgbClr val="EEF0F0"/>
          </a:solidFill>
          <a:ln/>
        </p:spPr>
      </p:sp>
      <p:pic>
        <p:nvPicPr>
          <p:cNvPr id="29" name="question 7 icon" descr="question 7">    </p:cNvPr>
          <p:cNvPicPr>
            <a:picLocks noChangeAspect="1"/>
          </p:cNvPicPr>
          <p:nvPr/>
        </p:nvPicPr>
        <p:blipFill>
          <a:blip r:embed="rId7"/>
          <a:stretch>
            <a:fillRect/>
          </a:stretch>
        </p:blipFill>
        <p:spPr>
          <a:xfrm>
            <a:off x="5596128" y="5614416"/>
            <a:ext cx="219456" cy="219456"/>
          </a:xfrm>
          <a:prstGeom prst="rect">
            <a:avLst/>
          </a:prstGeom>
        </p:spPr>
      </p:pic>
      <p:sp>
        <p:nvSpPr>
          <p:cNvPr id="30" name="Text 21"/>
          <p:cNvSpPr txBox="1"/>
          <p:nvPr/>
        </p:nvSpPr>
        <p:spPr>
          <a:xfrm>
            <a:off x="548640" y="5541264"/>
            <a:ext cx="4800600" cy="384048"/>
          </a:xfrm>
          <a:prstGeom prst="rect">
            <a:avLst/>
          </a:prstGeom>
          <a:noFill/>
          <a:ln/>
        </p:spPr>
        <p:txBody>
          <a:bodyPr wrap="square" lIns="0" tIns="0" rIns="0" bIns="0" rtlCol="0" anchor="ctr"/>
          <a:lstStyle/>
          <a:p>
            <a:pPr rtl="1" algn="r" indent="0" marL="0">
              <a:buNone/>
            </a:pPr>
            <a:r>
              <a:rPr lang="ar-SA" altLang="en-US" sz="1600" dirty="0">
                <a:solidFill>
                  <a:srgbClr val="1F2224"/>
                </a:solidFill>
              </a:rPr>
              <a:t>كيف يشعر المستخدم داخلها؟</a:t>
            </a:r>
            <a:endParaRPr lang="ar-SA"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02 — WHAT IS INTERIOR DESIGN?</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ما هو التصميم الداخلي؟</a:t>
            </a:r>
            <a:endParaRPr lang="ar-SA" sz="3200" dirty="0"/>
          </a:p>
        </p:txBody>
      </p:sp>
      <p:sp>
        <p:nvSpPr>
          <p:cNvPr id="4" name="Text 2"/>
          <p:cNvSpPr txBox="1"/>
          <p:nvPr/>
        </p:nvSpPr>
        <p:spPr>
          <a:xfrm>
            <a:off x="548640" y="1508760"/>
            <a:ext cx="11094415" cy="502920"/>
          </a:xfrm>
          <a:prstGeom prst="rect">
            <a:avLst/>
          </a:prstGeom>
          <a:noFill/>
          <a:ln/>
        </p:spPr>
        <p:txBody>
          <a:bodyPr wrap="square" lIns="0" tIns="0" rIns="0" bIns="0" rtlCol="0" anchor="t"/>
          <a:lstStyle/>
          <a:p>
            <a:pPr algn="r" indent="0" marL="0">
              <a:buNone/>
            </a:pPr>
            <a:r>
              <a:rPr lang="ar-SA" altLang="en-US" sz="1800" b="1" dirty="0">
                <a:solidFill>
                  <a:srgbClr val="C2593A"/>
                </a:solidFill>
              </a:rPr>
              <a:t>Interior Design </a:t>
            </a:r>
            <a:pPr algn="r" indent="0" marL="0">
              <a:buNone/>
            </a:pPr>
            <a:r>
              <a:rPr lang="ar-SA" altLang="en-US" sz="1800" dirty="0">
                <a:solidFill>
                  <a:srgbClr val="1F2224"/>
                </a:solidFill>
              </a:rPr>
              <a:t>هو عملية تصميم وتنظيم وتشكيل الفراغ الداخلي بما يتناسب مع أربعة محاور متكاملة:</a:t>
            </a:r>
            <a:endParaRPr lang="ar-SA" sz="1800" dirty="0"/>
          </a:p>
        </p:txBody>
      </p:sp>
      <p:sp>
        <p:nvSpPr>
          <p:cNvPr id="5" name="pillar Human"/>
          <p:cNvSpPr/>
          <p:nvPr/>
        </p:nvSpPr>
        <p:spPr>
          <a:xfrm>
            <a:off x="9246641" y="2286000"/>
            <a:ext cx="2396414" cy="3291840"/>
          </a:xfrm>
          <a:prstGeom prst="roundRect">
            <a:avLst>
              <a:gd name="adj" fmla="val 3053"/>
            </a:avLst>
          </a:prstGeom>
          <a:solidFill>
            <a:schemeClr val="bg2"/>
          </a:solidFill>
          <a:ln/>
          <a:effectLst>
            <a:outerShdw sx="100000" sy="100000" kx="0" ky="0" algn="bl" rotWithShape="0" blurRad="101600" dist="25400" dir="5400000">
              <a:srgbClr val="000000">
                <a:alpha val="12000"/>
              </a:srgbClr>
            </a:outerShdw>
          </a:effectLst>
        </p:spPr>
      </p:sp>
      <p:sp>
        <p:nvSpPr>
          <p:cNvPr id="6" name="pillar Human circle"/>
          <p:cNvSpPr/>
          <p:nvPr/>
        </p:nvSpPr>
        <p:spPr>
          <a:xfrm>
            <a:off x="9987648" y="2606040"/>
            <a:ext cx="914400" cy="914400"/>
          </a:xfrm>
          <a:prstGeom prst="ellipse">
            <a:avLst/>
          </a:prstGeom>
          <a:solidFill>
            <a:srgbClr val="C2593A"/>
          </a:solidFill>
          <a:ln/>
        </p:spPr>
      </p:sp>
      <p:pic>
        <p:nvPicPr>
          <p:cNvPr id="7" name="pillar Human icon" descr="pillar Human">    </p:cNvPr>
          <p:cNvPicPr>
            <a:picLocks noChangeAspect="1"/>
          </p:cNvPicPr>
          <p:nvPr/>
        </p:nvPicPr>
        <p:blipFill>
          <a:blip r:embed="rId1"/>
          <a:stretch>
            <a:fillRect/>
          </a:stretch>
        </p:blipFill>
        <p:spPr>
          <a:xfrm>
            <a:off x="10216248" y="2834640"/>
            <a:ext cx="457200" cy="457200"/>
          </a:xfrm>
          <a:prstGeom prst="rect">
            <a:avLst/>
          </a:prstGeom>
        </p:spPr>
      </p:pic>
      <p:sp>
        <p:nvSpPr>
          <p:cNvPr id="8" name="Text 5"/>
          <p:cNvSpPr txBox="1"/>
          <p:nvPr/>
        </p:nvSpPr>
        <p:spPr>
          <a:xfrm>
            <a:off x="9246641" y="3657600"/>
            <a:ext cx="2396414" cy="457200"/>
          </a:xfrm>
          <a:prstGeom prst="rect">
            <a:avLst/>
          </a:prstGeom>
          <a:noFill/>
          <a:ln/>
        </p:spPr>
        <p:txBody>
          <a:bodyPr wrap="square" lIns="0" tIns="0" rIns="0" bIns="0" rtlCol="0" anchor="t"/>
          <a:lstStyle/>
          <a:p>
            <a:pPr algn="ctr" indent="0" marL="0">
              <a:buNone/>
            </a:pPr>
            <a:r>
              <a:rPr lang="en-US" sz="2200" b="1" dirty="0">
                <a:solidFill>
                  <a:srgbClr val="1F2224"/>
                </a:solidFill>
              </a:rPr>
              <a:t>Human</a:t>
            </a:r>
            <a:endParaRPr lang="en-US" sz="2200" dirty="0"/>
          </a:p>
        </p:txBody>
      </p:sp>
      <p:sp>
        <p:nvSpPr>
          <p:cNvPr id="9" name="Text 6"/>
          <p:cNvSpPr txBox="1"/>
          <p:nvPr/>
        </p:nvSpPr>
        <p:spPr>
          <a:xfrm>
            <a:off x="9246641" y="4114800"/>
            <a:ext cx="2396414" cy="365760"/>
          </a:xfrm>
          <a:prstGeom prst="rect">
            <a:avLst/>
          </a:prstGeom>
          <a:noFill/>
          <a:ln/>
        </p:spPr>
        <p:txBody>
          <a:bodyPr wrap="square" lIns="0" tIns="0" rIns="0" bIns="0" rtlCol="0" anchor="t"/>
          <a:lstStyle/>
          <a:p>
            <a:pPr rtl="1" algn="ctr" indent="0" marL="0">
              <a:buNone/>
            </a:pPr>
            <a:r>
              <a:rPr lang="ar-SA" altLang="en-US" sz="1700" b="1" dirty="0">
                <a:solidFill>
                  <a:srgbClr val="C2593A"/>
                </a:solidFill>
              </a:rPr>
              <a:t>الإنسان</a:t>
            </a:r>
            <a:endParaRPr lang="ar-SA" sz="1700" dirty="0"/>
          </a:p>
        </p:txBody>
      </p:sp>
      <p:sp>
        <p:nvSpPr>
          <p:cNvPr id="10" name="Text 7"/>
          <p:cNvSpPr txBox="1"/>
          <p:nvPr/>
        </p:nvSpPr>
        <p:spPr>
          <a:xfrm>
            <a:off x="9429521" y="4572000"/>
            <a:ext cx="2030654" cy="822960"/>
          </a:xfrm>
          <a:prstGeom prst="rect">
            <a:avLst/>
          </a:prstGeom>
          <a:noFill/>
          <a:ln/>
        </p:spPr>
        <p:txBody>
          <a:bodyPr wrap="square" lIns="0" tIns="0" rIns="0" bIns="0" rtlCol="0" anchor="t"/>
          <a:lstStyle/>
          <a:p>
            <a:pPr rtl="1" algn="ctr" indent="0" marL="0">
              <a:buNone/>
            </a:pPr>
            <a:r>
              <a:rPr lang="ar-SA" altLang="en-US" sz="1400" dirty="0">
                <a:solidFill>
                  <a:srgbClr val="3A4146"/>
                </a:solidFill>
              </a:rPr>
              <a:t>من يستخدم المكان؟</a:t>
            </a:r>
            <a:endParaRPr lang="ar-SA" sz="1400" dirty="0"/>
          </a:p>
        </p:txBody>
      </p:sp>
      <p:sp>
        <p:nvSpPr>
          <p:cNvPr id="11" name="Text 8"/>
          <p:cNvSpPr txBox="1"/>
          <p:nvPr/>
        </p:nvSpPr>
        <p:spPr>
          <a:xfrm>
            <a:off x="8743721" y="3566160"/>
            <a:ext cx="502920" cy="548640"/>
          </a:xfrm>
          <a:prstGeom prst="rect">
            <a:avLst/>
          </a:prstGeom>
          <a:noFill/>
          <a:ln/>
        </p:spPr>
        <p:txBody>
          <a:bodyPr wrap="square" lIns="0" tIns="0" rIns="0" bIns="0" rtlCol="0" anchor="t"/>
          <a:lstStyle/>
          <a:p>
            <a:pPr algn="ctr" indent="0" marL="0">
              <a:buNone/>
            </a:pPr>
            <a:r>
              <a:rPr lang="en-US" sz="3000" b="1" dirty="0">
                <a:solidFill>
                  <a:srgbClr val="8A9A9B"/>
                </a:solidFill>
              </a:rPr>
              <a:t>+</a:t>
            </a:r>
            <a:endParaRPr lang="en-US" sz="3000" dirty="0"/>
          </a:p>
        </p:txBody>
      </p:sp>
      <p:sp>
        <p:nvSpPr>
          <p:cNvPr id="12" name="pillar Function"/>
          <p:cNvSpPr/>
          <p:nvPr/>
        </p:nvSpPr>
        <p:spPr>
          <a:xfrm>
            <a:off x="6347308" y="2286000"/>
            <a:ext cx="2396414" cy="3291840"/>
          </a:xfrm>
          <a:prstGeom prst="roundRect">
            <a:avLst>
              <a:gd name="adj" fmla="val 3053"/>
            </a:avLst>
          </a:prstGeom>
          <a:solidFill>
            <a:schemeClr val="bg2"/>
          </a:solidFill>
          <a:ln/>
          <a:effectLst>
            <a:outerShdw sx="100000" sy="100000" kx="0" ky="0" algn="bl" rotWithShape="0" blurRad="101600" dist="25400" dir="5400000">
              <a:srgbClr val="000000">
                <a:alpha val="12000"/>
              </a:srgbClr>
            </a:outerShdw>
          </a:effectLst>
        </p:spPr>
      </p:sp>
      <p:sp>
        <p:nvSpPr>
          <p:cNvPr id="13" name="pillar Function circle"/>
          <p:cNvSpPr/>
          <p:nvPr/>
        </p:nvSpPr>
        <p:spPr>
          <a:xfrm>
            <a:off x="7088315" y="2606040"/>
            <a:ext cx="914400" cy="914400"/>
          </a:xfrm>
          <a:prstGeom prst="ellipse">
            <a:avLst/>
          </a:prstGeom>
          <a:solidFill>
            <a:srgbClr val="2F6B6A"/>
          </a:solidFill>
          <a:ln/>
        </p:spPr>
      </p:sp>
      <p:pic>
        <p:nvPicPr>
          <p:cNvPr id="14" name="pillar Function icon" descr="pillar Function">    </p:cNvPr>
          <p:cNvPicPr>
            <a:picLocks noChangeAspect="1"/>
          </p:cNvPicPr>
          <p:nvPr/>
        </p:nvPicPr>
        <p:blipFill>
          <a:blip r:embed="rId2"/>
          <a:stretch>
            <a:fillRect/>
          </a:stretch>
        </p:blipFill>
        <p:spPr>
          <a:xfrm>
            <a:off x="7316915" y="2834640"/>
            <a:ext cx="457200" cy="457200"/>
          </a:xfrm>
          <a:prstGeom prst="rect">
            <a:avLst/>
          </a:prstGeom>
        </p:spPr>
      </p:pic>
      <p:sp>
        <p:nvSpPr>
          <p:cNvPr id="15" name="Text 11"/>
          <p:cNvSpPr txBox="1"/>
          <p:nvPr/>
        </p:nvSpPr>
        <p:spPr>
          <a:xfrm>
            <a:off x="6347308" y="3657600"/>
            <a:ext cx="2396414" cy="457200"/>
          </a:xfrm>
          <a:prstGeom prst="rect">
            <a:avLst/>
          </a:prstGeom>
          <a:noFill/>
          <a:ln/>
        </p:spPr>
        <p:txBody>
          <a:bodyPr wrap="square" lIns="0" tIns="0" rIns="0" bIns="0" rtlCol="0" anchor="t"/>
          <a:lstStyle/>
          <a:p>
            <a:pPr algn="ctr" indent="0" marL="0">
              <a:buNone/>
            </a:pPr>
            <a:r>
              <a:rPr lang="en-US" sz="2200" b="1" dirty="0">
                <a:solidFill>
                  <a:srgbClr val="1F2224"/>
                </a:solidFill>
              </a:rPr>
              <a:t>Function</a:t>
            </a:r>
            <a:endParaRPr lang="en-US" sz="2200" dirty="0"/>
          </a:p>
        </p:txBody>
      </p:sp>
      <p:sp>
        <p:nvSpPr>
          <p:cNvPr id="16" name="Text 12"/>
          <p:cNvSpPr txBox="1"/>
          <p:nvPr/>
        </p:nvSpPr>
        <p:spPr>
          <a:xfrm>
            <a:off x="6347308" y="4114800"/>
            <a:ext cx="2396414" cy="365760"/>
          </a:xfrm>
          <a:prstGeom prst="rect">
            <a:avLst/>
          </a:prstGeom>
          <a:noFill/>
          <a:ln/>
        </p:spPr>
        <p:txBody>
          <a:bodyPr wrap="square" lIns="0" tIns="0" rIns="0" bIns="0" rtlCol="0" anchor="t"/>
          <a:lstStyle/>
          <a:p>
            <a:pPr rtl="1" algn="ctr" indent="0" marL="0">
              <a:buNone/>
            </a:pPr>
            <a:r>
              <a:rPr lang="ar-SA" altLang="en-US" sz="1700" b="1" dirty="0">
                <a:solidFill>
                  <a:srgbClr val="2F6B6A"/>
                </a:solidFill>
              </a:rPr>
              <a:t>الوظيفة</a:t>
            </a:r>
            <a:endParaRPr lang="ar-SA" sz="1700" dirty="0"/>
          </a:p>
        </p:txBody>
      </p:sp>
      <p:sp>
        <p:nvSpPr>
          <p:cNvPr id="17" name="Text 13"/>
          <p:cNvSpPr txBox="1"/>
          <p:nvPr/>
        </p:nvSpPr>
        <p:spPr>
          <a:xfrm>
            <a:off x="6530188" y="4572000"/>
            <a:ext cx="2030654" cy="822960"/>
          </a:xfrm>
          <a:prstGeom prst="rect">
            <a:avLst/>
          </a:prstGeom>
          <a:noFill/>
          <a:ln/>
        </p:spPr>
        <p:txBody>
          <a:bodyPr wrap="square" lIns="0" tIns="0" rIns="0" bIns="0" rtlCol="0" anchor="t"/>
          <a:lstStyle/>
          <a:p>
            <a:pPr rtl="1" algn="ctr" indent="0" marL="0">
              <a:buNone/>
            </a:pPr>
            <a:r>
              <a:rPr lang="ar-SA" altLang="en-US" sz="1400" dirty="0">
                <a:solidFill>
                  <a:srgbClr val="3A4146"/>
                </a:solidFill>
              </a:rPr>
              <a:t>ماذا يحدث داخل المكان؟</a:t>
            </a:r>
            <a:endParaRPr lang="ar-SA" sz="1400" dirty="0"/>
          </a:p>
        </p:txBody>
      </p:sp>
      <p:sp>
        <p:nvSpPr>
          <p:cNvPr id="18" name="Text 14"/>
          <p:cNvSpPr txBox="1"/>
          <p:nvPr/>
        </p:nvSpPr>
        <p:spPr>
          <a:xfrm>
            <a:off x="5844388" y="3566160"/>
            <a:ext cx="502920" cy="548640"/>
          </a:xfrm>
          <a:prstGeom prst="rect">
            <a:avLst/>
          </a:prstGeom>
          <a:noFill/>
          <a:ln/>
        </p:spPr>
        <p:txBody>
          <a:bodyPr wrap="square" lIns="0" tIns="0" rIns="0" bIns="0" rtlCol="0" anchor="t"/>
          <a:lstStyle/>
          <a:p>
            <a:pPr algn="ctr" indent="0" marL="0">
              <a:buNone/>
            </a:pPr>
            <a:r>
              <a:rPr lang="en-US" sz="3000" b="1" dirty="0">
                <a:solidFill>
                  <a:srgbClr val="8A9A9B"/>
                </a:solidFill>
              </a:rPr>
              <a:t>+</a:t>
            </a:r>
            <a:endParaRPr lang="en-US" sz="3000" dirty="0"/>
          </a:p>
        </p:txBody>
      </p:sp>
      <p:sp>
        <p:nvSpPr>
          <p:cNvPr id="19" name="pillar Space"/>
          <p:cNvSpPr/>
          <p:nvPr/>
        </p:nvSpPr>
        <p:spPr>
          <a:xfrm>
            <a:off x="3447974" y="2286000"/>
            <a:ext cx="2396414" cy="3291840"/>
          </a:xfrm>
          <a:prstGeom prst="roundRect">
            <a:avLst>
              <a:gd name="adj" fmla="val 3053"/>
            </a:avLst>
          </a:prstGeom>
          <a:solidFill>
            <a:schemeClr val="bg2"/>
          </a:solidFill>
          <a:ln/>
          <a:effectLst>
            <a:outerShdw sx="100000" sy="100000" kx="0" ky="0" algn="bl" rotWithShape="0" blurRad="101600" dist="25400" dir="5400000">
              <a:srgbClr val="000000">
                <a:alpha val="12000"/>
              </a:srgbClr>
            </a:outerShdw>
          </a:effectLst>
        </p:spPr>
      </p:sp>
      <p:sp>
        <p:nvSpPr>
          <p:cNvPr id="20" name="pillar Space circle"/>
          <p:cNvSpPr/>
          <p:nvPr/>
        </p:nvSpPr>
        <p:spPr>
          <a:xfrm>
            <a:off x="4188981" y="2606040"/>
            <a:ext cx="914400" cy="914400"/>
          </a:xfrm>
          <a:prstGeom prst="ellipse">
            <a:avLst/>
          </a:prstGeom>
          <a:solidFill>
            <a:srgbClr val="3A4146"/>
          </a:solidFill>
          <a:ln/>
        </p:spPr>
      </p:sp>
      <p:pic>
        <p:nvPicPr>
          <p:cNvPr id="21" name="pillar Space icon" descr="pillar Space">    </p:cNvPr>
          <p:cNvPicPr>
            <a:picLocks noChangeAspect="1"/>
          </p:cNvPicPr>
          <p:nvPr/>
        </p:nvPicPr>
        <p:blipFill>
          <a:blip r:embed="rId3"/>
          <a:stretch>
            <a:fillRect/>
          </a:stretch>
        </p:blipFill>
        <p:spPr>
          <a:xfrm>
            <a:off x="4417581" y="2834640"/>
            <a:ext cx="457200" cy="457200"/>
          </a:xfrm>
          <a:prstGeom prst="rect">
            <a:avLst/>
          </a:prstGeom>
        </p:spPr>
      </p:pic>
      <p:sp>
        <p:nvSpPr>
          <p:cNvPr id="22" name="Text 17"/>
          <p:cNvSpPr txBox="1"/>
          <p:nvPr/>
        </p:nvSpPr>
        <p:spPr>
          <a:xfrm>
            <a:off x="3447974" y="3657600"/>
            <a:ext cx="2396414" cy="457200"/>
          </a:xfrm>
          <a:prstGeom prst="rect">
            <a:avLst/>
          </a:prstGeom>
          <a:noFill/>
          <a:ln/>
        </p:spPr>
        <p:txBody>
          <a:bodyPr wrap="square" lIns="0" tIns="0" rIns="0" bIns="0" rtlCol="0" anchor="t"/>
          <a:lstStyle/>
          <a:p>
            <a:pPr algn="ctr" indent="0" marL="0">
              <a:buNone/>
            </a:pPr>
            <a:r>
              <a:rPr lang="en-US" sz="2200" b="1" dirty="0">
                <a:solidFill>
                  <a:srgbClr val="1F2224"/>
                </a:solidFill>
              </a:rPr>
              <a:t>Space</a:t>
            </a:r>
            <a:endParaRPr lang="en-US" sz="2200" dirty="0"/>
          </a:p>
        </p:txBody>
      </p:sp>
      <p:sp>
        <p:nvSpPr>
          <p:cNvPr id="23" name="Text 18"/>
          <p:cNvSpPr txBox="1"/>
          <p:nvPr/>
        </p:nvSpPr>
        <p:spPr>
          <a:xfrm>
            <a:off x="3447974" y="4114800"/>
            <a:ext cx="2396414" cy="365760"/>
          </a:xfrm>
          <a:prstGeom prst="rect">
            <a:avLst/>
          </a:prstGeom>
          <a:noFill/>
          <a:ln/>
        </p:spPr>
        <p:txBody>
          <a:bodyPr wrap="square" lIns="0" tIns="0" rIns="0" bIns="0" rtlCol="0" anchor="t"/>
          <a:lstStyle/>
          <a:p>
            <a:pPr rtl="1" algn="ctr" indent="0" marL="0">
              <a:buNone/>
            </a:pPr>
            <a:r>
              <a:rPr lang="ar-SA" altLang="en-US" sz="1700" b="1" dirty="0">
                <a:solidFill>
                  <a:srgbClr val="3A4146"/>
                </a:solidFill>
              </a:rPr>
              <a:t>الفراغ</a:t>
            </a:r>
            <a:endParaRPr lang="ar-SA" sz="1700" dirty="0"/>
          </a:p>
        </p:txBody>
      </p:sp>
      <p:sp>
        <p:nvSpPr>
          <p:cNvPr id="24" name="Text 19"/>
          <p:cNvSpPr txBox="1"/>
          <p:nvPr/>
        </p:nvSpPr>
        <p:spPr>
          <a:xfrm>
            <a:off x="3630854" y="4572000"/>
            <a:ext cx="2030654" cy="822960"/>
          </a:xfrm>
          <a:prstGeom prst="rect">
            <a:avLst/>
          </a:prstGeom>
          <a:noFill/>
          <a:ln/>
        </p:spPr>
        <p:txBody>
          <a:bodyPr wrap="square" lIns="0" tIns="0" rIns="0" bIns="0" rtlCol="0" anchor="t"/>
          <a:lstStyle/>
          <a:p>
            <a:pPr rtl="1" algn="ctr" indent="0" marL="0">
              <a:buNone/>
            </a:pPr>
            <a:r>
              <a:rPr lang="ar-SA" altLang="en-US" sz="1400" dirty="0">
                <a:solidFill>
                  <a:srgbClr val="3A4146"/>
                </a:solidFill>
              </a:rPr>
              <a:t>كيف يتم تنظيم المساحة؟</a:t>
            </a:r>
            <a:endParaRPr lang="ar-SA" sz="1400" dirty="0"/>
          </a:p>
        </p:txBody>
      </p:sp>
      <p:sp>
        <p:nvSpPr>
          <p:cNvPr id="25" name="Text 20"/>
          <p:cNvSpPr txBox="1"/>
          <p:nvPr/>
        </p:nvSpPr>
        <p:spPr>
          <a:xfrm>
            <a:off x="2945054" y="3566160"/>
            <a:ext cx="502920" cy="548640"/>
          </a:xfrm>
          <a:prstGeom prst="rect">
            <a:avLst/>
          </a:prstGeom>
          <a:noFill/>
          <a:ln/>
        </p:spPr>
        <p:txBody>
          <a:bodyPr wrap="square" lIns="0" tIns="0" rIns="0" bIns="0" rtlCol="0" anchor="t"/>
          <a:lstStyle/>
          <a:p>
            <a:pPr algn="ctr" indent="0" marL="0">
              <a:buNone/>
            </a:pPr>
            <a:r>
              <a:rPr lang="en-US" sz="3000" b="1" dirty="0">
                <a:solidFill>
                  <a:srgbClr val="8A9A9B"/>
                </a:solidFill>
              </a:rPr>
              <a:t>+</a:t>
            </a:r>
            <a:endParaRPr lang="en-US" sz="3000" dirty="0"/>
          </a:p>
        </p:txBody>
      </p:sp>
      <p:sp>
        <p:nvSpPr>
          <p:cNvPr id="26" name="pillar Experience"/>
          <p:cNvSpPr/>
          <p:nvPr/>
        </p:nvSpPr>
        <p:spPr>
          <a:xfrm>
            <a:off x="548640" y="2286000"/>
            <a:ext cx="2396414" cy="3291840"/>
          </a:xfrm>
          <a:prstGeom prst="roundRect">
            <a:avLst>
              <a:gd name="adj" fmla="val 3053"/>
            </a:avLst>
          </a:prstGeom>
          <a:solidFill>
            <a:schemeClr val="bg2"/>
          </a:solidFill>
          <a:ln/>
          <a:effectLst>
            <a:outerShdw sx="100000" sy="100000" kx="0" ky="0" algn="bl" rotWithShape="0" blurRad="101600" dist="25400" dir="5400000">
              <a:srgbClr val="000000">
                <a:alpha val="12000"/>
              </a:srgbClr>
            </a:outerShdw>
          </a:effectLst>
        </p:spPr>
      </p:sp>
      <p:sp>
        <p:nvSpPr>
          <p:cNvPr id="27" name="pillar Experience circle"/>
          <p:cNvSpPr/>
          <p:nvPr/>
        </p:nvSpPr>
        <p:spPr>
          <a:xfrm>
            <a:off x="1289647" y="2606040"/>
            <a:ext cx="914400" cy="914400"/>
          </a:xfrm>
          <a:prstGeom prst="ellipse">
            <a:avLst/>
          </a:prstGeom>
          <a:solidFill>
            <a:srgbClr val="D9A441"/>
          </a:solidFill>
          <a:ln/>
        </p:spPr>
      </p:sp>
      <p:pic>
        <p:nvPicPr>
          <p:cNvPr id="28" name="pillar Experience icon" descr="pillar Experience">    </p:cNvPr>
          <p:cNvPicPr>
            <a:picLocks noChangeAspect="1"/>
          </p:cNvPicPr>
          <p:nvPr/>
        </p:nvPicPr>
        <p:blipFill>
          <a:blip r:embed="rId4"/>
          <a:stretch>
            <a:fillRect/>
          </a:stretch>
        </p:blipFill>
        <p:spPr>
          <a:xfrm>
            <a:off x="1518247" y="2834640"/>
            <a:ext cx="457200" cy="457200"/>
          </a:xfrm>
          <a:prstGeom prst="rect">
            <a:avLst/>
          </a:prstGeom>
        </p:spPr>
      </p:pic>
      <p:sp>
        <p:nvSpPr>
          <p:cNvPr id="29" name="Text 23"/>
          <p:cNvSpPr txBox="1"/>
          <p:nvPr/>
        </p:nvSpPr>
        <p:spPr>
          <a:xfrm>
            <a:off x="548640" y="3657600"/>
            <a:ext cx="2396414" cy="457200"/>
          </a:xfrm>
          <a:prstGeom prst="rect">
            <a:avLst/>
          </a:prstGeom>
          <a:noFill/>
          <a:ln/>
        </p:spPr>
        <p:txBody>
          <a:bodyPr wrap="square" lIns="0" tIns="0" rIns="0" bIns="0" rtlCol="0" anchor="t"/>
          <a:lstStyle/>
          <a:p>
            <a:pPr algn="ctr" indent="0" marL="0">
              <a:buNone/>
            </a:pPr>
            <a:r>
              <a:rPr lang="en-US" sz="2200" b="1" dirty="0">
                <a:solidFill>
                  <a:srgbClr val="1F2224"/>
                </a:solidFill>
              </a:rPr>
              <a:t>Experience</a:t>
            </a:r>
            <a:endParaRPr lang="en-US" sz="2200" dirty="0"/>
          </a:p>
        </p:txBody>
      </p:sp>
      <p:sp>
        <p:nvSpPr>
          <p:cNvPr id="30" name="Text 24"/>
          <p:cNvSpPr txBox="1"/>
          <p:nvPr/>
        </p:nvSpPr>
        <p:spPr>
          <a:xfrm>
            <a:off x="548640" y="4114800"/>
            <a:ext cx="2396414" cy="365760"/>
          </a:xfrm>
          <a:prstGeom prst="rect">
            <a:avLst/>
          </a:prstGeom>
          <a:noFill/>
          <a:ln/>
        </p:spPr>
        <p:txBody>
          <a:bodyPr wrap="square" lIns="0" tIns="0" rIns="0" bIns="0" rtlCol="0" anchor="t"/>
          <a:lstStyle/>
          <a:p>
            <a:pPr rtl="1" algn="ctr" indent="0" marL="0">
              <a:buNone/>
            </a:pPr>
            <a:r>
              <a:rPr lang="ar-SA" altLang="en-US" sz="1700" b="1" dirty="0">
                <a:solidFill>
                  <a:srgbClr val="D9A441"/>
                </a:solidFill>
              </a:rPr>
              <a:t>التجربة</a:t>
            </a:r>
            <a:endParaRPr lang="ar-SA" sz="1700" dirty="0"/>
          </a:p>
        </p:txBody>
      </p:sp>
      <p:sp>
        <p:nvSpPr>
          <p:cNvPr id="31" name="Text 25"/>
          <p:cNvSpPr txBox="1"/>
          <p:nvPr/>
        </p:nvSpPr>
        <p:spPr>
          <a:xfrm>
            <a:off x="731520" y="4572000"/>
            <a:ext cx="2030654" cy="822960"/>
          </a:xfrm>
          <a:prstGeom prst="rect">
            <a:avLst/>
          </a:prstGeom>
          <a:noFill/>
          <a:ln/>
        </p:spPr>
        <p:txBody>
          <a:bodyPr wrap="square" lIns="0" tIns="0" rIns="0" bIns="0" rtlCol="0" anchor="t"/>
          <a:lstStyle/>
          <a:p>
            <a:pPr rtl="1" algn="ctr" indent="0" marL="0">
              <a:buNone/>
            </a:pPr>
            <a:r>
              <a:rPr lang="ar-SA" altLang="en-US" sz="1400" dirty="0">
                <a:solidFill>
                  <a:srgbClr val="3A4146"/>
                </a:solidFill>
              </a:rPr>
              <a:t>كيف يشعر الإنسان ويتصرف داخل المكان؟</a:t>
            </a:r>
            <a:endParaRPr lang="ar-SA" sz="1400" dirty="0"/>
          </a:p>
        </p:txBody>
      </p:sp>
      <p:sp>
        <p:nvSpPr>
          <p:cNvPr id="32" name="Text 26"/>
          <p:cNvSpPr txBox="1"/>
          <p:nvPr/>
        </p:nvSpPr>
        <p:spPr>
          <a:xfrm>
            <a:off x="548640" y="5760720"/>
            <a:ext cx="11094415" cy="411480"/>
          </a:xfrm>
          <a:prstGeom prst="rect">
            <a:avLst/>
          </a:prstGeom>
          <a:noFill/>
          <a:ln/>
        </p:spPr>
        <p:txBody>
          <a:bodyPr wrap="square" lIns="0" tIns="0" rIns="0" bIns="0" rtlCol="0" anchor="t"/>
          <a:lstStyle/>
          <a:p>
            <a:pPr algn="ctr" indent="0" marL="0">
              <a:buNone/>
            </a:pPr>
            <a:r>
              <a:rPr lang="en-US" sz="1800" b="1" dirty="0">
                <a:solidFill>
                  <a:srgbClr val="2F6B6A"/>
                </a:solidFill>
              </a:rPr>
              <a:t>Human  +  Function  +  Space  +  Experience</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03 — INTERIOR DESIGN IS NOT DECORATION</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التصميم الداخلي ليس ديكورًا</a:t>
            </a:r>
            <a:endParaRPr lang="ar-SA" sz="3200" dirty="0"/>
          </a:p>
        </p:txBody>
      </p:sp>
      <p:sp>
        <p:nvSpPr>
          <p:cNvPr id="4" name="decoration column"/>
          <p:cNvSpPr/>
          <p:nvPr/>
        </p:nvSpPr>
        <p:spPr>
          <a:xfrm>
            <a:off x="7071055" y="1554480"/>
            <a:ext cx="4572000" cy="3429000"/>
          </a:xfrm>
          <a:prstGeom prst="roundRect">
            <a:avLst>
              <a:gd name="adj" fmla="val 2133"/>
            </a:avLst>
          </a:prstGeom>
          <a:solidFill>
            <a:schemeClr val="bg2"/>
          </a:solidFill>
          <a:ln/>
          <a:effectLst>
            <a:outerShdw sx="100000" sy="100000" kx="0" ky="0" algn="bl" rotWithShape="0" blurRad="101600" dist="25400" dir="5400000">
              <a:srgbClr val="000000">
                <a:alpha val="12000"/>
              </a:srgbClr>
            </a:outerShdw>
          </a:effectLst>
        </p:spPr>
      </p:sp>
      <p:sp>
        <p:nvSpPr>
          <p:cNvPr id="5" name="Text 3"/>
          <p:cNvSpPr txBox="1"/>
          <p:nvPr/>
        </p:nvSpPr>
        <p:spPr>
          <a:xfrm>
            <a:off x="7391095" y="1737360"/>
            <a:ext cx="3931920" cy="411480"/>
          </a:xfrm>
          <a:prstGeom prst="rect">
            <a:avLst/>
          </a:prstGeom>
          <a:noFill/>
          <a:ln/>
        </p:spPr>
        <p:txBody>
          <a:bodyPr wrap="square" lIns="0" tIns="0" rIns="0" bIns="0" rtlCol="0" anchor="t"/>
          <a:lstStyle/>
          <a:p>
            <a:pPr algn="r" indent="0" marL="0">
              <a:buNone/>
            </a:pPr>
            <a:r>
              <a:rPr lang="en-US" sz="2000" b="1" dirty="0">
                <a:solidFill>
                  <a:srgbClr val="5B6770"/>
                </a:solidFill>
              </a:rPr>
              <a:t>Interior Decoration</a:t>
            </a:r>
            <a:endParaRPr lang="en-US" sz="2000" dirty="0"/>
          </a:p>
        </p:txBody>
      </p:sp>
      <p:sp>
        <p:nvSpPr>
          <p:cNvPr id="6" name="Text 4"/>
          <p:cNvSpPr txBox="1"/>
          <p:nvPr/>
        </p:nvSpPr>
        <p:spPr>
          <a:xfrm>
            <a:off x="7391095" y="2148840"/>
            <a:ext cx="3931920" cy="320040"/>
          </a:xfrm>
          <a:prstGeom prst="rect">
            <a:avLst/>
          </a:prstGeom>
          <a:noFill/>
          <a:ln/>
        </p:spPr>
        <p:txBody>
          <a:bodyPr wrap="square" lIns="0" tIns="0" rIns="0" bIns="0" rtlCol="0" anchor="t"/>
          <a:lstStyle/>
          <a:p>
            <a:pPr rtl="1" algn="r" indent="0" marL="0">
              <a:buNone/>
            </a:pPr>
            <a:r>
              <a:rPr lang="ar-SA" altLang="en-US" sz="1400" dirty="0">
                <a:solidFill>
                  <a:srgbClr val="3A4146"/>
                </a:solidFill>
              </a:rPr>
              <a:t>يركّز بصورة أكبر على المظهر:</a:t>
            </a:r>
            <a:endParaRPr lang="ar-SA" sz="1400" dirty="0"/>
          </a:p>
        </p:txBody>
      </p:sp>
      <p:sp>
        <p:nvSpPr>
          <p:cNvPr id="7" name="decoration item 1"/>
          <p:cNvSpPr/>
          <p:nvPr/>
        </p:nvSpPr>
        <p:spPr>
          <a:xfrm>
            <a:off x="9402775" y="2697480"/>
            <a:ext cx="1920240" cy="502920"/>
          </a:xfrm>
          <a:prstGeom prst="roundRect">
            <a:avLst>
              <a:gd name="adj" fmla="val 10909"/>
            </a:avLst>
          </a:prstGeom>
          <a:solidFill>
            <a:schemeClr val="bg1"/>
          </a:solidFill>
          <a:ln w="9525">
            <a:solidFill>
              <a:srgbClr val="B9C4C4"/>
            </a:solidFill>
            <a:prstDash val="solid"/>
          </a:ln>
        </p:spPr>
      </p:sp>
      <p:sp>
        <p:nvSpPr>
          <p:cNvPr id="8" name="Text 6"/>
          <p:cNvSpPr txBox="1"/>
          <p:nvPr/>
        </p:nvSpPr>
        <p:spPr>
          <a:xfrm>
            <a:off x="9402775" y="2697480"/>
            <a:ext cx="1920240" cy="502920"/>
          </a:xfrm>
          <a:prstGeom prst="rect">
            <a:avLst/>
          </a:prstGeom>
          <a:noFill/>
          <a:ln/>
        </p:spPr>
        <p:txBody>
          <a:bodyPr wrap="square" lIns="0" tIns="0" rIns="0" bIns="0" rtlCol="0" anchor="ctr"/>
          <a:lstStyle/>
          <a:p>
            <a:pPr rtl="1" algn="ctr" indent="0" marL="0">
              <a:buNone/>
            </a:pPr>
            <a:r>
              <a:rPr lang="ar-SA" altLang="en-US" sz="1500" dirty="0">
                <a:solidFill>
                  <a:srgbClr val="3A4146"/>
                </a:solidFill>
              </a:rPr>
              <a:t>الألوان</a:t>
            </a:r>
            <a:endParaRPr lang="ar-SA" sz="1500" dirty="0"/>
          </a:p>
        </p:txBody>
      </p:sp>
      <p:sp>
        <p:nvSpPr>
          <p:cNvPr id="9" name="decoration item 2"/>
          <p:cNvSpPr/>
          <p:nvPr/>
        </p:nvSpPr>
        <p:spPr>
          <a:xfrm>
            <a:off x="7391095" y="2697480"/>
            <a:ext cx="1920240" cy="502920"/>
          </a:xfrm>
          <a:prstGeom prst="roundRect">
            <a:avLst>
              <a:gd name="adj" fmla="val 10909"/>
            </a:avLst>
          </a:prstGeom>
          <a:solidFill>
            <a:schemeClr val="bg1"/>
          </a:solidFill>
          <a:ln w="9525">
            <a:solidFill>
              <a:srgbClr val="B9C4C4"/>
            </a:solidFill>
            <a:prstDash val="solid"/>
          </a:ln>
        </p:spPr>
      </p:sp>
      <p:sp>
        <p:nvSpPr>
          <p:cNvPr id="10" name="Text 8"/>
          <p:cNvSpPr txBox="1"/>
          <p:nvPr/>
        </p:nvSpPr>
        <p:spPr>
          <a:xfrm>
            <a:off x="7391095" y="2697480"/>
            <a:ext cx="1920240" cy="502920"/>
          </a:xfrm>
          <a:prstGeom prst="rect">
            <a:avLst/>
          </a:prstGeom>
          <a:noFill/>
          <a:ln/>
        </p:spPr>
        <p:txBody>
          <a:bodyPr wrap="square" lIns="0" tIns="0" rIns="0" bIns="0" rtlCol="0" anchor="ctr"/>
          <a:lstStyle/>
          <a:p>
            <a:pPr rtl="1" algn="ctr" indent="0" marL="0">
              <a:buNone/>
            </a:pPr>
            <a:r>
              <a:rPr lang="ar-SA" altLang="en-US" sz="1500" dirty="0">
                <a:solidFill>
                  <a:srgbClr val="3A4146"/>
                </a:solidFill>
              </a:rPr>
              <a:t>الأثاث</a:t>
            </a:r>
            <a:endParaRPr lang="ar-SA" sz="1500" dirty="0"/>
          </a:p>
        </p:txBody>
      </p:sp>
      <p:sp>
        <p:nvSpPr>
          <p:cNvPr id="11" name="decoration item 3"/>
          <p:cNvSpPr/>
          <p:nvPr/>
        </p:nvSpPr>
        <p:spPr>
          <a:xfrm>
            <a:off x="9402775" y="3383280"/>
            <a:ext cx="1920240" cy="502920"/>
          </a:xfrm>
          <a:prstGeom prst="roundRect">
            <a:avLst>
              <a:gd name="adj" fmla="val 10909"/>
            </a:avLst>
          </a:prstGeom>
          <a:solidFill>
            <a:schemeClr val="bg1"/>
          </a:solidFill>
          <a:ln w="9525">
            <a:solidFill>
              <a:srgbClr val="B9C4C4"/>
            </a:solidFill>
            <a:prstDash val="solid"/>
          </a:ln>
        </p:spPr>
      </p:sp>
      <p:sp>
        <p:nvSpPr>
          <p:cNvPr id="12" name="Text 10"/>
          <p:cNvSpPr txBox="1"/>
          <p:nvPr/>
        </p:nvSpPr>
        <p:spPr>
          <a:xfrm>
            <a:off x="9402775" y="3383280"/>
            <a:ext cx="1920240" cy="502920"/>
          </a:xfrm>
          <a:prstGeom prst="rect">
            <a:avLst/>
          </a:prstGeom>
          <a:noFill/>
          <a:ln/>
        </p:spPr>
        <p:txBody>
          <a:bodyPr wrap="square" lIns="0" tIns="0" rIns="0" bIns="0" rtlCol="0" anchor="ctr"/>
          <a:lstStyle/>
          <a:p>
            <a:pPr rtl="1" algn="ctr" indent="0" marL="0">
              <a:buNone/>
            </a:pPr>
            <a:r>
              <a:rPr lang="ar-SA" altLang="en-US" sz="1500" dirty="0">
                <a:solidFill>
                  <a:srgbClr val="3A4146"/>
                </a:solidFill>
              </a:rPr>
              <a:t>الستائر</a:t>
            </a:r>
            <a:endParaRPr lang="ar-SA" sz="1500" dirty="0"/>
          </a:p>
        </p:txBody>
      </p:sp>
      <p:sp>
        <p:nvSpPr>
          <p:cNvPr id="13" name="decoration item 4"/>
          <p:cNvSpPr/>
          <p:nvPr/>
        </p:nvSpPr>
        <p:spPr>
          <a:xfrm>
            <a:off x="7391095" y="3383280"/>
            <a:ext cx="1920240" cy="502920"/>
          </a:xfrm>
          <a:prstGeom prst="roundRect">
            <a:avLst>
              <a:gd name="adj" fmla="val 10909"/>
            </a:avLst>
          </a:prstGeom>
          <a:solidFill>
            <a:schemeClr val="bg1"/>
          </a:solidFill>
          <a:ln w="9525">
            <a:solidFill>
              <a:srgbClr val="B9C4C4"/>
            </a:solidFill>
            <a:prstDash val="solid"/>
          </a:ln>
        </p:spPr>
      </p:sp>
      <p:sp>
        <p:nvSpPr>
          <p:cNvPr id="14" name="Text 12"/>
          <p:cNvSpPr txBox="1"/>
          <p:nvPr/>
        </p:nvSpPr>
        <p:spPr>
          <a:xfrm>
            <a:off x="7391095" y="3383280"/>
            <a:ext cx="1920240" cy="502920"/>
          </a:xfrm>
          <a:prstGeom prst="rect">
            <a:avLst/>
          </a:prstGeom>
          <a:noFill/>
          <a:ln/>
        </p:spPr>
        <p:txBody>
          <a:bodyPr wrap="square" lIns="0" tIns="0" rIns="0" bIns="0" rtlCol="0" anchor="ctr"/>
          <a:lstStyle/>
          <a:p>
            <a:pPr rtl="1" algn="ctr" indent="0" marL="0">
              <a:buNone/>
            </a:pPr>
            <a:r>
              <a:rPr lang="ar-SA" altLang="en-US" sz="1500" dirty="0">
                <a:solidFill>
                  <a:srgbClr val="3A4146"/>
                </a:solidFill>
              </a:rPr>
              <a:t>الإكسسوارات</a:t>
            </a:r>
            <a:endParaRPr lang="ar-SA" sz="1500" dirty="0"/>
          </a:p>
        </p:txBody>
      </p:sp>
      <p:sp>
        <p:nvSpPr>
          <p:cNvPr id="15" name="decoration item 5"/>
          <p:cNvSpPr/>
          <p:nvPr/>
        </p:nvSpPr>
        <p:spPr>
          <a:xfrm>
            <a:off x="9402775" y="4069080"/>
            <a:ext cx="1920240" cy="502920"/>
          </a:xfrm>
          <a:prstGeom prst="roundRect">
            <a:avLst>
              <a:gd name="adj" fmla="val 10909"/>
            </a:avLst>
          </a:prstGeom>
          <a:solidFill>
            <a:schemeClr val="bg1"/>
          </a:solidFill>
          <a:ln w="9525">
            <a:solidFill>
              <a:srgbClr val="B9C4C4"/>
            </a:solidFill>
            <a:prstDash val="solid"/>
          </a:ln>
        </p:spPr>
      </p:sp>
      <p:sp>
        <p:nvSpPr>
          <p:cNvPr id="16" name="Text 14"/>
          <p:cNvSpPr txBox="1"/>
          <p:nvPr/>
        </p:nvSpPr>
        <p:spPr>
          <a:xfrm>
            <a:off x="9402775" y="4069080"/>
            <a:ext cx="1920240" cy="502920"/>
          </a:xfrm>
          <a:prstGeom prst="rect">
            <a:avLst/>
          </a:prstGeom>
          <a:noFill/>
          <a:ln/>
        </p:spPr>
        <p:txBody>
          <a:bodyPr wrap="square" lIns="0" tIns="0" rIns="0" bIns="0" rtlCol="0" anchor="ctr"/>
          <a:lstStyle/>
          <a:p>
            <a:pPr rtl="1" algn="ctr" indent="0" marL="0">
              <a:buNone/>
            </a:pPr>
            <a:r>
              <a:rPr lang="ar-SA" altLang="en-US" sz="1500" dirty="0">
                <a:solidFill>
                  <a:srgbClr val="3A4146"/>
                </a:solidFill>
              </a:rPr>
              <a:t>التشطيبات</a:t>
            </a:r>
            <a:endParaRPr lang="ar-SA" sz="1500" dirty="0"/>
          </a:p>
        </p:txBody>
      </p:sp>
      <p:sp>
        <p:nvSpPr>
          <p:cNvPr id="17" name="decoration item 6"/>
          <p:cNvSpPr/>
          <p:nvPr/>
        </p:nvSpPr>
        <p:spPr>
          <a:xfrm>
            <a:off x="7391095" y="4069080"/>
            <a:ext cx="1920240" cy="502920"/>
          </a:xfrm>
          <a:prstGeom prst="roundRect">
            <a:avLst>
              <a:gd name="adj" fmla="val 10909"/>
            </a:avLst>
          </a:prstGeom>
          <a:solidFill>
            <a:schemeClr val="bg1"/>
          </a:solidFill>
          <a:ln w="9525">
            <a:solidFill>
              <a:srgbClr val="B9C4C4"/>
            </a:solidFill>
            <a:prstDash val="solid"/>
          </a:ln>
        </p:spPr>
      </p:sp>
      <p:sp>
        <p:nvSpPr>
          <p:cNvPr id="18" name="Text 16"/>
          <p:cNvSpPr txBox="1"/>
          <p:nvPr/>
        </p:nvSpPr>
        <p:spPr>
          <a:xfrm>
            <a:off x="7391095" y="4069080"/>
            <a:ext cx="1920240" cy="502920"/>
          </a:xfrm>
          <a:prstGeom prst="rect">
            <a:avLst/>
          </a:prstGeom>
          <a:noFill/>
          <a:ln/>
        </p:spPr>
        <p:txBody>
          <a:bodyPr wrap="square" lIns="0" tIns="0" rIns="0" bIns="0" rtlCol="0" anchor="ctr"/>
          <a:lstStyle/>
          <a:p>
            <a:pPr rtl="1" algn="ctr" indent="0" marL="0">
              <a:buNone/>
            </a:pPr>
            <a:r>
              <a:rPr lang="ar-SA" altLang="en-US" sz="1500" dirty="0">
                <a:solidFill>
                  <a:srgbClr val="3A4146"/>
                </a:solidFill>
              </a:rPr>
              <a:t>المظهر</a:t>
            </a:r>
            <a:endParaRPr lang="ar-SA" sz="1500" dirty="0"/>
          </a:p>
        </p:txBody>
      </p:sp>
      <p:sp>
        <p:nvSpPr>
          <p:cNvPr id="19" name="design column"/>
          <p:cNvSpPr/>
          <p:nvPr/>
        </p:nvSpPr>
        <p:spPr>
          <a:xfrm>
            <a:off x="548640" y="1554480"/>
            <a:ext cx="6156655" cy="3429000"/>
          </a:xfrm>
          <a:prstGeom prst="roundRect">
            <a:avLst>
              <a:gd name="adj" fmla="val 2133"/>
            </a:avLst>
          </a:prstGeom>
          <a:solidFill>
            <a:schemeClr val="tx1"/>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868680" y="1737360"/>
            <a:ext cx="5516575" cy="411480"/>
          </a:xfrm>
          <a:prstGeom prst="rect">
            <a:avLst/>
          </a:prstGeom>
          <a:noFill/>
          <a:ln/>
        </p:spPr>
        <p:txBody>
          <a:bodyPr wrap="square" lIns="0" tIns="0" rIns="0" bIns="0" rtlCol="0" anchor="t"/>
          <a:lstStyle/>
          <a:p>
            <a:pPr algn="r" indent="0" marL="0">
              <a:buNone/>
            </a:pPr>
            <a:r>
              <a:rPr lang="en-US" sz="2000" b="1" dirty="0">
                <a:solidFill>
                  <a:srgbClr val="FFFFFF"/>
                </a:solidFill>
              </a:rPr>
              <a:t>Interior Design</a:t>
            </a:r>
            <a:endParaRPr lang="en-US" sz="2000" dirty="0"/>
          </a:p>
        </p:txBody>
      </p:sp>
      <p:sp>
        <p:nvSpPr>
          <p:cNvPr id="21" name="Text 19"/>
          <p:cNvSpPr txBox="1"/>
          <p:nvPr/>
        </p:nvSpPr>
        <p:spPr>
          <a:xfrm>
            <a:off x="868680" y="2148840"/>
            <a:ext cx="5516575" cy="320040"/>
          </a:xfrm>
          <a:prstGeom prst="rect">
            <a:avLst/>
          </a:prstGeom>
          <a:noFill/>
          <a:ln/>
        </p:spPr>
        <p:txBody>
          <a:bodyPr wrap="square" lIns="0" tIns="0" rIns="0" bIns="0" rtlCol="0" anchor="t"/>
          <a:lstStyle/>
          <a:p>
            <a:pPr rtl="1" algn="r" indent="0" marL="0">
              <a:buNone/>
            </a:pPr>
            <a:r>
              <a:rPr lang="ar-SA" altLang="en-US" sz="1400" dirty="0">
                <a:solidFill>
                  <a:srgbClr val="B9C4C4"/>
                </a:solidFill>
              </a:rPr>
              <a:t>يتعامل مع منظومة أكبر:</a:t>
            </a:r>
            <a:endParaRPr lang="ar-SA" sz="1400" dirty="0"/>
          </a:p>
        </p:txBody>
      </p:sp>
      <p:sp>
        <p:nvSpPr>
          <p:cNvPr id="22" name="design item 1"/>
          <p:cNvSpPr/>
          <p:nvPr/>
        </p:nvSpPr>
        <p:spPr>
          <a:xfrm>
            <a:off x="3718408" y="2606040"/>
            <a:ext cx="2666848" cy="365760"/>
          </a:xfrm>
          <a:prstGeom prst="roundRect">
            <a:avLst>
              <a:gd name="adj" fmla="val 15000"/>
            </a:avLst>
          </a:prstGeom>
          <a:solidFill>
            <a:srgbClr val="C2593A"/>
          </a:solidFill>
          <a:ln/>
        </p:spPr>
      </p:sp>
      <p:sp>
        <p:nvSpPr>
          <p:cNvPr id="23" name="Text 21"/>
          <p:cNvSpPr txBox="1"/>
          <p:nvPr/>
        </p:nvSpPr>
        <p:spPr>
          <a:xfrm>
            <a:off x="3718408" y="2606040"/>
            <a:ext cx="2666848" cy="365760"/>
          </a:xfrm>
          <a:prstGeom prst="rect">
            <a:avLst/>
          </a:prstGeom>
          <a:noFill/>
          <a:ln/>
        </p:spPr>
        <p:txBody>
          <a:bodyPr wrap="square" lIns="0" tIns="0" rIns="0" bIns="0" rtlCol="0" anchor="ctr"/>
          <a:lstStyle/>
          <a:p>
            <a:pPr algn="ctr" indent="0" marL="0">
              <a:buNone/>
            </a:pPr>
            <a:r>
              <a:rPr lang="en-US" sz="1300" b="1" dirty="0">
                <a:solidFill>
                  <a:srgbClr val="FFFFFF"/>
                </a:solidFill>
              </a:rPr>
              <a:t>Space Planning</a:t>
            </a:r>
            <a:endParaRPr lang="en-US" sz="1300" dirty="0"/>
          </a:p>
        </p:txBody>
      </p:sp>
      <p:sp>
        <p:nvSpPr>
          <p:cNvPr id="24" name="design item 2"/>
          <p:cNvSpPr/>
          <p:nvPr/>
        </p:nvSpPr>
        <p:spPr>
          <a:xfrm>
            <a:off x="868680" y="2606040"/>
            <a:ext cx="2666848" cy="365760"/>
          </a:xfrm>
          <a:prstGeom prst="roundRect">
            <a:avLst>
              <a:gd name="adj" fmla="val 15000"/>
            </a:avLst>
          </a:prstGeom>
          <a:solidFill>
            <a:srgbClr val="C2593A"/>
          </a:solidFill>
          <a:ln/>
        </p:spPr>
      </p:sp>
      <p:sp>
        <p:nvSpPr>
          <p:cNvPr id="25" name="Text 23"/>
          <p:cNvSpPr txBox="1"/>
          <p:nvPr/>
        </p:nvSpPr>
        <p:spPr>
          <a:xfrm>
            <a:off x="868680" y="2606040"/>
            <a:ext cx="2666848" cy="365760"/>
          </a:xfrm>
          <a:prstGeom prst="rect">
            <a:avLst/>
          </a:prstGeom>
          <a:noFill/>
          <a:ln/>
        </p:spPr>
        <p:txBody>
          <a:bodyPr wrap="square" lIns="0" tIns="0" rIns="0" bIns="0" rtlCol="0" anchor="ctr"/>
          <a:lstStyle/>
          <a:p>
            <a:pPr algn="ctr" indent="0" marL="0">
              <a:buNone/>
            </a:pPr>
            <a:r>
              <a:rPr lang="en-US" sz="1300" b="1" dirty="0">
                <a:solidFill>
                  <a:srgbClr val="FFFFFF"/>
                </a:solidFill>
              </a:rPr>
              <a:t>Function</a:t>
            </a:r>
            <a:endParaRPr lang="en-US" sz="1300" dirty="0"/>
          </a:p>
        </p:txBody>
      </p:sp>
      <p:sp>
        <p:nvSpPr>
          <p:cNvPr id="26" name="design item 3"/>
          <p:cNvSpPr/>
          <p:nvPr/>
        </p:nvSpPr>
        <p:spPr>
          <a:xfrm>
            <a:off x="3718408" y="3063240"/>
            <a:ext cx="2666848" cy="365760"/>
          </a:xfrm>
          <a:prstGeom prst="roundRect">
            <a:avLst>
              <a:gd name="adj" fmla="val 15000"/>
            </a:avLst>
          </a:prstGeom>
          <a:solidFill>
            <a:srgbClr val="C2593A"/>
          </a:solidFill>
          <a:ln/>
        </p:spPr>
      </p:sp>
      <p:sp>
        <p:nvSpPr>
          <p:cNvPr id="27" name="Text 25"/>
          <p:cNvSpPr txBox="1"/>
          <p:nvPr/>
        </p:nvSpPr>
        <p:spPr>
          <a:xfrm>
            <a:off x="3718408" y="3063240"/>
            <a:ext cx="2666848" cy="365760"/>
          </a:xfrm>
          <a:prstGeom prst="rect">
            <a:avLst/>
          </a:prstGeom>
          <a:noFill/>
          <a:ln/>
        </p:spPr>
        <p:txBody>
          <a:bodyPr wrap="square" lIns="0" tIns="0" rIns="0" bIns="0" rtlCol="0" anchor="ctr"/>
          <a:lstStyle/>
          <a:p>
            <a:pPr algn="ctr" indent="0" marL="0">
              <a:buNone/>
            </a:pPr>
            <a:r>
              <a:rPr lang="en-US" sz="1300" b="1" dirty="0">
                <a:solidFill>
                  <a:srgbClr val="FFFFFF"/>
                </a:solidFill>
              </a:rPr>
              <a:t>Circulation</a:t>
            </a:r>
            <a:endParaRPr lang="en-US" sz="1300" dirty="0"/>
          </a:p>
        </p:txBody>
      </p:sp>
      <p:sp>
        <p:nvSpPr>
          <p:cNvPr id="28" name="design item 4"/>
          <p:cNvSpPr/>
          <p:nvPr/>
        </p:nvSpPr>
        <p:spPr>
          <a:xfrm>
            <a:off x="868680" y="3063240"/>
            <a:ext cx="2666848" cy="365760"/>
          </a:xfrm>
          <a:prstGeom prst="roundRect">
            <a:avLst>
              <a:gd name="adj" fmla="val 15000"/>
            </a:avLst>
          </a:prstGeom>
          <a:solidFill>
            <a:srgbClr val="C2593A"/>
          </a:solidFill>
          <a:ln/>
        </p:spPr>
      </p:sp>
      <p:sp>
        <p:nvSpPr>
          <p:cNvPr id="29" name="Text 27"/>
          <p:cNvSpPr txBox="1"/>
          <p:nvPr/>
        </p:nvSpPr>
        <p:spPr>
          <a:xfrm>
            <a:off x="868680" y="3063240"/>
            <a:ext cx="2666848" cy="365760"/>
          </a:xfrm>
          <a:prstGeom prst="rect">
            <a:avLst/>
          </a:prstGeom>
          <a:noFill/>
          <a:ln/>
        </p:spPr>
        <p:txBody>
          <a:bodyPr wrap="square" lIns="0" tIns="0" rIns="0" bIns="0" rtlCol="0" anchor="ctr"/>
          <a:lstStyle/>
          <a:p>
            <a:pPr algn="ctr" indent="0" marL="0">
              <a:buNone/>
            </a:pPr>
            <a:r>
              <a:rPr lang="en-US" sz="1300" b="1" dirty="0">
                <a:solidFill>
                  <a:srgbClr val="FFFFFF"/>
                </a:solidFill>
              </a:rPr>
              <a:t>Human Scale</a:t>
            </a:r>
            <a:endParaRPr lang="en-US" sz="1300" dirty="0"/>
          </a:p>
        </p:txBody>
      </p:sp>
      <p:sp>
        <p:nvSpPr>
          <p:cNvPr id="30" name="design item 5"/>
          <p:cNvSpPr/>
          <p:nvPr/>
        </p:nvSpPr>
        <p:spPr>
          <a:xfrm>
            <a:off x="3718408" y="3520440"/>
            <a:ext cx="2666848" cy="365760"/>
          </a:xfrm>
          <a:prstGeom prst="roundRect">
            <a:avLst>
              <a:gd name="adj" fmla="val 15000"/>
            </a:avLst>
          </a:prstGeom>
          <a:solidFill>
            <a:srgbClr val="3A4146"/>
          </a:solidFill>
          <a:ln/>
        </p:spPr>
      </p:sp>
      <p:sp>
        <p:nvSpPr>
          <p:cNvPr id="31" name="Text 29"/>
          <p:cNvSpPr txBox="1"/>
          <p:nvPr/>
        </p:nvSpPr>
        <p:spPr>
          <a:xfrm>
            <a:off x="3718408" y="3520440"/>
            <a:ext cx="2666848" cy="365760"/>
          </a:xfrm>
          <a:prstGeom prst="rect">
            <a:avLst/>
          </a:prstGeom>
          <a:noFill/>
          <a:ln/>
        </p:spPr>
        <p:txBody>
          <a:bodyPr wrap="square" lIns="0" tIns="0" rIns="0" bIns="0" rtlCol="0" anchor="ctr"/>
          <a:lstStyle/>
          <a:p>
            <a:pPr algn="ctr" indent="0" marL="0">
              <a:buNone/>
            </a:pPr>
            <a:r>
              <a:rPr lang="en-US" sz="1300" dirty="0">
                <a:solidFill>
                  <a:srgbClr val="FFFFFF"/>
                </a:solidFill>
              </a:rPr>
              <a:t>Furniture</a:t>
            </a:r>
            <a:endParaRPr lang="en-US" sz="1300" dirty="0"/>
          </a:p>
        </p:txBody>
      </p:sp>
      <p:sp>
        <p:nvSpPr>
          <p:cNvPr id="32" name="design item 6"/>
          <p:cNvSpPr/>
          <p:nvPr/>
        </p:nvSpPr>
        <p:spPr>
          <a:xfrm>
            <a:off x="868680" y="3520440"/>
            <a:ext cx="2666848" cy="365760"/>
          </a:xfrm>
          <a:prstGeom prst="roundRect">
            <a:avLst>
              <a:gd name="adj" fmla="val 15000"/>
            </a:avLst>
          </a:prstGeom>
          <a:solidFill>
            <a:srgbClr val="3A4146"/>
          </a:solidFill>
          <a:ln/>
        </p:spPr>
      </p:sp>
      <p:sp>
        <p:nvSpPr>
          <p:cNvPr id="33" name="Text 31"/>
          <p:cNvSpPr txBox="1"/>
          <p:nvPr/>
        </p:nvSpPr>
        <p:spPr>
          <a:xfrm>
            <a:off x="868680" y="3520440"/>
            <a:ext cx="2666848" cy="365760"/>
          </a:xfrm>
          <a:prstGeom prst="rect">
            <a:avLst/>
          </a:prstGeom>
          <a:noFill/>
          <a:ln/>
        </p:spPr>
        <p:txBody>
          <a:bodyPr wrap="square" lIns="0" tIns="0" rIns="0" bIns="0" rtlCol="0" anchor="ctr"/>
          <a:lstStyle/>
          <a:p>
            <a:pPr algn="ctr" indent="0" marL="0">
              <a:buNone/>
            </a:pPr>
            <a:r>
              <a:rPr lang="en-US" sz="1300" dirty="0">
                <a:solidFill>
                  <a:srgbClr val="FFFFFF"/>
                </a:solidFill>
              </a:rPr>
              <a:t>Lighting</a:t>
            </a:r>
            <a:endParaRPr lang="en-US" sz="1300" dirty="0"/>
          </a:p>
        </p:txBody>
      </p:sp>
      <p:sp>
        <p:nvSpPr>
          <p:cNvPr id="34" name="design item 7"/>
          <p:cNvSpPr/>
          <p:nvPr/>
        </p:nvSpPr>
        <p:spPr>
          <a:xfrm>
            <a:off x="3718408" y="3977640"/>
            <a:ext cx="2666848" cy="365760"/>
          </a:xfrm>
          <a:prstGeom prst="roundRect">
            <a:avLst>
              <a:gd name="adj" fmla="val 15000"/>
            </a:avLst>
          </a:prstGeom>
          <a:solidFill>
            <a:srgbClr val="3A4146"/>
          </a:solidFill>
          <a:ln/>
        </p:spPr>
      </p:sp>
      <p:sp>
        <p:nvSpPr>
          <p:cNvPr id="35" name="Text 33"/>
          <p:cNvSpPr txBox="1"/>
          <p:nvPr/>
        </p:nvSpPr>
        <p:spPr>
          <a:xfrm>
            <a:off x="3718408" y="3977640"/>
            <a:ext cx="2666848" cy="365760"/>
          </a:xfrm>
          <a:prstGeom prst="rect">
            <a:avLst/>
          </a:prstGeom>
          <a:noFill/>
          <a:ln/>
        </p:spPr>
        <p:txBody>
          <a:bodyPr wrap="square" lIns="0" tIns="0" rIns="0" bIns="0" rtlCol="0" anchor="ctr"/>
          <a:lstStyle/>
          <a:p>
            <a:pPr algn="ctr" indent="0" marL="0">
              <a:buNone/>
            </a:pPr>
            <a:r>
              <a:rPr lang="en-US" sz="1300" dirty="0">
                <a:solidFill>
                  <a:srgbClr val="FFFFFF"/>
                </a:solidFill>
              </a:rPr>
              <a:t>Materials</a:t>
            </a:r>
            <a:endParaRPr lang="en-US" sz="1300" dirty="0"/>
          </a:p>
        </p:txBody>
      </p:sp>
      <p:sp>
        <p:nvSpPr>
          <p:cNvPr id="36" name="design item 8"/>
          <p:cNvSpPr/>
          <p:nvPr/>
        </p:nvSpPr>
        <p:spPr>
          <a:xfrm>
            <a:off x="868680" y="3977640"/>
            <a:ext cx="2666848" cy="365760"/>
          </a:xfrm>
          <a:prstGeom prst="roundRect">
            <a:avLst>
              <a:gd name="adj" fmla="val 15000"/>
            </a:avLst>
          </a:prstGeom>
          <a:solidFill>
            <a:srgbClr val="3A4146"/>
          </a:solidFill>
          <a:ln/>
        </p:spPr>
      </p:sp>
      <p:sp>
        <p:nvSpPr>
          <p:cNvPr id="37" name="Text 35"/>
          <p:cNvSpPr txBox="1"/>
          <p:nvPr/>
        </p:nvSpPr>
        <p:spPr>
          <a:xfrm>
            <a:off x="868680" y="3977640"/>
            <a:ext cx="2666848" cy="365760"/>
          </a:xfrm>
          <a:prstGeom prst="rect">
            <a:avLst/>
          </a:prstGeom>
          <a:noFill/>
          <a:ln/>
        </p:spPr>
        <p:txBody>
          <a:bodyPr wrap="square" lIns="0" tIns="0" rIns="0" bIns="0" rtlCol="0" anchor="ctr"/>
          <a:lstStyle/>
          <a:p>
            <a:pPr algn="ctr" indent="0" marL="0">
              <a:buNone/>
            </a:pPr>
            <a:r>
              <a:rPr lang="en-US" sz="1300" dirty="0">
                <a:solidFill>
                  <a:srgbClr val="FFFFFF"/>
                </a:solidFill>
              </a:rPr>
              <a:t>Color</a:t>
            </a:r>
            <a:endParaRPr lang="en-US" sz="1300" dirty="0"/>
          </a:p>
        </p:txBody>
      </p:sp>
      <p:sp>
        <p:nvSpPr>
          <p:cNvPr id="38" name="design item 9"/>
          <p:cNvSpPr/>
          <p:nvPr/>
        </p:nvSpPr>
        <p:spPr>
          <a:xfrm>
            <a:off x="3718408" y="4434840"/>
            <a:ext cx="2666848" cy="365760"/>
          </a:xfrm>
          <a:prstGeom prst="roundRect">
            <a:avLst>
              <a:gd name="adj" fmla="val 15000"/>
            </a:avLst>
          </a:prstGeom>
          <a:solidFill>
            <a:srgbClr val="3A4146"/>
          </a:solidFill>
          <a:ln/>
        </p:spPr>
      </p:sp>
      <p:sp>
        <p:nvSpPr>
          <p:cNvPr id="39" name="Text 37"/>
          <p:cNvSpPr txBox="1"/>
          <p:nvPr/>
        </p:nvSpPr>
        <p:spPr>
          <a:xfrm>
            <a:off x="3718408" y="4434840"/>
            <a:ext cx="2666848" cy="365760"/>
          </a:xfrm>
          <a:prstGeom prst="rect">
            <a:avLst/>
          </a:prstGeom>
          <a:noFill/>
          <a:ln/>
        </p:spPr>
        <p:txBody>
          <a:bodyPr wrap="square" lIns="0" tIns="0" rIns="0" bIns="0" rtlCol="0" anchor="ctr"/>
          <a:lstStyle/>
          <a:p>
            <a:pPr algn="ctr" indent="0" marL="0">
              <a:buNone/>
            </a:pPr>
            <a:r>
              <a:rPr lang="en-US" sz="1300" dirty="0">
                <a:solidFill>
                  <a:srgbClr val="FFFFFF"/>
                </a:solidFill>
              </a:rPr>
              <a:t>Form</a:t>
            </a:r>
            <a:endParaRPr lang="en-US" sz="1300" dirty="0"/>
          </a:p>
        </p:txBody>
      </p:sp>
      <p:sp>
        <p:nvSpPr>
          <p:cNvPr id="40" name="design item 10"/>
          <p:cNvSpPr/>
          <p:nvPr/>
        </p:nvSpPr>
        <p:spPr>
          <a:xfrm>
            <a:off x="868680" y="4434840"/>
            <a:ext cx="2666848" cy="365760"/>
          </a:xfrm>
          <a:prstGeom prst="roundRect">
            <a:avLst>
              <a:gd name="adj" fmla="val 15000"/>
            </a:avLst>
          </a:prstGeom>
          <a:solidFill>
            <a:srgbClr val="3A4146"/>
          </a:solidFill>
          <a:ln/>
        </p:spPr>
      </p:sp>
      <p:sp>
        <p:nvSpPr>
          <p:cNvPr id="41" name="Text 39"/>
          <p:cNvSpPr txBox="1"/>
          <p:nvPr/>
        </p:nvSpPr>
        <p:spPr>
          <a:xfrm>
            <a:off x="868680" y="4434840"/>
            <a:ext cx="2666848" cy="365760"/>
          </a:xfrm>
          <a:prstGeom prst="rect">
            <a:avLst/>
          </a:prstGeom>
          <a:noFill/>
          <a:ln/>
        </p:spPr>
        <p:txBody>
          <a:bodyPr wrap="square" lIns="0" tIns="0" rIns="0" bIns="0" rtlCol="0" anchor="ctr"/>
          <a:lstStyle/>
          <a:p>
            <a:pPr algn="ctr" indent="0" marL="0">
              <a:buNone/>
            </a:pPr>
            <a:r>
              <a:rPr lang="en-US" sz="1300" dirty="0">
                <a:solidFill>
                  <a:srgbClr val="FFFFFF"/>
                </a:solidFill>
              </a:rPr>
              <a:t>Spatial Experience</a:t>
            </a:r>
            <a:endParaRPr lang="en-US" sz="1300" dirty="0"/>
          </a:p>
        </p:txBody>
      </p:sp>
      <p:sp>
        <p:nvSpPr>
          <p:cNvPr id="42" name="key sentence panel"/>
          <p:cNvSpPr/>
          <p:nvPr/>
        </p:nvSpPr>
        <p:spPr>
          <a:xfrm>
            <a:off x="548640" y="5166360"/>
            <a:ext cx="11094415" cy="1051560"/>
          </a:xfrm>
          <a:prstGeom prst="rect">
            <a:avLst/>
          </a:prstGeom>
          <a:solidFill>
            <a:schemeClr val="bg2"/>
          </a:solidFill>
          <a:ln/>
        </p:spPr>
      </p:sp>
      <p:sp>
        <p:nvSpPr>
          <p:cNvPr id="43" name="Text 41"/>
          <p:cNvSpPr txBox="1"/>
          <p:nvPr/>
        </p:nvSpPr>
        <p:spPr>
          <a:xfrm>
            <a:off x="822960" y="5230368"/>
            <a:ext cx="10545775" cy="411480"/>
          </a:xfrm>
          <a:prstGeom prst="rect">
            <a:avLst/>
          </a:prstGeom>
          <a:noFill/>
          <a:ln/>
        </p:spPr>
        <p:txBody>
          <a:bodyPr wrap="square" lIns="0" tIns="0" rIns="0" bIns="0" rtlCol="0" anchor="t"/>
          <a:lstStyle/>
          <a:p>
            <a:pPr algn="ctr" indent="0" marL="0">
              <a:buNone/>
            </a:pPr>
            <a:r>
              <a:rPr lang="en-US" sz="1600" i="1" dirty="0">
                <a:solidFill>
                  <a:srgbClr val="5B6770"/>
                </a:solidFill>
              </a:rPr>
              <a:t>Decoration changes the appearance of a space. </a:t>
            </a:r>
            <a:pPr algn="ctr" indent="0" marL="0">
              <a:buNone/>
            </a:pPr>
            <a:r>
              <a:rPr lang="en-US" sz="1600" b="1" i="1" dirty="0">
                <a:solidFill>
                  <a:srgbClr val="C2593A"/>
                </a:solidFill>
              </a:rPr>
              <a:t>Interior Design shapes the space and the experience within it.</a:t>
            </a:r>
            <a:endParaRPr lang="en-US" sz="1600" dirty="0"/>
          </a:p>
        </p:txBody>
      </p:sp>
      <p:sp>
        <p:nvSpPr>
          <p:cNvPr id="44" name="Text 42"/>
          <p:cNvSpPr txBox="1"/>
          <p:nvPr/>
        </p:nvSpPr>
        <p:spPr>
          <a:xfrm>
            <a:off x="822960" y="5669280"/>
            <a:ext cx="10545775" cy="411480"/>
          </a:xfrm>
          <a:prstGeom prst="rect">
            <a:avLst/>
          </a:prstGeom>
          <a:noFill/>
          <a:ln/>
        </p:spPr>
        <p:txBody>
          <a:bodyPr wrap="square" lIns="0" tIns="0" rIns="0" bIns="0" rtlCol="0" anchor="t"/>
          <a:lstStyle/>
          <a:p>
            <a:pPr rtl="1" algn="ctr" indent="0" marL="0">
              <a:buNone/>
            </a:pPr>
            <a:r>
              <a:rPr lang="ar-SA" altLang="en-US" sz="1500" b="1" dirty="0">
                <a:solidFill>
                  <a:srgbClr val="1F2224"/>
                </a:solidFill>
              </a:rPr>
              <a:t>الديكور يهتم بمظهر الفراغ، أما التصميم الداخلي فيهتم بتشكيل الفراغ وطريقة استخدامه وتجربته.</a:t>
            </a:r>
            <a:endParaRPr lang="ar-SA"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04 — ARCHITECTURE &amp; INTERIOR DESIGN</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العمارة والتصميم الداخلي</a:t>
            </a:r>
            <a:endParaRPr lang="ar-SA" sz="3200" dirty="0"/>
          </a:p>
        </p:txBody>
      </p:sp>
      <p:sp>
        <p:nvSpPr>
          <p:cNvPr id="4" name="definition band"/>
          <p:cNvSpPr/>
          <p:nvPr/>
        </p:nvSpPr>
        <p:spPr>
          <a:xfrm>
            <a:off x="548640" y="1508760"/>
            <a:ext cx="11094415" cy="960120"/>
          </a:xfrm>
          <a:prstGeom prst="rect">
            <a:avLst/>
          </a:prstGeom>
          <a:solidFill>
            <a:schemeClr val="bg2"/>
          </a:solidFill>
          <a:ln/>
        </p:spPr>
      </p:sp>
      <p:sp>
        <p:nvSpPr>
          <p:cNvPr id="5" name="Text 3"/>
          <p:cNvSpPr txBox="1"/>
          <p:nvPr/>
        </p:nvSpPr>
        <p:spPr>
          <a:xfrm>
            <a:off x="822960" y="1600200"/>
            <a:ext cx="10545775" cy="457200"/>
          </a:xfrm>
          <a:prstGeom prst="rect">
            <a:avLst/>
          </a:prstGeom>
          <a:noFill/>
          <a:ln/>
        </p:spPr>
        <p:txBody>
          <a:bodyPr wrap="square" lIns="0" tIns="0" rIns="0" bIns="0" rtlCol="0" anchor="t"/>
          <a:lstStyle/>
          <a:p>
            <a:pPr rtl="1" algn="r" indent="0" marL="0">
              <a:buNone/>
            </a:pPr>
            <a:r>
              <a:rPr lang="ar-SA" altLang="en-US" sz="1500" b="1" dirty="0">
                <a:solidFill>
                  <a:srgbClr val="1F2224"/>
                </a:solidFill>
              </a:rPr>
              <a:t>العمارة فنٌّ وعلمٌ للبناء وإنشاء فراغات وظيفية بصورة مقصودة، تجمع بين الكفاءة التقنية والجودة الجمالية.</a:t>
            </a:r>
            <a:endParaRPr lang="ar-SA" sz="1500" dirty="0"/>
          </a:p>
        </p:txBody>
      </p:sp>
      <p:sp>
        <p:nvSpPr>
          <p:cNvPr id="6" name="Text 4"/>
          <p:cNvSpPr txBox="1"/>
          <p:nvPr/>
        </p:nvSpPr>
        <p:spPr>
          <a:xfrm>
            <a:off x="822960" y="2057400"/>
            <a:ext cx="10545775" cy="320040"/>
          </a:xfrm>
          <a:prstGeom prst="rect">
            <a:avLst/>
          </a:prstGeom>
          <a:noFill/>
          <a:ln/>
        </p:spPr>
        <p:txBody>
          <a:bodyPr wrap="square" lIns="0" tIns="0" rIns="0" bIns="0" rtlCol="0" anchor="t"/>
          <a:lstStyle/>
          <a:p>
            <a:pPr algn="r" indent="0" marL="0">
              <a:buNone/>
            </a:pPr>
            <a:r>
              <a:rPr lang="en-US" sz="1200" dirty="0">
                <a:solidFill>
                  <a:srgbClr val="5B6770"/>
                </a:solidFill>
              </a:rPr>
              <a:t>Theory of Architecture — Ching: Architecture, Form, Space &amp; Order  ·  Vitruvius: Firmitas · Utilitas · Venustas</a:t>
            </a:r>
            <a:endParaRPr lang="en-US" sz="1200" dirty="0"/>
          </a:p>
        </p:txBody>
      </p:sp>
      <p:sp>
        <p:nvSpPr>
          <p:cNvPr id="7" name="Text 5"/>
          <p:cNvSpPr txBox="1"/>
          <p:nvPr/>
        </p:nvSpPr>
        <p:spPr>
          <a:xfrm>
            <a:off x="8716975" y="2788920"/>
            <a:ext cx="2926080" cy="365760"/>
          </a:xfrm>
          <a:prstGeom prst="rect">
            <a:avLst/>
          </a:prstGeom>
          <a:noFill/>
          <a:ln/>
        </p:spPr>
        <p:txBody>
          <a:bodyPr wrap="square" lIns="0" tIns="0" rIns="0" bIns="0" rtlCol="0" anchor="t"/>
          <a:lstStyle/>
          <a:p>
            <a:pPr rtl="1" algn="r" indent="0" marL="0">
              <a:buNone/>
            </a:pPr>
            <a:r>
              <a:rPr lang="ar-SA" altLang="en-US" sz="1600" b="1" dirty="0">
                <a:solidFill>
                  <a:srgbClr val="3A4146"/>
                </a:solidFill>
              </a:rPr>
              <a:t>العمارة — المبنى ككل</a:t>
            </a:r>
            <a:endParaRPr lang="ar-SA" sz="1600" dirty="0"/>
          </a:p>
        </p:txBody>
      </p:sp>
      <p:sp>
        <p:nvSpPr>
          <p:cNvPr id="8" name="Text 6"/>
          <p:cNvSpPr txBox="1"/>
          <p:nvPr/>
        </p:nvSpPr>
        <p:spPr>
          <a:xfrm>
            <a:off x="8716975" y="3154680"/>
            <a:ext cx="2926080" cy="320040"/>
          </a:xfrm>
          <a:prstGeom prst="rect">
            <a:avLst/>
          </a:prstGeom>
          <a:noFill/>
          <a:ln/>
        </p:spPr>
        <p:txBody>
          <a:bodyPr wrap="square" lIns="0" tIns="0" rIns="0" bIns="0" rtlCol="0" anchor="t"/>
          <a:lstStyle/>
          <a:p>
            <a:pPr algn="r" indent="0" marL="0">
              <a:buNone/>
            </a:pPr>
            <a:r>
              <a:rPr lang="en-US" sz="1300" dirty="0">
                <a:solidFill>
                  <a:srgbClr val="5B6770"/>
                </a:solidFill>
              </a:rPr>
              <a:t>Architecture</a:t>
            </a:r>
            <a:endParaRPr lang="en-US" sz="1300" dirty="0"/>
          </a:p>
        </p:txBody>
      </p:sp>
      <p:sp>
        <p:nvSpPr>
          <p:cNvPr id="9" name="Architecture step 1"/>
          <p:cNvSpPr/>
          <p:nvPr/>
        </p:nvSpPr>
        <p:spPr>
          <a:xfrm>
            <a:off x="7162495" y="2743200"/>
            <a:ext cx="1325880" cy="777240"/>
          </a:xfrm>
          <a:prstGeom prst="roundRect">
            <a:avLst>
              <a:gd name="adj" fmla="val 9412"/>
            </a:avLst>
          </a:prstGeom>
          <a:solidFill>
            <a:srgbClr val="3A4146"/>
          </a:solidFill>
          <a:ln/>
        </p:spPr>
      </p:sp>
      <p:sp>
        <p:nvSpPr>
          <p:cNvPr id="10" name="Text 8"/>
          <p:cNvSpPr txBox="1"/>
          <p:nvPr/>
        </p:nvSpPr>
        <p:spPr>
          <a:xfrm>
            <a:off x="7162495" y="274320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Site</a:t>
            </a:r>
            <a:endParaRPr lang="en-US" sz="1300" dirty="0"/>
          </a:p>
        </p:txBody>
      </p:sp>
      <p:sp>
        <p:nvSpPr>
          <p:cNvPr id="11" name="arrow"/>
          <p:cNvSpPr/>
          <p:nvPr/>
        </p:nvSpPr>
        <p:spPr>
          <a:xfrm>
            <a:off x="6860743" y="3131820"/>
            <a:ext cx="256032" cy="0"/>
          </a:xfrm>
          <a:prstGeom prst="line">
            <a:avLst/>
          </a:prstGeom>
          <a:noFill/>
          <a:ln w="19050">
            <a:solidFill>
              <a:srgbClr val="8A9A9B"/>
            </a:solidFill>
            <a:prstDash val="solid"/>
            <a:headEnd type="triangle"/>
          </a:ln>
        </p:spPr>
      </p:sp>
      <p:sp>
        <p:nvSpPr>
          <p:cNvPr id="12" name="Architecture step 2"/>
          <p:cNvSpPr/>
          <p:nvPr/>
        </p:nvSpPr>
        <p:spPr>
          <a:xfrm>
            <a:off x="5489143" y="2743200"/>
            <a:ext cx="1325880" cy="777240"/>
          </a:xfrm>
          <a:prstGeom prst="roundRect">
            <a:avLst>
              <a:gd name="adj" fmla="val 9412"/>
            </a:avLst>
          </a:prstGeom>
          <a:solidFill>
            <a:srgbClr val="3A4146"/>
          </a:solidFill>
          <a:ln/>
        </p:spPr>
      </p:sp>
      <p:sp>
        <p:nvSpPr>
          <p:cNvPr id="13" name="Text 11"/>
          <p:cNvSpPr txBox="1"/>
          <p:nvPr/>
        </p:nvSpPr>
        <p:spPr>
          <a:xfrm>
            <a:off x="5489143" y="274320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Building</a:t>
            </a:r>
            <a:endParaRPr lang="en-US" sz="1300" dirty="0"/>
          </a:p>
        </p:txBody>
      </p:sp>
      <p:sp>
        <p:nvSpPr>
          <p:cNvPr id="14" name="arrow"/>
          <p:cNvSpPr/>
          <p:nvPr/>
        </p:nvSpPr>
        <p:spPr>
          <a:xfrm>
            <a:off x="5187391" y="3131820"/>
            <a:ext cx="256032" cy="0"/>
          </a:xfrm>
          <a:prstGeom prst="line">
            <a:avLst/>
          </a:prstGeom>
          <a:noFill/>
          <a:ln w="19050">
            <a:solidFill>
              <a:srgbClr val="8A9A9B"/>
            </a:solidFill>
            <a:prstDash val="solid"/>
            <a:headEnd type="triangle"/>
          </a:ln>
        </p:spPr>
      </p:sp>
      <p:sp>
        <p:nvSpPr>
          <p:cNvPr id="15" name="Architecture step 3"/>
          <p:cNvSpPr/>
          <p:nvPr/>
        </p:nvSpPr>
        <p:spPr>
          <a:xfrm>
            <a:off x="3815791" y="2743200"/>
            <a:ext cx="1325880" cy="777240"/>
          </a:xfrm>
          <a:prstGeom prst="roundRect">
            <a:avLst>
              <a:gd name="adj" fmla="val 9412"/>
            </a:avLst>
          </a:prstGeom>
          <a:solidFill>
            <a:srgbClr val="3A4146"/>
          </a:solidFill>
          <a:ln/>
        </p:spPr>
      </p:sp>
      <p:sp>
        <p:nvSpPr>
          <p:cNvPr id="16" name="Text 14"/>
          <p:cNvSpPr txBox="1"/>
          <p:nvPr/>
        </p:nvSpPr>
        <p:spPr>
          <a:xfrm>
            <a:off x="3815791" y="274320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Form</a:t>
            </a:r>
            <a:endParaRPr lang="en-US" sz="1300" dirty="0"/>
          </a:p>
        </p:txBody>
      </p:sp>
      <p:sp>
        <p:nvSpPr>
          <p:cNvPr id="17" name="arrow"/>
          <p:cNvSpPr/>
          <p:nvPr/>
        </p:nvSpPr>
        <p:spPr>
          <a:xfrm>
            <a:off x="3514039" y="3131820"/>
            <a:ext cx="256032" cy="0"/>
          </a:xfrm>
          <a:prstGeom prst="line">
            <a:avLst/>
          </a:prstGeom>
          <a:noFill/>
          <a:ln w="19050">
            <a:solidFill>
              <a:srgbClr val="8A9A9B"/>
            </a:solidFill>
            <a:prstDash val="solid"/>
            <a:headEnd type="triangle"/>
          </a:ln>
        </p:spPr>
      </p:sp>
      <p:sp>
        <p:nvSpPr>
          <p:cNvPr id="18" name="Architecture step 4"/>
          <p:cNvSpPr/>
          <p:nvPr/>
        </p:nvSpPr>
        <p:spPr>
          <a:xfrm>
            <a:off x="2142439" y="2743200"/>
            <a:ext cx="1325880" cy="777240"/>
          </a:xfrm>
          <a:prstGeom prst="roundRect">
            <a:avLst>
              <a:gd name="adj" fmla="val 9412"/>
            </a:avLst>
          </a:prstGeom>
          <a:solidFill>
            <a:srgbClr val="3A4146"/>
          </a:solidFill>
          <a:ln/>
        </p:spPr>
      </p:sp>
      <p:sp>
        <p:nvSpPr>
          <p:cNvPr id="19" name="Text 17"/>
          <p:cNvSpPr txBox="1"/>
          <p:nvPr/>
        </p:nvSpPr>
        <p:spPr>
          <a:xfrm>
            <a:off x="2142439" y="274320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Structure</a:t>
            </a:r>
            <a:endParaRPr lang="en-US" sz="1300" dirty="0"/>
          </a:p>
        </p:txBody>
      </p:sp>
      <p:sp>
        <p:nvSpPr>
          <p:cNvPr id="20" name="arrow"/>
          <p:cNvSpPr/>
          <p:nvPr/>
        </p:nvSpPr>
        <p:spPr>
          <a:xfrm>
            <a:off x="1840687" y="3131820"/>
            <a:ext cx="256032" cy="0"/>
          </a:xfrm>
          <a:prstGeom prst="line">
            <a:avLst/>
          </a:prstGeom>
          <a:noFill/>
          <a:ln w="19050">
            <a:solidFill>
              <a:srgbClr val="8A9A9B"/>
            </a:solidFill>
            <a:prstDash val="solid"/>
            <a:headEnd type="triangle"/>
          </a:ln>
        </p:spPr>
      </p:sp>
      <p:sp>
        <p:nvSpPr>
          <p:cNvPr id="21" name="Architecture step 5"/>
          <p:cNvSpPr/>
          <p:nvPr/>
        </p:nvSpPr>
        <p:spPr>
          <a:xfrm>
            <a:off x="469087" y="2743200"/>
            <a:ext cx="1325880" cy="777240"/>
          </a:xfrm>
          <a:prstGeom prst="roundRect">
            <a:avLst>
              <a:gd name="adj" fmla="val 9412"/>
            </a:avLst>
          </a:prstGeom>
          <a:solidFill>
            <a:srgbClr val="3A4146"/>
          </a:solidFill>
          <a:ln/>
        </p:spPr>
      </p:sp>
      <p:sp>
        <p:nvSpPr>
          <p:cNvPr id="22" name="Text 20"/>
          <p:cNvSpPr txBox="1"/>
          <p:nvPr/>
        </p:nvSpPr>
        <p:spPr>
          <a:xfrm>
            <a:off x="469087" y="274320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Envelope</a:t>
            </a:r>
            <a:endParaRPr lang="en-US" sz="1300" dirty="0"/>
          </a:p>
        </p:txBody>
      </p:sp>
      <p:sp>
        <p:nvSpPr>
          <p:cNvPr id="23" name="Text 21"/>
          <p:cNvSpPr txBox="1"/>
          <p:nvPr/>
        </p:nvSpPr>
        <p:spPr>
          <a:xfrm>
            <a:off x="8716975" y="4114800"/>
            <a:ext cx="2926080" cy="365760"/>
          </a:xfrm>
          <a:prstGeom prst="rect">
            <a:avLst/>
          </a:prstGeom>
          <a:noFill/>
          <a:ln/>
        </p:spPr>
        <p:txBody>
          <a:bodyPr wrap="square" lIns="0" tIns="0" rIns="0" bIns="0" rtlCol="0" anchor="t"/>
          <a:lstStyle/>
          <a:p>
            <a:pPr rtl="1" algn="r" indent="0" marL="0">
              <a:buNone/>
            </a:pPr>
            <a:r>
              <a:rPr lang="ar-SA" altLang="en-US" sz="1600" b="1" dirty="0">
                <a:solidFill>
                  <a:srgbClr val="C2593A"/>
                </a:solidFill>
              </a:rPr>
              <a:t>التصميم الداخلي — الداخل</a:t>
            </a:r>
            <a:endParaRPr lang="ar-SA" sz="1600" dirty="0"/>
          </a:p>
        </p:txBody>
      </p:sp>
      <p:sp>
        <p:nvSpPr>
          <p:cNvPr id="24" name="Text 22"/>
          <p:cNvSpPr txBox="1"/>
          <p:nvPr/>
        </p:nvSpPr>
        <p:spPr>
          <a:xfrm>
            <a:off x="8716975" y="4480560"/>
            <a:ext cx="2926080" cy="320040"/>
          </a:xfrm>
          <a:prstGeom prst="rect">
            <a:avLst/>
          </a:prstGeom>
          <a:noFill/>
          <a:ln/>
        </p:spPr>
        <p:txBody>
          <a:bodyPr wrap="square" lIns="0" tIns="0" rIns="0" bIns="0" rtlCol="0" anchor="t"/>
          <a:lstStyle/>
          <a:p>
            <a:pPr algn="r" indent="0" marL="0">
              <a:buNone/>
            </a:pPr>
            <a:r>
              <a:rPr lang="en-US" sz="1300" dirty="0">
                <a:solidFill>
                  <a:srgbClr val="5B6770"/>
                </a:solidFill>
              </a:rPr>
              <a:t>Interior Design</a:t>
            </a:r>
            <a:endParaRPr lang="en-US" sz="1300" dirty="0"/>
          </a:p>
        </p:txBody>
      </p:sp>
      <p:sp>
        <p:nvSpPr>
          <p:cNvPr id="25" name="Interior Design step 1"/>
          <p:cNvSpPr/>
          <p:nvPr/>
        </p:nvSpPr>
        <p:spPr>
          <a:xfrm>
            <a:off x="7162495" y="4069080"/>
            <a:ext cx="1325880" cy="777240"/>
          </a:xfrm>
          <a:prstGeom prst="roundRect">
            <a:avLst>
              <a:gd name="adj" fmla="val 9412"/>
            </a:avLst>
          </a:prstGeom>
          <a:solidFill>
            <a:srgbClr val="C2593A"/>
          </a:solidFill>
          <a:ln/>
        </p:spPr>
      </p:sp>
      <p:sp>
        <p:nvSpPr>
          <p:cNvPr id="26" name="Text 24"/>
          <p:cNvSpPr txBox="1"/>
          <p:nvPr/>
        </p:nvSpPr>
        <p:spPr>
          <a:xfrm>
            <a:off x="7162495" y="406908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Building</a:t>
            </a:r>
            <a:endParaRPr lang="en-US" sz="1300" dirty="0"/>
          </a:p>
        </p:txBody>
      </p:sp>
      <p:sp>
        <p:nvSpPr>
          <p:cNvPr id="27" name="arrow"/>
          <p:cNvSpPr/>
          <p:nvPr/>
        </p:nvSpPr>
        <p:spPr>
          <a:xfrm>
            <a:off x="6860743" y="4457700"/>
            <a:ext cx="256032" cy="0"/>
          </a:xfrm>
          <a:prstGeom prst="line">
            <a:avLst/>
          </a:prstGeom>
          <a:noFill/>
          <a:ln w="19050">
            <a:solidFill>
              <a:srgbClr val="8A9A9B"/>
            </a:solidFill>
            <a:prstDash val="solid"/>
            <a:headEnd type="triangle"/>
          </a:ln>
        </p:spPr>
      </p:sp>
      <p:sp>
        <p:nvSpPr>
          <p:cNvPr id="28" name="Interior Design step 2"/>
          <p:cNvSpPr/>
          <p:nvPr/>
        </p:nvSpPr>
        <p:spPr>
          <a:xfrm>
            <a:off x="5489143" y="4069080"/>
            <a:ext cx="1325880" cy="777240"/>
          </a:xfrm>
          <a:prstGeom prst="roundRect">
            <a:avLst>
              <a:gd name="adj" fmla="val 9412"/>
            </a:avLst>
          </a:prstGeom>
          <a:solidFill>
            <a:srgbClr val="C2593A"/>
          </a:solidFill>
          <a:ln/>
        </p:spPr>
      </p:sp>
      <p:sp>
        <p:nvSpPr>
          <p:cNvPr id="29" name="Text 27"/>
          <p:cNvSpPr txBox="1"/>
          <p:nvPr/>
        </p:nvSpPr>
        <p:spPr>
          <a:xfrm>
            <a:off x="5489143" y="406908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Space</a:t>
            </a:r>
            <a:endParaRPr lang="en-US" sz="1300" dirty="0"/>
          </a:p>
        </p:txBody>
      </p:sp>
      <p:sp>
        <p:nvSpPr>
          <p:cNvPr id="30" name="arrow"/>
          <p:cNvSpPr/>
          <p:nvPr/>
        </p:nvSpPr>
        <p:spPr>
          <a:xfrm>
            <a:off x="5187391" y="4457700"/>
            <a:ext cx="256032" cy="0"/>
          </a:xfrm>
          <a:prstGeom prst="line">
            <a:avLst/>
          </a:prstGeom>
          <a:noFill/>
          <a:ln w="19050">
            <a:solidFill>
              <a:srgbClr val="8A9A9B"/>
            </a:solidFill>
            <a:prstDash val="solid"/>
            <a:headEnd type="triangle"/>
          </a:ln>
        </p:spPr>
      </p:sp>
      <p:sp>
        <p:nvSpPr>
          <p:cNvPr id="31" name="Interior Design step 3"/>
          <p:cNvSpPr/>
          <p:nvPr/>
        </p:nvSpPr>
        <p:spPr>
          <a:xfrm>
            <a:off x="3815791" y="4069080"/>
            <a:ext cx="1325880" cy="777240"/>
          </a:xfrm>
          <a:prstGeom prst="roundRect">
            <a:avLst>
              <a:gd name="adj" fmla="val 9412"/>
            </a:avLst>
          </a:prstGeom>
          <a:solidFill>
            <a:srgbClr val="C2593A"/>
          </a:solidFill>
          <a:ln/>
        </p:spPr>
      </p:sp>
      <p:sp>
        <p:nvSpPr>
          <p:cNvPr id="32" name="Text 30"/>
          <p:cNvSpPr txBox="1"/>
          <p:nvPr/>
        </p:nvSpPr>
        <p:spPr>
          <a:xfrm>
            <a:off x="3815791" y="406908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Human</a:t>
            </a:r>
            <a:endParaRPr lang="en-US" sz="1300" dirty="0"/>
          </a:p>
        </p:txBody>
      </p:sp>
      <p:sp>
        <p:nvSpPr>
          <p:cNvPr id="33" name="arrow"/>
          <p:cNvSpPr/>
          <p:nvPr/>
        </p:nvSpPr>
        <p:spPr>
          <a:xfrm>
            <a:off x="3514039" y="4457700"/>
            <a:ext cx="256032" cy="0"/>
          </a:xfrm>
          <a:prstGeom prst="line">
            <a:avLst/>
          </a:prstGeom>
          <a:noFill/>
          <a:ln w="19050">
            <a:solidFill>
              <a:srgbClr val="8A9A9B"/>
            </a:solidFill>
            <a:prstDash val="solid"/>
            <a:headEnd type="triangle"/>
          </a:ln>
        </p:spPr>
      </p:sp>
      <p:sp>
        <p:nvSpPr>
          <p:cNvPr id="34" name="Interior Design step 4"/>
          <p:cNvSpPr/>
          <p:nvPr/>
        </p:nvSpPr>
        <p:spPr>
          <a:xfrm>
            <a:off x="2142439" y="4069080"/>
            <a:ext cx="1325880" cy="777240"/>
          </a:xfrm>
          <a:prstGeom prst="roundRect">
            <a:avLst>
              <a:gd name="adj" fmla="val 9412"/>
            </a:avLst>
          </a:prstGeom>
          <a:solidFill>
            <a:srgbClr val="C2593A"/>
          </a:solidFill>
          <a:ln/>
        </p:spPr>
      </p:sp>
      <p:sp>
        <p:nvSpPr>
          <p:cNvPr id="35" name="Text 33"/>
          <p:cNvSpPr txBox="1"/>
          <p:nvPr/>
        </p:nvSpPr>
        <p:spPr>
          <a:xfrm>
            <a:off x="2142439" y="406908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Function</a:t>
            </a:r>
            <a:endParaRPr lang="en-US" sz="1300" dirty="0"/>
          </a:p>
        </p:txBody>
      </p:sp>
      <p:sp>
        <p:nvSpPr>
          <p:cNvPr id="36" name="arrow"/>
          <p:cNvSpPr/>
          <p:nvPr/>
        </p:nvSpPr>
        <p:spPr>
          <a:xfrm>
            <a:off x="1840687" y="4457700"/>
            <a:ext cx="256032" cy="0"/>
          </a:xfrm>
          <a:prstGeom prst="line">
            <a:avLst/>
          </a:prstGeom>
          <a:noFill/>
          <a:ln w="19050">
            <a:solidFill>
              <a:srgbClr val="8A9A9B"/>
            </a:solidFill>
            <a:prstDash val="solid"/>
            <a:headEnd type="triangle"/>
          </a:ln>
        </p:spPr>
      </p:sp>
      <p:sp>
        <p:nvSpPr>
          <p:cNvPr id="37" name="Interior Design step 5"/>
          <p:cNvSpPr/>
          <p:nvPr/>
        </p:nvSpPr>
        <p:spPr>
          <a:xfrm>
            <a:off x="469087" y="4069080"/>
            <a:ext cx="1325880" cy="777240"/>
          </a:xfrm>
          <a:prstGeom prst="roundRect">
            <a:avLst>
              <a:gd name="adj" fmla="val 9412"/>
            </a:avLst>
          </a:prstGeom>
          <a:solidFill>
            <a:srgbClr val="C2593A"/>
          </a:solidFill>
          <a:ln/>
        </p:spPr>
      </p:sp>
      <p:sp>
        <p:nvSpPr>
          <p:cNvPr id="38" name="Text 36"/>
          <p:cNvSpPr txBox="1"/>
          <p:nvPr/>
        </p:nvSpPr>
        <p:spPr>
          <a:xfrm>
            <a:off x="469087" y="4069080"/>
            <a:ext cx="1325880" cy="777240"/>
          </a:xfrm>
          <a:prstGeom prst="rect">
            <a:avLst/>
          </a:prstGeom>
          <a:noFill/>
          <a:ln/>
        </p:spPr>
        <p:txBody>
          <a:bodyPr wrap="square" lIns="0" tIns="0" rIns="0" bIns="0" rtlCol="0" anchor="ctr"/>
          <a:lstStyle/>
          <a:p>
            <a:pPr algn="ctr" indent="0" marL="0">
              <a:buNone/>
            </a:pPr>
            <a:r>
              <a:rPr lang="en-US" sz="1300" b="1" dirty="0">
                <a:solidFill>
                  <a:srgbClr val="FFFFFF"/>
                </a:solidFill>
              </a:rPr>
              <a:t>Experience</a:t>
            </a:r>
            <a:endParaRPr lang="en-US" sz="1300" dirty="0"/>
          </a:p>
        </p:txBody>
      </p:sp>
      <p:sp>
        <p:nvSpPr>
          <p:cNvPr id="39" name="shared idea"/>
          <p:cNvSpPr/>
          <p:nvPr/>
        </p:nvSpPr>
        <p:spPr>
          <a:xfrm>
            <a:off x="548640" y="5440680"/>
            <a:ext cx="11094415" cy="777240"/>
          </a:xfrm>
          <a:prstGeom prst="roundRect">
            <a:avLst>
              <a:gd name="adj" fmla="val 9412"/>
            </a:avLst>
          </a:prstGeom>
          <a:solidFill>
            <a:schemeClr val="tx1"/>
          </a:solidFill>
          <a:ln/>
        </p:spPr>
      </p:sp>
      <p:sp>
        <p:nvSpPr>
          <p:cNvPr id="40" name="two-way circle"/>
          <p:cNvSpPr/>
          <p:nvPr/>
        </p:nvSpPr>
        <p:spPr>
          <a:xfrm>
            <a:off x="10911535" y="5550408"/>
            <a:ext cx="548640" cy="548640"/>
          </a:xfrm>
          <a:prstGeom prst="ellipse">
            <a:avLst/>
          </a:prstGeom>
          <a:solidFill>
            <a:srgbClr val="C2593A"/>
          </a:solidFill>
          <a:ln/>
        </p:spPr>
      </p:sp>
      <p:pic>
        <p:nvPicPr>
          <p:cNvPr id="41" name="two-way icon" descr="two-way">    </p:cNvPr>
          <p:cNvPicPr>
            <a:picLocks noChangeAspect="1"/>
          </p:cNvPicPr>
          <p:nvPr/>
        </p:nvPicPr>
        <p:blipFill>
          <a:blip r:embed="rId1"/>
          <a:stretch>
            <a:fillRect/>
          </a:stretch>
        </p:blipFill>
        <p:spPr>
          <a:xfrm>
            <a:off x="11048695" y="5687568"/>
            <a:ext cx="274320" cy="274320"/>
          </a:xfrm>
          <a:prstGeom prst="rect">
            <a:avLst/>
          </a:prstGeom>
        </p:spPr>
      </p:pic>
      <p:sp>
        <p:nvSpPr>
          <p:cNvPr id="42" name="Text 39"/>
          <p:cNvSpPr txBox="1"/>
          <p:nvPr/>
        </p:nvSpPr>
        <p:spPr>
          <a:xfrm>
            <a:off x="822960" y="5440680"/>
            <a:ext cx="9814255" cy="777240"/>
          </a:xfrm>
          <a:prstGeom prst="rect">
            <a:avLst/>
          </a:prstGeom>
          <a:noFill/>
          <a:ln/>
        </p:spPr>
        <p:txBody>
          <a:bodyPr wrap="square" lIns="0" tIns="0" rIns="0" bIns="0" rtlCol="0" anchor="ctr"/>
          <a:lstStyle/>
          <a:p>
            <a:pPr rtl="1" algn="r" indent="0" marL="0">
              <a:buNone/>
            </a:pPr>
            <a:r>
              <a:rPr lang="ar-SA" altLang="en-US" sz="1500" b="1" dirty="0">
                <a:solidFill>
                  <a:srgbClr val="FFFFFF"/>
                </a:solidFill>
              </a:rPr>
              <a:t>لا يوجد جدار حقيقي بين التخصصين: المبنى يؤثر على الداخل، والداخل يؤثر على إدراك المبنى واستخدامه.</a:t>
            </a:r>
            <a:endParaRPr lang="ar-SA"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548640"/>
            <a:ext cx="11094415" cy="365760"/>
          </a:xfrm>
          <a:prstGeom prst="rect">
            <a:avLst/>
          </a:prstGeom>
          <a:noFill/>
          <a:ln/>
        </p:spPr>
        <p:txBody>
          <a:bodyPr wrap="square" lIns="0" tIns="0" rIns="0" bIns="0" rtlCol="0" anchor="t"/>
          <a:lstStyle/>
          <a:p>
            <a:pPr algn="r" indent="0" marL="0">
              <a:buNone/>
            </a:pPr>
            <a:r>
              <a:rPr lang="en-US" sz="1400" b="1" dirty="0">
                <a:solidFill>
                  <a:srgbClr val="C2593A"/>
                </a:solidFill>
              </a:rPr>
              <a:t>05 — WHAT ARE WE DESIGNING?</a:t>
            </a:r>
            <a:endParaRPr lang="en-US" sz="1400" dirty="0"/>
          </a:p>
        </p:txBody>
      </p:sp>
      <p:sp>
        <p:nvSpPr>
          <p:cNvPr id="3" name="Text 1"/>
          <p:cNvSpPr txBox="1"/>
          <p:nvPr/>
        </p:nvSpPr>
        <p:spPr>
          <a:xfrm>
            <a:off x="548640" y="960120"/>
            <a:ext cx="11094415" cy="640080"/>
          </a:xfrm>
          <a:prstGeom prst="rect">
            <a:avLst/>
          </a:prstGeom>
          <a:noFill/>
          <a:ln/>
        </p:spPr>
        <p:txBody>
          <a:bodyPr wrap="square" lIns="0" tIns="0" rIns="0" bIns="0" rtlCol="0" anchor="t"/>
          <a:lstStyle/>
          <a:p>
            <a:pPr rtl="1" algn="r" indent="0" marL="0">
              <a:buNone/>
            </a:pPr>
            <a:r>
              <a:rPr lang="ar-SA" altLang="en-US" sz="3000" b="1" dirty="0">
                <a:solidFill>
                  <a:srgbClr val="FFFFFF"/>
                </a:solidFill>
              </a:rPr>
              <a:t>ماذا نصمم في التصميم الداخلي؟</a:t>
            </a:r>
            <a:endParaRPr lang="ar-SA" sz="3000" dirty="0"/>
          </a:p>
        </p:txBody>
      </p:sp>
      <p:sp>
        <p:nvSpPr>
          <p:cNvPr id="4" name="question 1"/>
          <p:cNvSpPr/>
          <p:nvPr/>
        </p:nvSpPr>
        <p:spPr>
          <a:xfrm>
            <a:off x="6888175" y="2011680"/>
            <a:ext cx="4754880" cy="1188720"/>
          </a:xfrm>
          <a:prstGeom prst="roundRect">
            <a:avLst>
              <a:gd name="adj" fmla="val 6154"/>
            </a:avLst>
          </a:prstGeom>
          <a:solidFill>
            <a:srgbClr val="3A4146"/>
          </a:solidFill>
          <a:ln/>
        </p:spPr>
      </p:sp>
      <p:sp>
        <p:nvSpPr>
          <p:cNvPr id="5" name="question 1 circle"/>
          <p:cNvSpPr/>
          <p:nvPr/>
        </p:nvSpPr>
        <p:spPr>
          <a:xfrm>
            <a:off x="10728655" y="2286000"/>
            <a:ext cx="640080" cy="640080"/>
          </a:xfrm>
          <a:prstGeom prst="ellipse">
            <a:avLst/>
          </a:prstGeom>
          <a:solidFill>
            <a:srgbClr val="5B6770"/>
          </a:solidFill>
          <a:ln/>
        </p:spPr>
      </p:sp>
      <p:pic>
        <p:nvPicPr>
          <p:cNvPr id="6" name="question 1 icon" descr="question 1">    </p:cNvPr>
          <p:cNvPicPr>
            <a:picLocks noChangeAspect="1"/>
          </p:cNvPicPr>
          <p:nvPr/>
        </p:nvPicPr>
        <p:blipFill>
          <a:blip r:embed="rId1"/>
          <a:stretch>
            <a:fillRect/>
          </a:stretch>
        </p:blipFill>
        <p:spPr>
          <a:xfrm>
            <a:off x="10888675" y="2446020"/>
            <a:ext cx="320040" cy="320040"/>
          </a:xfrm>
          <a:prstGeom prst="rect">
            <a:avLst/>
          </a:prstGeom>
        </p:spPr>
      </p:pic>
      <p:sp>
        <p:nvSpPr>
          <p:cNvPr id="7" name="Text 4"/>
          <p:cNvSpPr txBox="1"/>
          <p:nvPr/>
        </p:nvSpPr>
        <p:spPr>
          <a:xfrm>
            <a:off x="8076895" y="2011680"/>
            <a:ext cx="2514600" cy="1188720"/>
          </a:xfrm>
          <a:prstGeom prst="rect">
            <a:avLst/>
          </a:prstGeom>
          <a:noFill/>
          <a:ln/>
        </p:spPr>
        <p:txBody>
          <a:bodyPr wrap="square" lIns="0" tIns="0" rIns="0" bIns="0" rtlCol="0" anchor="ctr"/>
          <a:lstStyle/>
          <a:p>
            <a:pPr rtl="1" algn="r" indent="0" marL="0">
              <a:buNone/>
            </a:pPr>
            <a:r>
              <a:rPr lang="ar-SA" altLang="en-US" sz="1900" dirty="0">
                <a:solidFill>
                  <a:srgbClr val="FFFFFF"/>
                </a:solidFill>
              </a:rPr>
              <a:t>هل نصمم الأثاث؟</a:t>
            </a:r>
            <a:endParaRPr lang="ar-SA" sz="1900" dirty="0"/>
          </a:p>
        </p:txBody>
      </p:sp>
      <p:sp>
        <p:nvSpPr>
          <p:cNvPr id="8" name="Text 5"/>
          <p:cNvSpPr txBox="1"/>
          <p:nvPr/>
        </p:nvSpPr>
        <p:spPr>
          <a:xfrm>
            <a:off x="7162495" y="2011680"/>
            <a:ext cx="822960" cy="1188720"/>
          </a:xfrm>
          <a:prstGeom prst="rect">
            <a:avLst/>
          </a:prstGeom>
          <a:noFill/>
          <a:ln/>
        </p:spPr>
        <p:txBody>
          <a:bodyPr wrap="square" lIns="0" tIns="0" rIns="0" bIns="0" rtlCol="0" anchor="ctr"/>
          <a:lstStyle/>
          <a:p>
            <a:pPr rtl="1" algn="ctr" indent="0" marL="0">
              <a:buNone/>
            </a:pPr>
            <a:r>
              <a:rPr lang="ar-SA" altLang="en-US" sz="3000" b="1" dirty="0">
                <a:solidFill>
                  <a:srgbClr val="C2593A"/>
                </a:solidFill>
              </a:rPr>
              <a:t>لا</a:t>
            </a:r>
            <a:endParaRPr lang="ar-SA" sz="3000" dirty="0"/>
          </a:p>
        </p:txBody>
      </p:sp>
      <p:sp>
        <p:nvSpPr>
          <p:cNvPr id="9" name="question 2"/>
          <p:cNvSpPr/>
          <p:nvPr/>
        </p:nvSpPr>
        <p:spPr>
          <a:xfrm>
            <a:off x="1767535" y="2011680"/>
            <a:ext cx="4754880" cy="1188720"/>
          </a:xfrm>
          <a:prstGeom prst="roundRect">
            <a:avLst>
              <a:gd name="adj" fmla="val 6154"/>
            </a:avLst>
          </a:prstGeom>
          <a:solidFill>
            <a:srgbClr val="3A4146"/>
          </a:solidFill>
          <a:ln/>
        </p:spPr>
      </p:sp>
      <p:sp>
        <p:nvSpPr>
          <p:cNvPr id="10" name="question 2 circle"/>
          <p:cNvSpPr/>
          <p:nvPr/>
        </p:nvSpPr>
        <p:spPr>
          <a:xfrm>
            <a:off x="5608015" y="2286000"/>
            <a:ext cx="640080" cy="640080"/>
          </a:xfrm>
          <a:prstGeom prst="ellipse">
            <a:avLst/>
          </a:prstGeom>
          <a:solidFill>
            <a:srgbClr val="5B6770"/>
          </a:solidFill>
          <a:ln/>
        </p:spPr>
      </p:sp>
      <p:pic>
        <p:nvPicPr>
          <p:cNvPr id="11" name="question 2 icon" descr="question 2">    </p:cNvPr>
          <p:cNvPicPr>
            <a:picLocks noChangeAspect="1"/>
          </p:cNvPicPr>
          <p:nvPr/>
        </p:nvPicPr>
        <p:blipFill>
          <a:blip r:embed="rId2"/>
          <a:stretch>
            <a:fillRect/>
          </a:stretch>
        </p:blipFill>
        <p:spPr>
          <a:xfrm>
            <a:off x="5768035" y="2446020"/>
            <a:ext cx="320040" cy="320040"/>
          </a:xfrm>
          <a:prstGeom prst="rect">
            <a:avLst/>
          </a:prstGeom>
        </p:spPr>
      </p:pic>
      <p:sp>
        <p:nvSpPr>
          <p:cNvPr id="12" name="Text 8"/>
          <p:cNvSpPr txBox="1"/>
          <p:nvPr/>
        </p:nvSpPr>
        <p:spPr>
          <a:xfrm>
            <a:off x="2956255" y="2011680"/>
            <a:ext cx="2514600" cy="1188720"/>
          </a:xfrm>
          <a:prstGeom prst="rect">
            <a:avLst/>
          </a:prstGeom>
          <a:noFill/>
          <a:ln/>
        </p:spPr>
        <p:txBody>
          <a:bodyPr wrap="square" lIns="0" tIns="0" rIns="0" bIns="0" rtlCol="0" anchor="ctr"/>
          <a:lstStyle/>
          <a:p>
            <a:pPr rtl="1" algn="r" indent="0" marL="0">
              <a:buNone/>
            </a:pPr>
            <a:r>
              <a:rPr lang="ar-SA" altLang="en-US" sz="1900" dirty="0">
                <a:solidFill>
                  <a:srgbClr val="FFFFFF"/>
                </a:solidFill>
              </a:rPr>
              <a:t>هل نصمم الجدران فقط؟</a:t>
            </a:r>
            <a:endParaRPr lang="ar-SA" sz="1900" dirty="0"/>
          </a:p>
        </p:txBody>
      </p:sp>
      <p:sp>
        <p:nvSpPr>
          <p:cNvPr id="13" name="Text 9"/>
          <p:cNvSpPr txBox="1"/>
          <p:nvPr/>
        </p:nvSpPr>
        <p:spPr>
          <a:xfrm>
            <a:off x="2041855" y="2011680"/>
            <a:ext cx="822960" cy="1188720"/>
          </a:xfrm>
          <a:prstGeom prst="rect">
            <a:avLst/>
          </a:prstGeom>
          <a:noFill/>
          <a:ln/>
        </p:spPr>
        <p:txBody>
          <a:bodyPr wrap="square" lIns="0" tIns="0" rIns="0" bIns="0" rtlCol="0" anchor="ctr"/>
          <a:lstStyle/>
          <a:p>
            <a:pPr rtl="1" algn="ctr" indent="0" marL="0">
              <a:buNone/>
            </a:pPr>
            <a:r>
              <a:rPr lang="ar-SA" altLang="en-US" sz="3000" b="1" dirty="0">
                <a:solidFill>
                  <a:srgbClr val="C2593A"/>
                </a:solidFill>
              </a:rPr>
              <a:t>لا</a:t>
            </a:r>
            <a:endParaRPr lang="ar-SA" sz="3000" dirty="0"/>
          </a:p>
        </p:txBody>
      </p:sp>
      <p:sp>
        <p:nvSpPr>
          <p:cNvPr id="14" name="Text 10"/>
          <p:cNvSpPr txBox="1"/>
          <p:nvPr/>
        </p:nvSpPr>
        <p:spPr>
          <a:xfrm>
            <a:off x="548640" y="3520440"/>
            <a:ext cx="11094415" cy="457200"/>
          </a:xfrm>
          <a:prstGeom prst="rect">
            <a:avLst/>
          </a:prstGeom>
          <a:noFill/>
          <a:ln/>
        </p:spPr>
        <p:txBody>
          <a:bodyPr wrap="square" lIns="0" tIns="0" rIns="0" bIns="0" rtlCol="0" anchor="t"/>
          <a:lstStyle/>
          <a:p>
            <a:pPr rtl="1" algn="ctr" indent="0" marL="0">
              <a:buNone/>
            </a:pPr>
            <a:r>
              <a:rPr lang="ar-SA" altLang="en-US" sz="2000" dirty="0">
                <a:solidFill>
                  <a:srgbClr val="B9C4C4"/>
                </a:solidFill>
              </a:rPr>
              <a:t>إذن ماذا نصمم؟</a:t>
            </a:r>
            <a:endParaRPr lang="ar-SA" sz="2000" dirty="0"/>
          </a:p>
        </p:txBody>
      </p:sp>
      <p:sp>
        <p:nvSpPr>
          <p:cNvPr id="15" name="Text 11"/>
          <p:cNvSpPr txBox="1"/>
          <p:nvPr/>
        </p:nvSpPr>
        <p:spPr>
          <a:xfrm>
            <a:off x="548640" y="4023360"/>
            <a:ext cx="11094415" cy="1097280"/>
          </a:xfrm>
          <a:prstGeom prst="rect">
            <a:avLst/>
          </a:prstGeom>
          <a:noFill/>
          <a:ln/>
        </p:spPr>
        <p:txBody>
          <a:bodyPr wrap="square" lIns="0" tIns="0" rIns="0" bIns="0" rtlCol="0" anchor="t"/>
          <a:lstStyle/>
          <a:p>
            <a:pPr rtl="1" algn="ctr" indent="0" marL="0">
              <a:buNone/>
            </a:pPr>
            <a:r>
              <a:rPr lang="ar-SA" altLang="en-US" sz="6000" b="1" dirty="0">
                <a:solidFill>
                  <a:srgbClr val="FFFFFF"/>
                </a:solidFill>
              </a:rPr>
              <a:t>نحن نصمم الفراغ</a:t>
            </a:r>
            <a:endParaRPr lang="ar-SA" sz="6000" dirty="0"/>
          </a:p>
        </p:txBody>
      </p:sp>
      <p:sp>
        <p:nvSpPr>
          <p:cNvPr id="16" name="Text 12"/>
          <p:cNvSpPr txBox="1"/>
          <p:nvPr/>
        </p:nvSpPr>
        <p:spPr>
          <a:xfrm>
            <a:off x="548640" y="5166360"/>
            <a:ext cx="11094415" cy="548640"/>
          </a:xfrm>
          <a:prstGeom prst="rect">
            <a:avLst/>
          </a:prstGeom>
          <a:noFill/>
          <a:ln/>
        </p:spPr>
        <p:txBody>
          <a:bodyPr wrap="square" lIns="0" tIns="0" rIns="0" bIns="0" rtlCol="0" anchor="t"/>
          <a:lstStyle/>
          <a:p>
            <a:pPr algn="ctr" indent="0" marL="0">
              <a:buNone/>
            </a:pPr>
            <a:r>
              <a:rPr lang="en-US" sz="2400" b="1" spc="600" kern="0" dirty="0">
                <a:solidFill>
                  <a:srgbClr val="D9A441"/>
                </a:solidFill>
              </a:rPr>
              <a:t>WE DESIGN SPACE</a:t>
            </a:r>
            <a:endParaRPr lang="en-US" sz="2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06 — WHAT IS SPACE?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ما هو الفراغ؟</a:t>
            </a:r>
            <a:endParaRPr lang="ar-SA" sz="3200" dirty="0"/>
          </a:p>
        </p:txBody>
      </p:sp>
      <p:sp>
        <p:nvSpPr>
          <p:cNvPr id="4" name="definition"/>
          <p:cNvSpPr/>
          <p:nvPr/>
        </p:nvSpPr>
        <p:spPr>
          <a:xfrm>
            <a:off x="6766560" y="1554480"/>
            <a:ext cx="4876495" cy="1965960"/>
          </a:xfrm>
          <a:prstGeom prst="roundRect">
            <a:avLst>
              <a:gd name="adj" fmla="val 3721"/>
            </a:avLst>
          </a:prstGeom>
          <a:solidFill>
            <a:schemeClr val="tx1"/>
          </a:solidFill>
          <a:ln/>
        </p:spPr>
      </p:sp>
      <p:sp>
        <p:nvSpPr>
          <p:cNvPr id="5" name="Text 3"/>
          <p:cNvSpPr txBox="1"/>
          <p:nvPr/>
        </p:nvSpPr>
        <p:spPr>
          <a:xfrm>
            <a:off x="7040880" y="1737360"/>
            <a:ext cx="4327855" cy="411480"/>
          </a:xfrm>
          <a:prstGeom prst="rect">
            <a:avLst/>
          </a:prstGeom>
          <a:noFill/>
          <a:ln/>
        </p:spPr>
        <p:txBody>
          <a:bodyPr wrap="square" lIns="0" tIns="0" rIns="0" bIns="0" rtlCol="0" anchor="t"/>
          <a:lstStyle/>
          <a:p>
            <a:pPr rtl="1" algn="r" indent="0" marL="0">
              <a:buNone/>
            </a:pPr>
            <a:r>
              <a:rPr lang="ar-SA" altLang="en-US" sz="1700" dirty="0">
                <a:solidFill>
                  <a:srgbClr val="B9C4C4"/>
                </a:solidFill>
              </a:rPr>
              <a:t>الفراغ ليس مجرد مساحة فارغة؛</a:t>
            </a:r>
            <a:endParaRPr lang="ar-SA" sz="1700" dirty="0"/>
          </a:p>
        </p:txBody>
      </p:sp>
      <p:sp>
        <p:nvSpPr>
          <p:cNvPr id="6" name="Text 4"/>
          <p:cNvSpPr txBox="1"/>
          <p:nvPr/>
        </p:nvSpPr>
        <p:spPr>
          <a:xfrm>
            <a:off x="7040880" y="2148840"/>
            <a:ext cx="4327855" cy="914400"/>
          </a:xfrm>
          <a:prstGeom prst="rect">
            <a:avLst/>
          </a:prstGeom>
          <a:noFill/>
          <a:ln/>
        </p:spPr>
        <p:txBody>
          <a:bodyPr wrap="square" lIns="0" tIns="0" rIns="0" bIns="0" rtlCol="0" anchor="t"/>
          <a:lstStyle/>
          <a:p>
            <a:pPr rtl="1" algn="r" indent="0" marL="0">
              <a:buNone/>
            </a:pPr>
            <a:r>
              <a:rPr lang="ar-SA" altLang="en-US" sz="2200" b="1" dirty="0">
                <a:solidFill>
                  <a:srgbClr val="FFFFFF"/>
                </a:solidFill>
              </a:rPr>
              <a:t>هو الحيّز الذي يحدث داخله النشاط الإنساني.</a:t>
            </a:r>
            <a:endParaRPr lang="ar-SA" sz="2200" dirty="0"/>
          </a:p>
        </p:txBody>
      </p:sp>
      <p:sp>
        <p:nvSpPr>
          <p:cNvPr id="7" name="Bedroom circle"/>
          <p:cNvSpPr/>
          <p:nvPr/>
        </p:nvSpPr>
        <p:spPr>
          <a:xfrm>
            <a:off x="10957255" y="3886200"/>
            <a:ext cx="640080" cy="640080"/>
          </a:xfrm>
          <a:prstGeom prst="ellipse">
            <a:avLst/>
          </a:prstGeom>
          <a:solidFill>
            <a:srgbClr val="2F6B6A"/>
          </a:solidFill>
          <a:ln/>
        </p:spPr>
      </p:sp>
      <p:pic>
        <p:nvPicPr>
          <p:cNvPr id="8" name="Bedroom icon" descr="Bedroom">    </p:cNvPr>
          <p:cNvPicPr>
            <a:picLocks noChangeAspect="1"/>
          </p:cNvPicPr>
          <p:nvPr/>
        </p:nvPicPr>
        <p:blipFill>
          <a:blip r:embed="rId1"/>
          <a:stretch>
            <a:fillRect/>
          </a:stretch>
        </p:blipFill>
        <p:spPr>
          <a:xfrm>
            <a:off x="11117275" y="4046220"/>
            <a:ext cx="320040" cy="320040"/>
          </a:xfrm>
          <a:prstGeom prst="rect">
            <a:avLst/>
          </a:prstGeom>
        </p:spPr>
      </p:pic>
      <p:sp>
        <p:nvSpPr>
          <p:cNvPr id="9" name="Text 6"/>
          <p:cNvSpPr txBox="1"/>
          <p:nvPr/>
        </p:nvSpPr>
        <p:spPr>
          <a:xfrm>
            <a:off x="9174175" y="3886200"/>
            <a:ext cx="1645920" cy="365760"/>
          </a:xfrm>
          <a:prstGeom prst="rect">
            <a:avLst/>
          </a:prstGeom>
          <a:noFill/>
          <a:ln/>
        </p:spPr>
        <p:txBody>
          <a:bodyPr wrap="square" lIns="0" tIns="0" rIns="0" bIns="0" rtlCol="0" anchor="t"/>
          <a:lstStyle/>
          <a:p>
            <a:pPr rtl="1" algn="r" indent="0" marL="0">
              <a:buNone/>
            </a:pPr>
            <a:r>
              <a:rPr lang="ar-SA" altLang="en-US" sz="1600" b="1" dirty="0">
                <a:solidFill>
                  <a:srgbClr val="1F2224"/>
                </a:solidFill>
              </a:rPr>
              <a:t>غرفة النوم</a:t>
            </a:r>
            <a:endParaRPr lang="ar-SA" sz="1600" dirty="0"/>
          </a:p>
        </p:txBody>
      </p:sp>
      <p:sp>
        <p:nvSpPr>
          <p:cNvPr id="10" name="Text 7"/>
          <p:cNvSpPr txBox="1"/>
          <p:nvPr/>
        </p:nvSpPr>
        <p:spPr>
          <a:xfrm>
            <a:off x="9174175" y="4251960"/>
            <a:ext cx="1645920" cy="274320"/>
          </a:xfrm>
          <a:prstGeom prst="rect">
            <a:avLst/>
          </a:prstGeom>
          <a:noFill/>
          <a:ln/>
        </p:spPr>
        <p:txBody>
          <a:bodyPr wrap="square" lIns="0" tIns="0" rIns="0" bIns="0" rtlCol="0" anchor="t"/>
          <a:lstStyle/>
          <a:p>
            <a:pPr algn="r" indent="0" marL="0">
              <a:buNone/>
            </a:pPr>
            <a:r>
              <a:rPr lang="en-US" sz="1200" dirty="0">
                <a:solidFill>
                  <a:srgbClr val="5B6770"/>
                </a:solidFill>
              </a:rPr>
              <a:t>Bedroom</a:t>
            </a:r>
            <a:endParaRPr lang="en-US" sz="1200" dirty="0"/>
          </a:p>
        </p:txBody>
      </p:sp>
      <p:sp>
        <p:nvSpPr>
          <p:cNvPr id="11" name="Bedroom term 1"/>
          <p:cNvSpPr/>
          <p:nvPr/>
        </p:nvSpPr>
        <p:spPr>
          <a:xfrm>
            <a:off x="2224735" y="3904488"/>
            <a:ext cx="754380" cy="566928"/>
          </a:xfrm>
          <a:prstGeom prst="roundRect">
            <a:avLst>
              <a:gd name="adj" fmla="val 9677"/>
            </a:avLst>
          </a:prstGeom>
          <a:solidFill>
            <a:srgbClr val="C2593A"/>
          </a:solidFill>
          <a:ln/>
        </p:spPr>
      </p:sp>
      <p:sp>
        <p:nvSpPr>
          <p:cNvPr id="12" name="Text 9"/>
          <p:cNvSpPr txBox="1"/>
          <p:nvPr/>
        </p:nvSpPr>
        <p:spPr>
          <a:xfrm>
            <a:off x="2224735" y="3904488"/>
            <a:ext cx="754380" cy="566928"/>
          </a:xfrm>
          <a:prstGeom prst="rect">
            <a:avLst/>
          </a:prstGeom>
          <a:noFill/>
          <a:ln/>
        </p:spPr>
        <p:txBody>
          <a:bodyPr wrap="square" lIns="0" tIns="0" rIns="0" bIns="0" rtlCol="0" anchor="ctr"/>
          <a:lstStyle/>
          <a:p>
            <a:pPr algn="ctr" indent="0" marL="0">
              <a:buNone/>
            </a:pPr>
            <a:r>
              <a:rPr lang="en-US" sz="1300" b="1" dirty="0">
                <a:solidFill>
                  <a:srgbClr val="FFFFFF"/>
                </a:solidFill>
              </a:rPr>
              <a:t>Space</a:t>
            </a:r>
            <a:endParaRPr lang="en-US" sz="1300" dirty="0"/>
          </a:p>
        </p:txBody>
      </p:sp>
      <p:sp>
        <p:nvSpPr>
          <p:cNvPr id="13" name="Text 10"/>
          <p:cNvSpPr txBox="1"/>
          <p:nvPr/>
        </p:nvSpPr>
        <p:spPr>
          <a:xfrm>
            <a:off x="2979115" y="390448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14" name="Bedroom term 2"/>
          <p:cNvSpPr/>
          <p:nvPr/>
        </p:nvSpPr>
        <p:spPr>
          <a:xfrm>
            <a:off x="3253435" y="3904488"/>
            <a:ext cx="1014984" cy="566928"/>
          </a:xfrm>
          <a:prstGeom prst="roundRect">
            <a:avLst>
              <a:gd name="adj" fmla="val 9677"/>
            </a:avLst>
          </a:prstGeom>
          <a:solidFill>
            <a:schemeClr val="bg2"/>
          </a:solidFill>
          <a:ln/>
        </p:spPr>
      </p:sp>
      <p:sp>
        <p:nvSpPr>
          <p:cNvPr id="15" name="Text 12"/>
          <p:cNvSpPr txBox="1"/>
          <p:nvPr/>
        </p:nvSpPr>
        <p:spPr>
          <a:xfrm>
            <a:off x="3253435" y="3904488"/>
            <a:ext cx="1014984" cy="566928"/>
          </a:xfrm>
          <a:prstGeom prst="rect">
            <a:avLst/>
          </a:prstGeom>
          <a:noFill/>
          <a:ln/>
        </p:spPr>
        <p:txBody>
          <a:bodyPr wrap="square" lIns="0" tIns="0" rIns="0" bIns="0" rtlCol="0" anchor="ctr"/>
          <a:lstStyle/>
          <a:p>
            <a:pPr algn="ctr" indent="0" marL="0">
              <a:buNone/>
            </a:pPr>
            <a:r>
              <a:rPr lang="en-US" sz="1300" dirty="0">
                <a:solidFill>
                  <a:srgbClr val="1F2224"/>
                </a:solidFill>
              </a:rPr>
              <a:t>Sleeping</a:t>
            </a:r>
            <a:endParaRPr lang="en-US" sz="1300" dirty="0"/>
          </a:p>
        </p:txBody>
      </p:sp>
      <p:sp>
        <p:nvSpPr>
          <p:cNvPr id="16" name="Text 13"/>
          <p:cNvSpPr txBox="1"/>
          <p:nvPr/>
        </p:nvSpPr>
        <p:spPr>
          <a:xfrm>
            <a:off x="4268419" y="390448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17" name="Bedroom term 3"/>
          <p:cNvSpPr/>
          <p:nvPr/>
        </p:nvSpPr>
        <p:spPr>
          <a:xfrm>
            <a:off x="4542739" y="3904488"/>
            <a:ext cx="1014984" cy="566928"/>
          </a:xfrm>
          <a:prstGeom prst="roundRect">
            <a:avLst>
              <a:gd name="adj" fmla="val 9677"/>
            </a:avLst>
          </a:prstGeom>
          <a:solidFill>
            <a:schemeClr val="bg2"/>
          </a:solidFill>
          <a:ln/>
        </p:spPr>
      </p:sp>
      <p:sp>
        <p:nvSpPr>
          <p:cNvPr id="18" name="Text 15"/>
          <p:cNvSpPr txBox="1"/>
          <p:nvPr/>
        </p:nvSpPr>
        <p:spPr>
          <a:xfrm>
            <a:off x="4542739" y="3904488"/>
            <a:ext cx="1014984" cy="566928"/>
          </a:xfrm>
          <a:prstGeom prst="rect">
            <a:avLst/>
          </a:prstGeom>
          <a:noFill/>
          <a:ln/>
        </p:spPr>
        <p:txBody>
          <a:bodyPr wrap="square" lIns="0" tIns="0" rIns="0" bIns="0" rtlCol="0" anchor="ctr"/>
          <a:lstStyle/>
          <a:p>
            <a:pPr algn="ctr" indent="0" marL="0">
              <a:buNone/>
            </a:pPr>
            <a:r>
              <a:rPr lang="en-US" sz="1300" dirty="0">
                <a:solidFill>
                  <a:srgbClr val="1F2224"/>
                </a:solidFill>
              </a:rPr>
              <a:t>Movement</a:t>
            </a:r>
            <a:endParaRPr lang="en-US" sz="1300" dirty="0"/>
          </a:p>
        </p:txBody>
      </p:sp>
      <p:sp>
        <p:nvSpPr>
          <p:cNvPr id="19" name="Text 16"/>
          <p:cNvSpPr txBox="1"/>
          <p:nvPr/>
        </p:nvSpPr>
        <p:spPr>
          <a:xfrm>
            <a:off x="5557723" y="390448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20" name="Bedroom term 4"/>
          <p:cNvSpPr/>
          <p:nvPr/>
        </p:nvSpPr>
        <p:spPr>
          <a:xfrm>
            <a:off x="5832043" y="3904488"/>
            <a:ext cx="928116" cy="566928"/>
          </a:xfrm>
          <a:prstGeom prst="roundRect">
            <a:avLst>
              <a:gd name="adj" fmla="val 9677"/>
            </a:avLst>
          </a:prstGeom>
          <a:solidFill>
            <a:schemeClr val="bg2"/>
          </a:solidFill>
          <a:ln/>
        </p:spPr>
      </p:sp>
      <p:sp>
        <p:nvSpPr>
          <p:cNvPr id="21" name="Text 18"/>
          <p:cNvSpPr txBox="1"/>
          <p:nvPr/>
        </p:nvSpPr>
        <p:spPr>
          <a:xfrm>
            <a:off x="5832043" y="3904488"/>
            <a:ext cx="928116" cy="566928"/>
          </a:xfrm>
          <a:prstGeom prst="rect">
            <a:avLst/>
          </a:prstGeom>
          <a:noFill/>
          <a:ln/>
        </p:spPr>
        <p:txBody>
          <a:bodyPr wrap="square" lIns="0" tIns="0" rIns="0" bIns="0" rtlCol="0" anchor="ctr"/>
          <a:lstStyle/>
          <a:p>
            <a:pPr algn="ctr" indent="0" marL="0">
              <a:buNone/>
            </a:pPr>
            <a:r>
              <a:rPr lang="en-US" sz="1300" dirty="0">
                <a:solidFill>
                  <a:srgbClr val="1F2224"/>
                </a:solidFill>
              </a:rPr>
              <a:t>Storage</a:t>
            </a:r>
            <a:endParaRPr lang="en-US" sz="1300" dirty="0"/>
          </a:p>
        </p:txBody>
      </p:sp>
      <p:sp>
        <p:nvSpPr>
          <p:cNvPr id="22" name="Text 19"/>
          <p:cNvSpPr txBox="1"/>
          <p:nvPr/>
        </p:nvSpPr>
        <p:spPr>
          <a:xfrm>
            <a:off x="6760159" y="390448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23" name="Bedroom term 5"/>
          <p:cNvSpPr/>
          <p:nvPr/>
        </p:nvSpPr>
        <p:spPr>
          <a:xfrm>
            <a:off x="7034479" y="3904488"/>
            <a:ext cx="928116" cy="566928"/>
          </a:xfrm>
          <a:prstGeom prst="roundRect">
            <a:avLst>
              <a:gd name="adj" fmla="val 9677"/>
            </a:avLst>
          </a:prstGeom>
          <a:solidFill>
            <a:schemeClr val="bg2"/>
          </a:solidFill>
          <a:ln/>
        </p:spPr>
      </p:sp>
      <p:sp>
        <p:nvSpPr>
          <p:cNvPr id="24" name="Text 21"/>
          <p:cNvSpPr txBox="1"/>
          <p:nvPr/>
        </p:nvSpPr>
        <p:spPr>
          <a:xfrm>
            <a:off x="7034479" y="3904488"/>
            <a:ext cx="928116" cy="566928"/>
          </a:xfrm>
          <a:prstGeom prst="rect">
            <a:avLst/>
          </a:prstGeom>
          <a:noFill/>
          <a:ln/>
        </p:spPr>
        <p:txBody>
          <a:bodyPr wrap="square" lIns="0" tIns="0" rIns="0" bIns="0" rtlCol="0" anchor="ctr"/>
          <a:lstStyle/>
          <a:p>
            <a:pPr algn="ctr" indent="0" marL="0">
              <a:buNone/>
            </a:pPr>
            <a:r>
              <a:rPr lang="en-US" sz="1300" dirty="0">
                <a:solidFill>
                  <a:srgbClr val="1F2224"/>
                </a:solidFill>
              </a:rPr>
              <a:t>Privacy</a:t>
            </a:r>
            <a:endParaRPr lang="en-US" sz="1300" dirty="0"/>
          </a:p>
        </p:txBody>
      </p:sp>
      <p:sp>
        <p:nvSpPr>
          <p:cNvPr id="25" name="Text 22"/>
          <p:cNvSpPr txBox="1"/>
          <p:nvPr/>
        </p:nvSpPr>
        <p:spPr>
          <a:xfrm>
            <a:off x="7962595" y="390448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26" name="Bedroom term 6"/>
          <p:cNvSpPr/>
          <p:nvPr/>
        </p:nvSpPr>
        <p:spPr>
          <a:xfrm>
            <a:off x="8236915" y="3904488"/>
            <a:ext cx="754380" cy="566928"/>
          </a:xfrm>
          <a:prstGeom prst="roundRect">
            <a:avLst>
              <a:gd name="adj" fmla="val 9677"/>
            </a:avLst>
          </a:prstGeom>
          <a:solidFill>
            <a:schemeClr val="bg2"/>
          </a:solidFill>
          <a:ln/>
        </p:spPr>
      </p:sp>
      <p:sp>
        <p:nvSpPr>
          <p:cNvPr id="27" name="Text 24"/>
          <p:cNvSpPr txBox="1"/>
          <p:nvPr/>
        </p:nvSpPr>
        <p:spPr>
          <a:xfrm>
            <a:off x="8236915" y="3904488"/>
            <a:ext cx="754380" cy="566928"/>
          </a:xfrm>
          <a:prstGeom prst="rect">
            <a:avLst/>
          </a:prstGeom>
          <a:noFill/>
          <a:ln/>
        </p:spPr>
        <p:txBody>
          <a:bodyPr wrap="square" lIns="0" tIns="0" rIns="0" bIns="0" rtlCol="0" anchor="ctr"/>
          <a:lstStyle/>
          <a:p>
            <a:pPr algn="ctr" indent="0" marL="0">
              <a:buNone/>
            </a:pPr>
            <a:r>
              <a:rPr lang="en-US" sz="1300" dirty="0">
                <a:solidFill>
                  <a:srgbClr val="1F2224"/>
                </a:solidFill>
              </a:rPr>
              <a:t>Light</a:t>
            </a:r>
            <a:endParaRPr lang="en-US" sz="1300" dirty="0"/>
          </a:p>
        </p:txBody>
      </p:sp>
      <p:sp>
        <p:nvSpPr>
          <p:cNvPr id="28" name="Living Room circle"/>
          <p:cNvSpPr/>
          <p:nvPr/>
        </p:nvSpPr>
        <p:spPr>
          <a:xfrm>
            <a:off x="10957255" y="4983480"/>
            <a:ext cx="640080" cy="640080"/>
          </a:xfrm>
          <a:prstGeom prst="ellipse">
            <a:avLst/>
          </a:prstGeom>
          <a:solidFill>
            <a:srgbClr val="2F6B6A"/>
          </a:solidFill>
          <a:ln/>
        </p:spPr>
      </p:sp>
      <p:pic>
        <p:nvPicPr>
          <p:cNvPr id="29" name="Living Room icon" descr="Living Room">    </p:cNvPr>
          <p:cNvPicPr>
            <a:picLocks noChangeAspect="1"/>
          </p:cNvPicPr>
          <p:nvPr/>
        </p:nvPicPr>
        <p:blipFill>
          <a:blip r:embed="rId2"/>
          <a:stretch>
            <a:fillRect/>
          </a:stretch>
        </p:blipFill>
        <p:spPr>
          <a:xfrm>
            <a:off x="11117275" y="5143500"/>
            <a:ext cx="320040" cy="320040"/>
          </a:xfrm>
          <a:prstGeom prst="rect">
            <a:avLst/>
          </a:prstGeom>
        </p:spPr>
      </p:pic>
      <p:sp>
        <p:nvSpPr>
          <p:cNvPr id="30" name="Text 26"/>
          <p:cNvSpPr txBox="1"/>
          <p:nvPr/>
        </p:nvSpPr>
        <p:spPr>
          <a:xfrm>
            <a:off x="9174175" y="4983480"/>
            <a:ext cx="1645920" cy="365760"/>
          </a:xfrm>
          <a:prstGeom prst="rect">
            <a:avLst/>
          </a:prstGeom>
          <a:noFill/>
          <a:ln/>
        </p:spPr>
        <p:txBody>
          <a:bodyPr wrap="square" lIns="0" tIns="0" rIns="0" bIns="0" rtlCol="0" anchor="t"/>
          <a:lstStyle/>
          <a:p>
            <a:pPr rtl="1" algn="r" indent="0" marL="0">
              <a:buNone/>
            </a:pPr>
            <a:r>
              <a:rPr lang="ar-SA" altLang="en-US" sz="1600" b="1" dirty="0">
                <a:solidFill>
                  <a:srgbClr val="1F2224"/>
                </a:solidFill>
              </a:rPr>
              <a:t>غرفة المعيشة</a:t>
            </a:r>
            <a:endParaRPr lang="ar-SA" sz="1600" dirty="0"/>
          </a:p>
        </p:txBody>
      </p:sp>
      <p:sp>
        <p:nvSpPr>
          <p:cNvPr id="31" name="Text 27"/>
          <p:cNvSpPr txBox="1"/>
          <p:nvPr/>
        </p:nvSpPr>
        <p:spPr>
          <a:xfrm>
            <a:off x="9174175" y="5349240"/>
            <a:ext cx="1645920" cy="274320"/>
          </a:xfrm>
          <a:prstGeom prst="rect">
            <a:avLst/>
          </a:prstGeom>
          <a:noFill/>
          <a:ln/>
        </p:spPr>
        <p:txBody>
          <a:bodyPr wrap="square" lIns="0" tIns="0" rIns="0" bIns="0" rtlCol="0" anchor="t"/>
          <a:lstStyle/>
          <a:p>
            <a:pPr algn="r" indent="0" marL="0">
              <a:buNone/>
            </a:pPr>
            <a:r>
              <a:rPr lang="en-US" sz="1200" dirty="0">
                <a:solidFill>
                  <a:srgbClr val="5B6770"/>
                </a:solidFill>
              </a:rPr>
              <a:t>Living Room</a:t>
            </a:r>
            <a:endParaRPr lang="en-US" sz="1200" dirty="0"/>
          </a:p>
        </p:txBody>
      </p:sp>
      <p:sp>
        <p:nvSpPr>
          <p:cNvPr id="32" name="Living Room term 1"/>
          <p:cNvSpPr/>
          <p:nvPr/>
        </p:nvSpPr>
        <p:spPr>
          <a:xfrm>
            <a:off x="1863547" y="5001768"/>
            <a:ext cx="754380" cy="566928"/>
          </a:xfrm>
          <a:prstGeom prst="roundRect">
            <a:avLst>
              <a:gd name="adj" fmla="val 9677"/>
            </a:avLst>
          </a:prstGeom>
          <a:solidFill>
            <a:srgbClr val="C2593A"/>
          </a:solidFill>
          <a:ln/>
        </p:spPr>
      </p:sp>
      <p:sp>
        <p:nvSpPr>
          <p:cNvPr id="33" name="Text 29"/>
          <p:cNvSpPr txBox="1"/>
          <p:nvPr/>
        </p:nvSpPr>
        <p:spPr>
          <a:xfrm>
            <a:off x="1863547" y="5001768"/>
            <a:ext cx="754380" cy="566928"/>
          </a:xfrm>
          <a:prstGeom prst="rect">
            <a:avLst/>
          </a:prstGeom>
          <a:noFill/>
          <a:ln/>
        </p:spPr>
        <p:txBody>
          <a:bodyPr wrap="square" lIns="0" tIns="0" rIns="0" bIns="0" rtlCol="0" anchor="ctr"/>
          <a:lstStyle/>
          <a:p>
            <a:pPr algn="ctr" indent="0" marL="0">
              <a:buNone/>
            </a:pPr>
            <a:r>
              <a:rPr lang="en-US" sz="1300" b="1" dirty="0">
                <a:solidFill>
                  <a:srgbClr val="FFFFFF"/>
                </a:solidFill>
              </a:rPr>
              <a:t>Space</a:t>
            </a:r>
            <a:endParaRPr lang="en-US" sz="1300" dirty="0"/>
          </a:p>
        </p:txBody>
      </p:sp>
      <p:sp>
        <p:nvSpPr>
          <p:cNvPr id="34" name="Text 30"/>
          <p:cNvSpPr txBox="1"/>
          <p:nvPr/>
        </p:nvSpPr>
        <p:spPr>
          <a:xfrm>
            <a:off x="2617927" y="500176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35" name="Living Room term 2"/>
          <p:cNvSpPr/>
          <p:nvPr/>
        </p:nvSpPr>
        <p:spPr>
          <a:xfrm>
            <a:off x="2892247" y="5001768"/>
            <a:ext cx="928116" cy="566928"/>
          </a:xfrm>
          <a:prstGeom prst="roundRect">
            <a:avLst>
              <a:gd name="adj" fmla="val 9677"/>
            </a:avLst>
          </a:prstGeom>
          <a:solidFill>
            <a:schemeClr val="bg2"/>
          </a:solidFill>
          <a:ln/>
        </p:spPr>
      </p:sp>
      <p:sp>
        <p:nvSpPr>
          <p:cNvPr id="36" name="Text 32"/>
          <p:cNvSpPr txBox="1"/>
          <p:nvPr/>
        </p:nvSpPr>
        <p:spPr>
          <a:xfrm>
            <a:off x="2892247" y="5001768"/>
            <a:ext cx="928116" cy="566928"/>
          </a:xfrm>
          <a:prstGeom prst="rect">
            <a:avLst/>
          </a:prstGeom>
          <a:noFill/>
          <a:ln/>
        </p:spPr>
        <p:txBody>
          <a:bodyPr wrap="square" lIns="0" tIns="0" rIns="0" bIns="0" rtlCol="0" anchor="ctr"/>
          <a:lstStyle/>
          <a:p>
            <a:pPr algn="ctr" indent="0" marL="0">
              <a:buNone/>
            </a:pPr>
            <a:r>
              <a:rPr lang="en-US" sz="1300" dirty="0">
                <a:solidFill>
                  <a:srgbClr val="1F2224"/>
                </a:solidFill>
              </a:rPr>
              <a:t>Sitting</a:t>
            </a:r>
            <a:endParaRPr lang="en-US" sz="1300" dirty="0"/>
          </a:p>
        </p:txBody>
      </p:sp>
      <p:sp>
        <p:nvSpPr>
          <p:cNvPr id="37" name="Text 33"/>
          <p:cNvSpPr txBox="1"/>
          <p:nvPr/>
        </p:nvSpPr>
        <p:spPr>
          <a:xfrm>
            <a:off x="3820363" y="500176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38" name="Living Room term 3"/>
          <p:cNvSpPr/>
          <p:nvPr/>
        </p:nvSpPr>
        <p:spPr>
          <a:xfrm>
            <a:off x="4094683" y="5001768"/>
            <a:ext cx="1449324" cy="566928"/>
          </a:xfrm>
          <a:prstGeom prst="roundRect">
            <a:avLst>
              <a:gd name="adj" fmla="val 9677"/>
            </a:avLst>
          </a:prstGeom>
          <a:solidFill>
            <a:schemeClr val="bg2"/>
          </a:solidFill>
          <a:ln/>
        </p:spPr>
      </p:sp>
      <p:sp>
        <p:nvSpPr>
          <p:cNvPr id="39" name="Text 35"/>
          <p:cNvSpPr txBox="1"/>
          <p:nvPr/>
        </p:nvSpPr>
        <p:spPr>
          <a:xfrm>
            <a:off x="4094683" y="5001768"/>
            <a:ext cx="1449324" cy="566928"/>
          </a:xfrm>
          <a:prstGeom prst="rect">
            <a:avLst/>
          </a:prstGeom>
          <a:noFill/>
          <a:ln/>
        </p:spPr>
        <p:txBody>
          <a:bodyPr wrap="square" lIns="0" tIns="0" rIns="0" bIns="0" rtlCol="0" anchor="ctr"/>
          <a:lstStyle/>
          <a:p>
            <a:pPr algn="ctr" indent="0" marL="0">
              <a:buNone/>
            </a:pPr>
            <a:r>
              <a:rPr lang="en-US" sz="1300" dirty="0">
                <a:solidFill>
                  <a:srgbClr val="1F2224"/>
                </a:solidFill>
              </a:rPr>
              <a:t>Communication</a:t>
            </a:r>
            <a:endParaRPr lang="en-US" sz="1300" dirty="0"/>
          </a:p>
        </p:txBody>
      </p:sp>
      <p:sp>
        <p:nvSpPr>
          <p:cNvPr id="40" name="Text 36"/>
          <p:cNvSpPr txBox="1"/>
          <p:nvPr/>
        </p:nvSpPr>
        <p:spPr>
          <a:xfrm>
            <a:off x="5544007" y="500176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41" name="Living Room term 4"/>
          <p:cNvSpPr/>
          <p:nvPr/>
        </p:nvSpPr>
        <p:spPr>
          <a:xfrm>
            <a:off x="5818327" y="5001768"/>
            <a:ext cx="1014984" cy="566928"/>
          </a:xfrm>
          <a:prstGeom prst="roundRect">
            <a:avLst>
              <a:gd name="adj" fmla="val 9677"/>
            </a:avLst>
          </a:prstGeom>
          <a:solidFill>
            <a:schemeClr val="bg2"/>
          </a:solidFill>
          <a:ln/>
        </p:spPr>
      </p:sp>
      <p:sp>
        <p:nvSpPr>
          <p:cNvPr id="42" name="Text 38"/>
          <p:cNvSpPr txBox="1"/>
          <p:nvPr/>
        </p:nvSpPr>
        <p:spPr>
          <a:xfrm>
            <a:off x="5818327" y="5001768"/>
            <a:ext cx="1014984" cy="566928"/>
          </a:xfrm>
          <a:prstGeom prst="rect">
            <a:avLst/>
          </a:prstGeom>
          <a:noFill/>
          <a:ln/>
        </p:spPr>
        <p:txBody>
          <a:bodyPr wrap="square" lIns="0" tIns="0" rIns="0" bIns="0" rtlCol="0" anchor="ctr"/>
          <a:lstStyle/>
          <a:p>
            <a:pPr algn="ctr" indent="0" marL="0">
              <a:buNone/>
            </a:pPr>
            <a:r>
              <a:rPr lang="en-US" sz="1300" dirty="0">
                <a:solidFill>
                  <a:srgbClr val="1F2224"/>
                </a:solidFill>
              </a:rPr>
              <a:t>Movement</a:t>
            </a:r>
            <a:endParaRPr lang="en-US" sz="1300" dirty="0"/>
          </a:p>
        </p:txBody>
      </p:sp>
      <p:sp>
        <p:nvSpPr>
          <p:cNvPr id="43" name="Text 39"/>
          <p:cNvSpPr txBox="1"/>
          <p:nvPr/>
        </p:nvSpPr>
        <p:spPr>
          <a:xfrm>
            <a:off x="6833311" y="5001768"/>
            <a:ext cx="274320" cy="566928"/>
          </a:xfrm>
          <a:prstGeom prst="rect">
            <a:avLst/>
          </a:prstGeom>
          <a:noFill/>
          <a:ln/>
        </p:spPr>
        <p:txBody>
          <a:bodyPr wrap="square" lIns="0" tIns="0" rIns="0" bIns="0" rtlCol="0" anchor="ctr"/>
          <a:lstStyle/>
          <a:p>
            <a:pPr algn="ctr" indent="0" marL="0">
              <a:buNone/>
            </a:pPr>
            <a:r>
              <a:rPr lang="en-US" sz="1600" b="1" dirty="0">
                <a:solidFill>
                  <a:srgbClr val="8A9A9B"/>
                </a:solidFill>
              </a:rPr>
              <a:t>+</a:t>
            </a:r>
            <a:endParaRPr lang="en-US" sz="1600" dirty="0"/>
          </a:p>
        </p:txBody>
      </p:sp>
      <p:sp>
        <p:nvSpPr>
          <p:cNvPr id="44" name="Living Room term 5"/>
          <p:cNvSpPr/>
          <p:nvPr/>
        </p:nvSpPr>
        <p:spPr>
          <a:xfrm>
            <a:off x="7107631" y="5001768"/>
            <a:ext cx="1883664" cy="566928"/>
          </a:xfrm>
          <a:prstGeom prst="roundRect">
            <a:avLst>
              <a:gd name="adj" fmla="val 9677"/>
            </a:avLst>
          </a:prstGeom>
          <a:solidFill>
            <a:schemeClr val="bg2"/>
          </a:solidFill>
          <a:ln/>
        </p:spPr>
      </p:sp>
      <p:sp>
        <p:nvSpPr>
          <p:cNvPr id="45" name="Text 41"/>
          <p:cNvSpPr txBox="1"/>
          <p:nvPr/>
        </p:nvSpPr>
        <p:spPr>
          <a:xfrm>
            <a:off x="7107631" y="5001768"/>
            <a:ext cx="1883664" cy="566928"/>
          </a:xfrm>
          <a:prstGeom prst="rect">
            <a:avLst/>
          </a:prstGeom>
          <a:noFill/>
          <a:ln/>
        </p:spPr>
        <p:txBody>
          <a:bodyPr wrap="square" lIns="0" tIns="0" rIns="0" bIns="0" rtlCol="0" anchor="ctr"/>
          <a:lstStyle/>
          <a:p>
            <a:pPr algn="ctr" indent="0" marL="0">
              <a:buNone/>
            </a:pPr>
            <a:r>
              <a:rPr lang="en-US" sz="1300" dirty="0">
                <a:solidFill>
                  <a:srgbClr val="1F2224"/>
                </a:solidFill>
              </a:rPr>
              <a:t>Social Interaction</a:t>
            </a:r>
            <a:endParaRPr lang="en-US" sz="1300" dirty="0"/>
          </a:p>
        </p:txBody>
      </p:sp>
      <p:sp>
        <p:nvSpPr>
          <p:cNvPr id="46" name="floor side A"/>
          <p:cNvSpPr/>
          <p:nvPr/>
        </p:nvSpPr>
        <p:spPr>
          <a:xfrm>
            <a:off x="1034064" y="3201314"/>
            <a:ext cx="1069056" cy="639166"/>
          </a:xfrm>
          <a:custGeom>
            <a:avLst/>
            <a:gdLst/>
            <a:ahLst/>
            <a:cxnLst/>
            <a:rect l="l" t="t" r="r" b="b"/>
            <a:pathLst>
              <a:path w="1069056" h="639166">
                <a:moveTo>
                  <a:pt x="0" y="21946"/>
                </a:moveTo>
                <a:lnTo>
                  <a:pt x="1069056" y="639166"/>
                </a:lnTo>
                <a:lnTo>
                  <a:pt x="1069056" y="617220"/>
                </a:lnTo>
                <a:lnTo>
                  <a:pt x="0" y="0"/>
                </a:lnTo>
                <a:close/>
              </a:path>
            </a:pathLst>
          </a:custGeom>
          <a:solidFill>
            <a:srgbClr val="B9C4C4"/>
          </a:solidFill>
          <a:ln w="6350">
            <a:solidFill>
              <a:srgbClr val="3A4146"/>
            </a:solidFill>
            <a:prstDash val="solid"/>
          </a:ln>
        </p:spPr>
      </p:sp>
      <p:sp>
        <p:nvSpPr>
          <p:cNvPr id="47" name="floor side B"/>
          <p:cNvSpPr/>
          <p:nvPr/>
        </p:nvSpPr>
        <p:spPr>
          <a:xfrm>
            <a:off x="2103120" y="3201314"/>
            <a:ext cx="1069056" cy="639166"/>
          </a:xfrm>
          <a:custGeom>
            <a:avLst/>
            <a:gdLst/>
            <a:ahLst/>
            <a:cxnLst/>
            <a:rect l="l" t="t" r="r" b="b"/>
            <a:pathLst>
              <a:path w="1069056" h="639166">
                <a:moveTo>
                  <a:pt x="1069056" y="21946"/>
                </a:moveTo>
                <a:lnTo>
                  <a:pt x="0" y="639166"/>
                </a:lnTo>
                <a:lnTo>
                  <a:pt x="0" y="617220"/>
                </a:lnTo>
                <a:lnTo>
                  <a:pt x="1069056" y="0"/>
                </a:lnTo>
                <a:close/>
              </a:path>
            </a:pathLst>
          </a:custGeom>
          <a:solidFill>
            <a:srgbClr val="8A9A9B"/>
          </a:solidFill>
          <a:ln w="6350">
            <a:solidFill>
              <a:srgbClr val="3A4146"/>
            </a:solidFill>
            <a:prstDash val="solid"/>
          </a:ln>
        </p:spPr>
      </p:sp>
      <p:sp>
        <p:nvSpPr>
          <p:cNvPr id="48" name="floor top"/>
          <p:cNvSpPr/>
          <p:nvPr/>
        </p:nvSpPr>
        <p:spPr>
          <a:xfrm>
            <a:off x="1034064" y="2584094"/>
            <a:ext cx="2138113" cy="1234440"/>
          </a:xfrm>
          <a:custGeom>
            <a:avLst/>
            <a:gdLst/>
            <a:ahLst/>
            <a:cxnLst/>
            <a:rect l="l" t="t" r="r" b="b"/>
            <a:pathLst>
              <a:path w="2138113" h="1234440">
                <a:moveTo>
                  <a:pt x="1069056" y="0"/>
                </a:moveTo>
                <a:lnTo>
                  <a:pt x="2138113" y="617220"/>
                </a:lnTo>
                <a:lnTo>
                  <a:pt x="1069056" y="1234440"/>
                </a:lnTo>
                <a:lnTo>
                  <a:pt x="0" y="617220"/>
                </a:lnTo>
                <a:close/>
              </a:path>
            </a:pathLst>
          </a:custGeom>
          <a:solidFill>
            <a:srgbClr val="EEF0F0"/>
          </a:solidFill>
          <a:ln w="6350">
            <a:solidFill>
              <a:srgbClr val="3A4146"/>
            </a:solidFill>
            <a:prstDash val="solid"/>
          </a:ln>
        </p:spPr>
      </p:sp>
      <p:sp>
        <p:nvSpPr>
          <p:cNvPr id="49" name="wall a"/>
          <p:cNvSpPr/>
          <p:nvPr/>
        </p:nvSpPr>
        <p:spPr>
          <a:xfrm>
            <a:off x="2103120" y="1783080"/>
            <a:ext cx="1069056" cy="1418234"/>
          </a:xfrm>
          <a:custGeom>
            <a:avLst/>
            <a:gdLst/>
            <a:ahLst/>
            <a:cxnLst/>
            <a:rect l="l" t="t" r="r" b="b"/>
            <a:pathLst>
              <a:path w="1069056" h="1418234">
                <a:moveTo>
                  <a:pt x="0" y="801014"/>
                </a:moveTo>
                <a:lnTo>
                  <a:pt x="1069056" y="1418234"/>
                </a:lnTo>
                <a:lnTo>
                  <a:pt x="1069056" y="617220"/>
                </a:lnTo>
                <a:lnTo>
                  <a:pt x="0" y="0"/>
                </a:lnTo>
                <a:close/>
              </a:path>
            </a:pathLst>
          </a:custGeom>
          <a:solidFill>
            <a:srgbClr val="B9C4C4">
              <a:alpha val="70000"/>
            </a:srgbClr>
          </a:solidFill>
          <a:ln w="6350">
            <a:solidFill>
              <a:srgbClr val="3A4146"/>
            </a:solidFill>
            <a:prstDash val="solid"/>
          </a:ln>
        </p:spPr>
      </p:sp>
      <p:sp>
        <p:nvSpPr>
          <p:cNvPr id="50" name="wall b"/>
          <p:cNvSpPr/>
          <p:nvPr/>
        </p:nvSpPr>
        <p:spPr>
          <a:xfrm>
            <a:off x="1034064" y="1783080"/>
            <a:ext cx="1069056" cy="1418234"/>
          </a:xfrm>
          <a:custGeom>
            <a:avLst/>
            <a:gdLst/>
            <a:ahLst/>
            <a:cxnLst/>
            <a:rect l="l" t="t" r="r" b="b"/>
            <a:pathLst>
              <a:path w="1069056" h="1418234">
                <a:moveTo>
                  <a:pt x="1069056" y="801014"/>
                </a:moveTo>
                <a:lnTo>
                  <a:pt x="0" y="1418234"/>
                </a:lnTo>
                <a:lnTo>
                  <a:pt x="0" y="617220"/>
                </a:lnTo>
                <a:lnTo>
                  <a:pt x="1069056" y="0"/>
                </a:lnTo>
                <a:close/>
              </a:path>
            </a:pathLst>
          </a:custGeom>
          <a:solidFill>
            <a:srgbClr val="8A9A9B">
              <a:alpha val="70000"/>
            </a:srgbClr>
          </a:solidFill>
          <a:ln w="6350">
            <a:solidFill>
              <a:srgbClr val="3A4146"/>
            </a:solidFill>
            <a:prstDash val="solid"/>
          </a:ln>
        </p:spPr>
      </p:sp>
      <p:sp>
        <p:nvSpPr>
          <p:cNvPr id="51" name="Text 47"/>
          <p:cNvSpPr txBox="1"/>
          <p:nvPr/>
        </p:nvSpPr>
        <p:spPr>
          <a:xfrm>
            <a:off x="548640" y="1371600"/>
            <a:ext cx="4480560" cy="274320"/>
          </a:xfrm>
          <a:prstGeom prst="rect">
            <a:avLst/>
          </a:prstGeom>
          <a:noFill/>
          <a:ln/>
        </p:spPr>
        <p:txBody>
          <a:bodyPr wrap="square" lIns="0" tIns="0" rIns="0" bIns="0" rtlCol="0" anchor="t"/>
          <a:lstStyle/>
          <a:p>
            <a:pPr algn="l" indent="0" marL="0">
              <a:buNone/>
            </a:pPr>
            <a:r>
              <a:rPr lang="en-US" sz="1300" strike="sngStrike" dirty="0">
                <a:solidFill>
                  <a:srgbClr val="5B6770"/>
                </a:solidFill>
              </a:rPr>
              <a:t>4 Walls + Floor + Ceiling</a:t>
            </a:r>
            <a:endParaRPr lang="en-US" sz="1300" dirty="0"/>
          </a:p>
        </p:txBody>
      </p:sp>
      <p:sp>
        <p:nvSpPr>
          <p:cNvPr id="52" name="activity 1"/>
          <p:cNvSpPr/>
          <p:nvPr/>
        </p:nvSpPr>
        <p:spPr>
          <a:xfrm>
            <a:off x="1889221" y="3123590"/>
            <a:ext cx="237744" cy="237744"/>
          </a:xfrm>
          <a:prstGeom prst="ellipse">
            <a:avLst/>
          </a:prstGeom>
          <a:solidFill>
            <a:srgbClr val="C2593A"/>
          </a:solidFill>
          <a:ln w="12700">
            <a:solidFill>
              <a:srgbClr val="FFFFFF"/>
            </a:solidFill>
            <a:prstDash val="solid"/>
          </a:ln>
        </p:spPr>
      </p:sp>
      <p:sp>
        <p:nvSpPr>
          <p:cNvPr id="53" name="activity 2"/>
          <p:cNvSpPr/>
          <p:nvPr/>
        </p:nvSpPr>
        <p:spPr>
          <a:xfrm>
            <a:off x="2435627" y="3109874"/>
            <a:ext cx="237744" cy="237744"/>
          </a:xfrm>
          <a:prstGeom prst="ellipse">
            <a:avLst/>
          </a:prstGeom>
          <a:solidFill>
            <a:srgbClr val="C2593A"/>
          </a:solidFill>
          <a:ln w="12700">
            <a:solidFill>
              <a:srgbClr val="FFFFFF"/>
            </a:solidFill>
            <a:prstDash val="solid"/>
          </a:ln>
        </p:spPr>
      </p:sp>
      <p:sp>
        <p:nvSpPr>
          <p:cNvPr id="54" name="activity 3"/>
          <p:cNvSpPr/>
          <p:nvPr/>
        </p:nvSpPr>
        <p:spPr>
          <a:xfrm>
            <a:off x="1485355" y="3082442"/>
            <a:ext cx="237744" cy="237744"/>
          </a:xfrm>
          <a:prstGeom prst="ellipse">
            <a:avLst/>
          </a:prstGeom>
          <a:solidFill>
            <a:srgbClr val="C2593A"/>
          </a:solidFill>
          <a:ln w="12700">
            <a:solidFill>
              <a:srgbClr val="FFFFFF"/>
            </a:solidFill>
            <a:prstDash val="solid"/>
          </a:ln>
        </p:spPr>
      </p:sp>
      <p:sp>
        <p:nvSpPr>
          <p:cNvPr id="55" name="conclusion band"/>
          <p:cNvSpPr/>
          <p:nvPr/>
        </p:nvSpPr>
        <p:spPr>
          <a:xfrm>
            <a:off x="548640" y="5715000"/>
            <a:ext cx="11094415" cy="502920"/>
          </a:xfrm>
          <a:prstGeom prst="rect">
            <a:avLst/>
          </a:prstGeom>
          <a:solidFill>
            <a:schemeClr val="bg2"/>
          </a:solidFill>
          <a:ln/>
        </p:spPr>
      </p:sp>
      <p:sp>
        <p:nvSpPr>
          <p:cNvPr id="56" name="Text 52"/>
          <p:cNvSpPr txBox="1"/>
          <p:nvPr/>
        </p:nvSpPr>
        <p:spPr>
          <a:xfrm>
            <a:off x="822960" y="5715000"/>
            <a:ext cx="10545775" cy="502920"/>
          </a:xfrm>
          <a:prstGeom prst="rect">
            <a:avLst/>
          </a:prstGeom>
          <a:noFill/>
          <a:ln/>
        </p:spPr>
        <p:txBody>
          <a:bodyPr wrap="square" lIns="0" tIns="0" rIns="0" bIns="0" rtlCol="0" anchor="ctr"/>
          <a:lstStyle/>
          <a:p>
            <a:pPr rtl="1" algn="r" indent="0" marL="0">
              <a:buNone/>
            </a:pPr>
            <a:r>
              <a:rPr lang="ar-SA" altLang="en-US" sz="1600" b="1" dirty="0">
                <a:solidFill>
                  <a:srgbClr val="2F6B6A"/>
                </a:solidFill>
              </a:rPr>
              <a:t>إذن: الفراغ يتحدد من خلال ما يحدث داخله، وليس من خلال أبعاده فقط.</a:t>
            </a:r>
            <a:endParaRPr lang="ar-SA"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07 — PRIMARY ELEMENTS OF FORM</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عناصر تشكيل الفراغ</a:t>
            </a:r>
            <a:endParaRPr lang="ar-SA" sz="3200" dirty="0"/>
          </a:p>
        </p:txBody>
      </p:sp>
      <p:sp>
        <p:nvSpPr>
          <p:cNvPr id="4" name="Text 2"/>
          <p:cNvSpPr txBox="1"/>
          <p:nvPr/>
        </p:nvSpPr>
        <p:spPr>
          <a:xfrm>
            <a:off x="548640" y="1463040"/>
            <a:ext cx="11094415" cy="411480"/>
          </a:xfrm>
          <a:prstGeom prst="rect">
            <a:avLst/>
          </a:prstGeom>
          <a:noFill/>
          <a:ln/>
        </p:spPr>
        <p:txBody>
          <a:bodyPr wrap="square" lIns="0" tIns="0" rIns="0" bIns="0" rtlCol="0" anchor="t"/>
          <a:lstStyle/>
          <a:p>
            <a:pPr rtl="1" algn="r" indent="0" marL="0">
              <a:buNone/>
            </a:pPr>
            <a:r>
              <a:rPr lang="ar-SA" altLang="en-US" sz="1600" dirty="0">
                <a:solidFill>
                  <a:srgbClr val="3A4146"/>
                </a:solidFill>
              </a:rPr>
              <a:t>يقدّم المرجع العناصر الأولية للشكل؛ كل عنصر ينتج من امتداد العنصر الذي قبله في بُعد جديد.</a:t>
            </a:r>
            <a:endParaRPr lang="ar-SA" sz="1600" dirty="0"/>
          </a:p>
        </p:txBody>
      </p:sp>
      <p:sp>
        <p:nvSpPr>
          <p:cNvPr id="5" name="POINT"/>
          <p:cNvSpPr/>
          <p:nvPr/>
        </p:nvSpPr>
        <p:spPr>
          <a:xfrm>
            <a:off x="9178061" y="2103120"/>
            <a:ext cx="2464994" cy="3977640"/>
          </a:xfrm>
          <a:prstGeom prst="roundRect">
            <a:avLst>
              <a:gd name="adj" fmla="val 2968"/>
            </a:avLst>
          </a:prstGeom>
          <a:solidFill>
            <a:schemeClr val="bg2"/>
          </a:solidFill>
          <a:ln/>
          <a:effectLst>
            <a:outerShdw sx="100000" sy="100000" kx="0" ky="0" algn="bl" rotWithShape="0" blurRad="101600" dist="25400" dir="5400000">
              <a:srgbClr val="000000">
                <a:alpha val="12000"/>
              </a:srgbClr>
            </a:outerShdw>
          </a:effectLst>
        </p:spPr>
      </p:sp>
      <p:sp>
        <p:nvSpPr>
          <p:cNvPr id="6" name="point"/>
          <p:cNvSpPr/>
          <p:nvPr/>
        </p:nvSpPr>
        <p:spPr>
          <a:xfrm>
            <a:off x="10291686" y="3035808"/>
            <a:ext cx="237744" cy="237744"/>
          </a:xfrm>
          <a:prstGeom prst="ellipse">
            <a:avLst/>
          </a:prstGeom>
          <a:solidFill>
            <a:srgbClr val="C2593A"/>
          </a:solidFill>
          <a:ln/>
        </p:spPr>
      </p:sp>
      <p:sp>
        <p:nvSpPr>
          <p:cNvPr id="7" name="Text 5"/>
          <p:cNvSpPr txBox="1"/>
          <p:nvPr/>
        </p:nvSpPr>
        <p:spPr>
          <a:xfrm>
            <a:off x="9178061" y="4023360"/>
            <a:ext cx="2464994" cy="411480"/>
          </a:xfrm>
          <a:prstGeom prst="rect">
            <a:avLst/>
          </a:prstGeom>
          <a:noFill/>
          <a:ln/>
        </p:spPr>
        <p:txBody>
          <a:bodyPr wrap="square" lIns="0" tIns="0" rIns="0" bIns="0" rtlCol="0" anchor="t"/>
          <a:lstStyle/>
          <a:p>
            <a:pPr algn="ctr" indent="0" marL="0">
              <a:buNone/>
            </a:pPr>
            <a:r>
              <a:rPr lang="en-US" sz="2000" b="1" spc="300" kern="0" dirty="0">
                <a:solidFill>
                  <a:srgbClr val="1F2224"/>
                </a:solidFill>
              </a:rPr>
              <a:t>POINT</a:t>
            </a:r>
            <a:endParaRPr lang="en-US" sz="2000" dirty="0"/>
          </a:p>
        </p:txBody>
      </p:sp>
      <p:sp>
        <p:nvSpPr>
          <p:cNvPr id="8" name="Text 6"/>
          <p:cNvSpPr txBox="1"/>
          <p:nvPr/>
        </p:nvSpPr>
        <p:spPr>
          <a:xfrm>
            <a:off x="9178061" y="4434840"/>
            <a:ext cx="2464994" cy="365760"/>
          </a:xfrm>
          <a:prstGeom prst="rect">
            <a:avLst/>
          </a:prstGeom>
          <a:noFill/>
          <a:ln/>
        </p:spPr>
        <p:txBody>
          <a:bodyPr wrap="square" lIns="0" tIns="0" rIns="0" bIns="0" rtlCol="0" anchor="t"/>
          <a:lstStyle/>
          <a:p>
            <a:pPr rtl="1" algn="ctr" indent="0" marL="0">
              <a:buNone/>
            </a:pPr>
            <a:r>
              <a:rPr lang="ar-SA" altLang="en-US" sz="1500" b="1" dirty="0">
                <a:solidFill>
                  <a:srgbClr val="C2593A"/>
                </a:solidFill>
              </a:rPr>
              <a:t>نقطة  ·  بُعد صفري</a:t>
            </a:r>
            <a:endParaRPr lang="ar-SA" sz="1500" dirty="0"/>
          </a:p>
        </p:txBody>
      </p:sp>
      <p:sp>
        <p:nvSpPr>
          <p:cNvPr id="9" name="Text 7"/>
          <p:cNvSpPr txBox="1"/>
          <p:nvPr/>
        </p:nvSpPr>
        <p:spPr>
          <a:xfrm>
            <a:off x="9406661" y="4846320"/>
            <a:ext cx="2007794" cy="777240"/>
          </a:xfrm>
          <a:prstGeom prst="rect">
            <a:avLst/>
          </a:prstGeom>
          <a:noFill/>
          <a:ln/>
        </p:spPr>
        <p:txBody>
          <a:bodyPr wrap="square" lIns="0" tIns="0" rIns="0" bIns="0" rtlCol="0" anchor="t"/>
          <a:lstStyle/>
          <a:p>
            <a:pPr rtl="1" algn="ctr" indent="0" marL="0">
              <a:buNone/>
            </a:pPr>
            <a:r>
              <a:rPr lang="ar-SA" altLang="en-US" sz="1300" dirty="0">
                <a:solidFill>
                  <a:srgbClr val="3A4146"/>
                </a:solidFill>
              </a:rPr>
              <a:t>يحدد موقعًا في الفراغ — بلا طول أو عرض أو عمق.</a:t>
            </a:r>
            <a:endParaRPr lang="ar-SA" sz="1300" dirty="0"/>
          </a:p>
        </p:txBody>
      </p:sp>
      <p:sp>
        <p:nvSpPr>
          <p:cNvPr id="10" name="Text 8"/>
          <p:cNvSpPr txBox="1"/>
          <p:nvPr/>
        </p:nvSpPr>
        <p:spPr>
          <a:xfrm>
            <a:off x="9178061" y="5623560"/>
            <a:ext cx="2464994" cy="320040"/>
          </a:xfrm>
          <a:prstGeom prst="rect">
            <a:avLst/>
          </a:prstGeom>
          <a:noFill/>
          <a:ln/>
        </p:spPr>
        <p:txBody>
          <a:bodyPr wrap="square" lIns="0" tIns="0" rIns="0" bIns="0" rtlCol="0" anchor="t"/>
          <a:lstStyle/>
          <a:p>
            <a:pPr algn="ctr" indent="0" marL="0">
              <a:buNone/>
            </a:pPr>
            <a:r>
              <a:rPr lang="en-US" sz="1200" i="1" dirty="0">
                <a:solidFill>
                  <a:srgbClr val="5B6770"/>
                </a:solidFill>
              </a:rPr>
              <a:t>Position</a:t>
            </a:r>
            <a:endParaRPr lang="en-US" sz="1200" dirty="0"/>
          </a:p>
        </p:txBody>
      </p:sp>
      <p:sp>
        <p:nvSpPr>
          <p:cNvPr id="11" name="progression arrow 1"/>
          <p:cNvSpPr/>
          <p:nvPr/>
        </p:nvSpPr>
        <p:spPr>
          <a:xfrm flipH="1">
            <a:off x="8812301" y="3154680"/>
            <a:ext cx="320040" cy="0"/>
          </a:xfrm>
          <a:prstGeom prst="line">
            <a:avLst/>
          </a:prstGeom>
          <a:noFill/>
          <a:ln w="25400">
            <a:solidFill>
              <a:srgbClr val="8A9A9B"/>
            </a:solidFill>
            <a:prstDash val="solid"/>
            <a:headEnd type="none"/>
            <a:tailEnd type="triangle"/>
          </a:ln>
        </p:spPr>
      </p:sp>
      <p:sp>
        <p:nvSpPr>
          <p:cNvPr id="12" name="LINE"/>
          <p:cNvSpPr/>
          <p:nvPr/>
        </p:nvSpPr>
        <p:spPr>
          <a:xfrm>
            <a:off x="6301588" y="2103120"/>
            <a:ext cx="2464994" cy="3977640"/>
          </a:xfrm>
          <a:prstGeom prst="roundRect">
            <a:avLst>
              <a:gd name="adj" fmla="val 2968"/>
            </a:avLst>
          </a:prstGeom>
          <a:solidFill>
            <a:schemeClr val="bg2"/>
          </a:solidFill>
          <a:ln/>
          <a:effectLst>
            <a:outerShdw sx="100000" sy="100000" kx="0" ky="0" algn="bl" rotWithShape="0" blurRad="101600" dist="25400" dir="5400000">
              <a:srgbClr val="000000">
                <a:alpha val="12000"/>
              </a:srgbClr>
            </a:outerShdw>
          </a:effectLst>
        </p:spPr>
      </p:sp>
      <p:sp>
        <p:nvSpPr>
          <p:cNvPr id="13" name="line"/>
          <p:cNvSpPr/>
          <p:nvPr/>
        </p:nvSpPr>
        <p:spPr>
          <a:xfrm>
            <a:off x="6665404" y="3154680"/>
            <a:ext cx="1737360" cy="0"/>
          </a:xfrm>
          <a:prstGeom prst="line">
            <a:avLst/>
          </a:prstGeom>
          <a:noFill/>
          <a:ln w="44450">
            <a:solidFill>
              <a:srgbClr val="C2593A"/>
            </a:solidFill>
            <a:prstDash val="solid"/>
          </a:ln>
        </p:spPr>
      </p:sp>
      <p:sp>
        <p:nvSpPr>
          <p:cNvPr id="14" name="line end a"/>
          <p:cNvSpPr/>
          <p:nvPr/>
        </p:nvSpPr>
        <p:spPr>
          <a:xfrm>
            <a:off x="6592252" y="3081528"/>
            <a:ext cx="146304" cy="146304"/>
          </a:xfrm>
          <a:prstGeom prst="ellipse">
            <a:avLst/>
          </a:prstGeom>
          <a:solidFill>
            <a:srgbClr val="1F2224"/>
          </a:solidFill>
          <a:ln/>
        </p:spPr>
      </p:sp>
      <p:sp>
        <p:nvSpPr>
          <p:cNvPr id="15" name="line end b"/>
          <p:cNvSpPr/>
          <p:nvPr/>
        </p:nvSpPr>
        <p:spPr>
          <a:xfrm>
            <a:off x="8329612" y="3081528"/>
            <a:ext cx="146304" cy="146304"/>
          </a:xfrm>
          <a:prstGeom prst="ellipse">
            <a:avLst/>
          </a:prstGeom>
          <a:solidFill>
            <a:srgbClr val="1F2224"/>
          </a:solidFill>
          <a:ln/>
        </p:spPr>
      </p:sp>
      <p:sp>
        <p:nvSpPr>
          <p:cNvPr id="16" name="Text 14"/>
          <p:cNvSpPr txBox="1"/>
          <p:nvPr/>
        </p:nvSpPr>
        <p:spPr>
          <a:xfrm>
            <a:off x="6301588" y="4023360"/>
            <a:ext cx="2464994" cy="411480"/>
          </a:xfrm>
          <a:prstGeom prst="rect">
            <a:avLst/>
          </a:prstGeom>
          <a:noFill/>
          <a:ln/>
        </p:spPr>
        <p:txBody>
          <a:bodyPr wrap="square" lIns="0" tIns="0" rIns="0" bIns="0" rtlCol="0" anchor="t"/>
          <a:lstStyle/>
          <a:p>
            <a:pPr algn="ctr" indent="0" marL="0">
              <a:buNone/>
            </a:pPr>
            <a:r>
              <a:rPr lang="en-US" sz="2000" b="1" spc="300" kern="0" dirty="0">
                <a:solidFill>
                  <a:srgbClr val="1F2224"/>
                </a:solidFill>
              </a:rPr>
              <a:t>LINE</a:t>
            </a:r>
            <a:endParaRPr lang="en-US" sz="2000" dirty="0"/>
          </a:p>
        </p:txBody>
      </p:sp>
      <p:sp>
        <p:nvSpPr>
          <p:cNvPr id="17" name="Text 15"/>
          <p:cNvSpPr txBox="1"/>
          <p:nvPr/>
        </p:nvSpPr>
        <p:spPr>
          <a:xfrm>
            <a:off x="6301588" y="4434840"/>
            <a:ext cx="2464994" cy="365760"/>
          </a:xfrm>
          <a:prstGeom prst="rect">
            <a:avLst/>
          </a:prstGeom>
          <a:noFill/>
          <a:ln/>
        </p:spPr>
        <p:txBody>
          <a:bodyPr wrap="square" lIns="0" tIns="0" rIns="0" bIns="0" rtlCol="0" anchor="t"/>
          <a:lstStyle/>
          <a:p>
            <a:pPr rtl="1" algn="ctr" indent="0" marL="0">
              <a:buNone/>
            </a:pPr>
            <a:r>
              <a:rPr lang="ar-SA" altLang="en-US" sz="1500" b="1" dirty="0">
                <a:solidFill>
                  <a:srgbClr val="C2593A"/>
                </a:solidFill>
              </a:rPr>
              <a:t>خط  ·  بُعد واحد</a:t>
            </a:r>
            <a:endParaRPr lang="ar-SA" sz="1500" dirty="0"/>
          </a:p>
        </p:txBody>
      </p:sp>
      <p:sp>
        <p:nvSpPr>
          <p:cNvPr id="18" name="Text 16"/>
          <p:cNvSpPr txBox="1"/>
          <p:nvPr/>
        </p:nvSpPr>
        <p:spPr>
          <a:xfrm>
            <a:off x="6530188" y="4846320"/>
            <a:ext cx="2007794" cy="777240"/>
          </a:xfrm>
          <a:prstGeom prst="rect">
            <a:avLst/>
          </a:prstGeom>
          <a:noFill/>
          <a:ln/>
        </p:spPr>
        <p:txBody>
          <a:bodyPr wrap="square" lIns="0" tIns="0" rIns="0" bIns="0" rtlCol="0" anchor="t"/>
          <a:lstStyle/>
          <a:p>
            <a:pPr rtl="1" algn="ctr" indent="0" marL="0">
              <a:buNone/>
            </a:pPr>
            <a:r>
              <a:rPr lang="ar-SA" altLang="en-US" sz="1300" dirty="0">
                <a:solidFill>
                  <a:srgbClr val="3A4146"/>
                </a:solidFill>
              </a:rPr>
              <a:t>امتداد النقطة؛ له طول واتجاه وموقع.</a:t>
            </a:r>
            <a:endParaRPr lang="ar-SA" sz="1300" dirty="0"/>
          </a:p>
        </p:txBody>
      </p:sp>
      <p:sp>
        <p:nvSpPr>
          <p:cNvPr id="19" name="Text 17"/>
          <p:cNvSpPr txBox="1"/>
          <p:nvPr/>
        </p:nvSpPr>
        <p:spPr>
          <a:xfrm>
            <a:off x="6301588" y="5623560"/>
            <a:ext cx="2464994" cy="320040"/>
          </a:xfrm>
          <a:prstGeom prst="rect">
            <a:avLst/>
          </a:prstGeom>
          <a:noFill/>
          <a:ln/>
        </p:spPr>
        <p:txBody>
          <a:bodyPr wrap="square" lIns="0" tIns="0" rIns="0" bIns="0" rtlCol="0" anchor="t"/>
          <a:lstStyle/>
          <a:p>
            <a:pPr algn="ctr" indent="0" marL="0">
              <a:buNone/>
            </a:pPr>
            <a:r>
              <a:rPr lang="en-US" sz="1200" i="1" dirty="0">
                <a:solidFill>
                  <a:srgbClr val="5B6770"/>
                </a:solidFill>
              </a:rPr>
              <a:t>Length · Direction</a:t>
            </a:r>
            <a:endParaRPr lang="en-US" sz="1200" dirty="0"/>
          </a:p>
        </p:txBody>
      </p:sp>
      <p:sp>
        <p:nvSpPr>
          <p:cNvPr id="20" name="progression arrow 2"/>
          <p:cNvSpPr/>
          <p:nvPr/>
        </p:nvSpPr>
        <p:spPr>
          <a:xfrm flipH="1">
            <a:off x="5935828" y="3154680"/>
            <a:ext cx="320040" cy="0"/>
          </a:xfrm>
          <a:prstGeom prst="line">
            <a:avLst/>
          </a:prstGeom>
          <a:noFill/>
          <a:ln w="25400">
            <a:solidFill>
              <a:srgbClr val="8A9A9B"/>
            </a:solidFill>
            <a:prstDash val="solid"/>
            <a:headEnd type="none"/>
            <a:tailEnd type="triangle"/>
          </a:ln>
        </p:spPr>
      </p:sp>
      <p:sp>
        <p:nvSpPr>
          <p:cNvPr id="21" name="PLANE"/>
          <p:cNvSpPr/>
          <p:nvPr/>
        </p:nvSpPr>
        <p:spPr>
          <a:xfrm>
            <a:off x="3425114" y="2103120"/>
            <a:ext cx="2464994" cy="3977640"/>
          </a:xfrm>
          <a:prstGeom prst="roundRect">
            <a:avLst>
              <a:gd name="adj" fmla="val 2968"/>
            </a:avLst>
          </a:prstGeom>
          <a:solidFill>
            <a:schemeClr val="bg2"/>
          </a:solidFill>
          <a:ln/>
          <a:effectLst>
            <a:outerShdw sx="100000" sy="100000" kx="0" ky="0" algn="bl" rotWithShape="0" blurRad="101600" dist="25400" dir="5400000">
              <a:srgbClr val="000000">
                <a:alpha val="12000"/>
              </a:srgbClr>
            </a:outerShdw>
          </a:effectLst>
        </p:spPr>
      </p:sp>
      <p:sp>
        <p:nvSpPr>
          <p:cNvPr id="22" name="plane"/>
          <p:cNvSpPr/>
          <p:nvPr/>
        </p:nvSpPr>
        <p:spPr>
          <a:xfrm>
            <a:off x="3813662" y="2651760"/>
            <a:ext cx="1596458" cy="921715"/>
          </a:xfrm>
          <a:custGeom>
            <a:avLst/>
            <a:gdLst/>
            <a:ahLst/>
            <a:cxnLst/>
            <a:rect l="l" t="t" r="r" b="b"/>
            <a:pathLst>
              <a:path w="1596458" h="921715">
                <a:moveTo>
                  <a:pt x="798229" y="0"/>
                </a:moveTo>
                <a:lnTo>
                  <a:pt x="1596458" y="460858"/>
                </a:lnTo>
                <a:lnTo>
                  <a:pt x="798229" y="921715"/>
                </a:lnTo>
                <a:lnTo>
                  <a:pt x="0" y="460858"/>
                </a:lnTo>
                <a:close/>
              </a:path>
            </a:pathLst>
          </a:custGeom>
          <a:solidFill>
            <a:srgbClr val="C2593A">
              <a:alpha val="85000"/>
            </a:srgbClr>
          </a:solidFill>
          <a:ln w="12700">
            <a:solidFill>
              <a:srgbClr val="1F2224"/>
            </a:solidFill>
            <a:prstDash val="solid"/>
          </a:ln>
        </p:spPr>
      </p:sp>
      <p:sp>
        <p:nvSpPr>
          <p:cNvPr id="23" name="Text 21"/>
          <p:cNvSpPr txBox="1"/>
          <p:nvPr/>
        </p:nvSpPr>
        <p:spPr>
          <a:xfrm>
            <a:off x="3425114" y="4023360"/>
            <a:ext cx="2464994" cy="411480"/>
          </a:xfrm>
          <a:prstGeom prst="rect">
            <a:avLst/>
          </a:prstGeom>
          <a:noFill/>
          <a:ln/>
        </p:spPr>
        <p:txBody>
          <a:bodyPr wrap="square" lIns="0" tIns="0" rIns="0" bIns="0" rtlCol="0" anchor="t"/>
          <a:lstStyle/>
          <a:p>
            <a:pPr algn="ctr" indent="0" marL="0">
              <a:buNone/>
            </a:pPr>
            <a:r>
              <a:rPr lang="en-US" sz="2000" b="1" spc="300" kern="0" dirty="0">
                <a:solidFill>
                  <a:srgbClr val="1F2224"/>
                </a:solidFill>
              </a:rPr>
              <a:t>PLANE</a:t>
            </a:r>
            <a:endParaRPr lang="en-US" sz="2000" dirty="0"/>
          </a:p>
        </p:txBody>
      </p:sp>
      <p:sp>
        <p:nvSpPr>
          <p:cNvPr id="24" name="Text 22"/>
          <p:cNvSpPr txBox="1"/>
          <p:nvPr/>
        </p:nvSpPr>
        <p:spPr>
          <a:xfrm>
            <a:off x="3425114" y="4434840"/>
            <a:ext cx="2464994" cy="365760"/>
          </a:xfrm>
          <a:prstGeom prst="rect">
            <a:avLst/>
          </a:prstGeom>
          <a:noFill/>
          <a:ln/>
        </p:spPr>
        <p:txBody>
          <a:bodyPr wrap="square" lIns="0" tIns="0" rIns="0" bIns="0" rtlCol="0" anchor="t"/>
          <a:lstStyle/>
          <a:p>
            <a:pPr rtl="1" algn="ctr" indent="0" marL="0">
              <a:buNone/>
            </a:pPr>
            <a:r>
              <a:rPr lang="ar-SA" altLang="en-US" sz="1500" b="1" dirty="0">
                <a:solidFill>
                  <a:srgbClr val="C2593A"/>
                </a:solidFill>
              </a:rPr>
              <a:t>مستوى  ·  بُعدان</a:t>
            </a:r>
            <a:endParaRPr lang="ar-SA" sz="1500" dirty="0"/>
          </a:p>
        </p:txBody>
      </p:sp>
      <p:sp>
        <p:nvSpPr>
          <p:cNvPr id="25" name="Text 23"/>
          <p:cNvSpPr txBox="1"/>
          <p:nvPr/>
        </p:nvSpPr>
        <p:spPr>
          <a:xfrm>
            <a:off x="3653714" y="4846320"/>
            <a:ext cx="2007794" cy="777240"/>
          </a:xfrm>
          <a:prstGeom prst="rect">
            <a:avLst/>
          </a:prstGeom>
          <a:noFill/>
          <a:ln/>
        </p:spPr>
        <p:txBody>
          <a:bodyPr wrap="square" lIns="0" tIns="0" rIns="0" bIns="0" rtlCol="0" anchor="t"/>
          <a:lstStyle/>
          <a:p>
            <a:pPr rtl="1" algn="ctr" indent="0" marL="0">
              <a:buNone/>
            </a:pPr>
            <a:r>
              <a:rPr lang="ar-SA" altLang="en-US" sz="1300" dirty="0">
                <a:solidFill>
                  <a:srgbClr val="3A4146"/>
                </a:solidFill>
              </a:rPr>
              <a:t>امتداد الخط؛ له طول وعرض وشكل وسطح واتجاه.</a:t>
            </a:r>
            <a:endParaRPr lang="ar-SA" sz="1300" dirty="0"/>
          </a:p>
        </p:txBody>
      </p:sp>
      <p:sp>
        <p:nvSpPr>
          <p:cNvPr id="26" name="Text 24"/>
          <p:cNvSpPr txBox="1"/>
          <p:nvPr/>
        </p:nvSpPr>
        <p:spPr>
          <a:xfrm>
            <a:off x="3425114" y="5623560"/>
            <a:ext cx="2464994" cy="320040"/>
          </a:xfrm>
          <a:prstGeom prst="rect">
            <a:avLst/>
          </a:prstGeom>
          <a:noFill/>
          <a:ln/>
        </p:spPr>
        <p:txBody>
          <a:bodyPr wrap="square" lIns="0" tIns="0" rIns="0" bIns="0" rtlCol="0" anchor="t"/>
          <a:lstStyle/>
          <a:p>
            <a:pPr algn="ctr" indent="0" marL="0">
              <a:buNone/>
            </a:pPr>
            <a:r>
              <a:rPr lang="en-US" sz="1200" i="1" dirty="0">
                <a:solidFill>
                  <a:srgbClr val="5B6770"/>
                </a:solidFill>
              </a:rPr>
              <a:t>Shape · Surface</a:t>
            </a:r>
            <a:endParaRPr lang="en-US" sz="1200" dirty="0"/>
          </a:p>
        </p:txBody>
      </p:sp>
      <p:sp>
        <p:nvSpPr>
          <p:cNvPr id="27" name="progression arrow 3"/>
          <p:cNvSpPr/>
          <p:nvPr/>
        </p:nvSpPr>
        <p:spPr>
          <a:xfrm flipH="1">
            <a:off x="3059354" y="3154680"/>
            <a:ext cx="320040" cy="0"/>
          </a:xfrm>
          <a:prstGeom prst="line">
            <a:avLst/>
          </a:prstGeom>
          <a:noFill/>
          <a:ln w="25400">
            <a:solidFill>
              <a:srgbClr val="8A9A9B"/>
            </a:solidFill>
            <a:prstDash val="solid"/>
            <a:headEnd type="none"/>
            <a:tailEnd type="triangle"/>
          </a:ln>
        </p:spPr>
      </p:sp>
      <p:sp>
        <p:nvSpPr>
          <p:cNvPr id="28" name="VOLUME"/>
          <p:cNvSpPr/>
          <p:nvPr/>
        </p:nvSpPr>
        <p:spPr>
          <a:xfrm>
            <a:off x="548640" y="2103120"/>
            <a:ext cx="2464994" cy="3977640"/>
          </a:xfrm>
          <a:prstGeom prst="roundRect">
            <a:avLst>
              <a:gd name="adj" fmla="val 2968"/>
            </a:avLst>
          </a:prstGeom>
          <a:solidFill>
            <a:schemeClr val="bg2"/>
          </a:solidFill>
          <a:ln/>
          <a:effectLst>
            <a:outerShdw sx="100000" sy="100000" kx="0" ky="0" algn="bl" rotWithShape="0" blurRad="101600" dist="25400" dir="5400000">
              <a:srgbClr val="000000">
                <a:alpha val="12000"/>
              </a:srgbClr>
            </a:outerShdw>
          </a:effectLst>
        </p:spPr>
      </p:sp>
      <p:sp>
        <p:nvSpPr>
          <p:cNvPr id="29" name="volume side A"/>
          <p:cNvSpPr/>
          <p:nvPr/>
        </p:nvSpPr>
        <p:spPr>
          <a:xfrm>
            <a:off x="1147622" y="2432304"/>
            <a:ext cx="633515" cy="950976"/>
          </a:xfrm>
          <a:custGeom>
            <a:avLst/>
            <a:gdLst/>
            <a:ahLst/>
            <a:cxnLst/>
            <a:rect l="l" t="t" r="r" b="b"/>
            <a:pathLst>
              <a:path w="633515" h="950976">
                <a:moveTo>
                  <a:pt x="0" y="585216"/>
                </a:moveTo>
                <a:lnTo>
                  <a:pt x="633515" y="950976"/>
                </a:lnTo>
                <a:lnTo>
                  <a:pt x="633515" y="365760"/>
                </a:lnTo>
                <a:lnTo>
                  <a:pt x="0" y="0"/>
                </a:lnTo>
                <a:close/>
              </a:path>
            </a:pathLst>
          </a:custGeom>
          <a:solidFill>
            <a:srgbClr val="9E4429"/>
          </a:solidFill>
          <a:ln w="12700">
            <a:solidFill>
              <a:srgbClr val="1F2224"/>
            </a:solidFill>
            <a:prstDash val="solid"/>
          </a:ln>
        </p:spPr>
      </p:sp>
      <p:sp>
        <p:nvSpPr>
          <p:cNvPr id="30" name="volume side B"/>
          <p:cNvSpPr/>
          <p:nvPr/>
        </p:nvSpPr>
        <p:spPr>
          <a:xfrm>
            <a:off x="1781137" y="2432304"/>
            <a:ext cx="633515" cy="950976"/>
          </a:xfrm>
          <a:custGeom>
            <a:avLst/>
            <a:gdLst/>
            <a:ahLst/>
            <a:cxnLst/>
            <a:rect l="l" t="t" r="r" b="b"/>
            <a:pathLst>
              <a:path w="633515" h="950976">
                <a:moveTo>
                  <a:pt x="633515" y="585216"/>
                </a:moveTo>
                <a:lnTo>
                  <a:pt x="0" y="950976"/>
                </a:lnTo>
                <a:lnTo>
                  <a:pt x="0" y="365760"/>
                </a:lnTo>
                <a:lnTo>
                  <a:pt x="633515" y="0"/>
                </a:lnTo>
                <a:close/>
              </a:path>
            </a:pathLst>
          </a:custGeom>
          <a:solidFill>
            <a:srgbClr val="B04F33"/>
          </a:solidFill>
          <a:ln w="12700">
            <a:solidFill>
              <a:srgbClr val="1F2224"/>
            </a:solidFill>
            <a:prstDash val="solid"/>
          </a:ln>
        </p:spPr>
      </p:sp>
      <p:sp>
        <p:nvSpPr>
          <p:cNvPr id="31" name="volume top"/>
          <p:cNvSpPr/>
          <p:nvPr/>
        </p:nvSpPr>
        <p:spPr>
          <a:xfrm>
            <a:off x="1147622" y="2066544"/>
            <a:ext cx="1267030" cy="731520"/>
          </a:xfrm>
          <a:custGeom>
            <a:avLst/>
            <a:gdLst/>
            <a:ahLst/>
            <a:cxnLst/>
            <a:rect l="l" t="t" r="r" b="b"/>
            <a:pathLst>
              <a:path w="1267030" h="731520">
                <a:moveTo>
                  <a:pt x="633515" y="0"/>
                </a:moveTo>
                <a:lnTo>
                  <a:pt x="1267030" y="365760"/>
                </a:lnTo>
                <a:lnTo>
                  <a:pt x="633515" y="731520"/>
                </a:lnTo>
                <a:lnTo>
                  <a:pt x="0" y="365760"/>
                </a:lnTo>
                <a:close/>
              </a:path>
            </a:pathLst>
          </a:custGeom>
          <a:solidFill>
            <a:srgbClr val="C2593A"/>
          </a:solidFill>
          <a:ln w="12700">
            <a:solidFill>
              <a:srgbClr val="1F2224"/>
            </a:solidFill>
            <a:prstDash val="solid"/>
          </a:ln>
        </p:spPr>
      </p:sp>
      <p:sp>
        <p:nvSpPr>
          <p:cNvPr id="32" name="Text 30"/>
          <p:cNvSpPr txBox="1"/>
          <p:nvPr/>
        </p:nvSpPr>
        <p:spPr>
          <a:xfrm>
            <a:off x="548640" y="4023360"/>
            <a:ext cx="2464994" cy="411480"/>
          </a:xfrm>
          <a:prstGeom prst="rect">
            <a:avLst/>
          </a:prstGeom>
          <a:noFill/>
          <a:ln/>
        </p:spPr>
        <p:txBody>
          <a:bodyPr wrap="square" lIns="0" tIns="0" rIns="0" bIns="0" rtlCol="0" anchor="t"/>
          <a:lstStyle/>
          <a:p>
            <a:pPr algn="ctr" indent="0" marL="0">
              <a:buNone/>
            </a:pPr>
            <a:r>
              <a:rPr lang="en-US" sz="2000" b="1" spc="300" kern="0" dirty="0">
                <a:solidFill>
                  <a:srgbClr val="1F2224"/>
                </a:solidFill>
              </a:rPr>
              <a:t>VOLUME</a:t>
            </a:r>
            <a:endParaRPr lang="en-US" sz="2000" dirty="0"/>
          </a:p>
        </p:txBody>
      </p:sp>
      <p:sp>
        <p:nvSpPr>
          <p:cNvPr id="33" name="Text 31"/>
          <p:cNvSpPr txBox="1"/>
          <p:nvPr/>
        </p:nvSpPr>
        <p:spPr>
          <a:xfrm>
            <a:off x="548640" y="4434840"/>
            <a:ext cx="2464994" cy="365760"/>
          </a:xfrm>
          <a:prstGeom prst="rect">
            <a:avLst/>
          </a:prstGeom>
          <a:noFill/>
          <a:ln/>
        </p:spPr>
        <p:txBody>
          <a:bodyPr wrap="square" lIns="0" tIns="0" rIns="0" bIns="0" rtlCol="0" anchor="t"/>
          <a:lstStyle/>
          <a:p>
            <a:pPr rtl="1" algn="ctr" indent="0" marL="0">
              <a:buNone/>
            </a:pPr>
            <a:r>
              <a:rPr lang="ar-SA" altLang="en-US" sz="1500" b="1" dirty="0">
                <a:solidFill>
                  <a:srgbClr val="C2593A"/>
                </a:solidFill>
              </a:rPr>
              <a:t>حجم  ·  ثلاثة أبعاد</a:t>
            </a:r>
            <a:endParaRPr lang="ar-SA" sz="1500" dirty="0"/>
          </a:p>
        </p:txBody>
      </p:sp>
      <p:sp>
        <p:nvSpPr>
          <p:cNvPr id="34" name="Text 32"/>
          <p:cNvSpPr txBox="1"/>
          <p:nvPr/>
        </p:nvSpPr>
        <p:spPr>
          <a:xfrm>
            <a:off x="777240" y="4846320"/>
            <a:ext cx="2007794" cy="777240"/>
          </a:xfrm>
          <a:prstGeom prst="rect">
            <a:avLst/>
          </a:prstGeom>
          <a:noFill/>
          <a:ln/>
        </p:spPr>
        <p:txBody>
          <a:bodyPr wrap="square" lIns="0" tIns="0" rIns="0" bIns="0" rtlCol="0" anchor="t"/>
          <a:lstStyle/>
          <a:p>
            <a:pPr rtl="1" algn="ctr" indent="0" marL="0">
              <a:buNone/>
            </a:pPr>
            <a:r>
              <a:rPr lang="ar-SA" altLang="en-US" sz="1300" dirty="0">
                <a:solidFill>
                  <a:srgbClr val="3A4146"/>
                </a:solidFill>
              </a:rPr>
              <a:t>امتداد المستوى في البُعد الثالث؛ له طول وعرض وعمق.</a:t>
            </a:r>
            <a:endParaRPr lang="ar-SA" sz="1300" dirty="0"/>
          </a:p>
        </p:txBody>
      </p:sp>
      <p:sp>
        <p:nvSpPr>
          <p:cNvPr id="35" name="Text 33"/>
          <p:cNvSpPr txBox="1"/>
          <p:nvPr/>
        </p:nvSpPr>
        <p:spPr>
          <a:xfrm>
            <a:off x="548640" y="5623560"/>
            <a:ext cx="2464994" cy="320040"/>
          </a:xfrm>
          <a:prstGeom prst="rect">
            <a:avLst/>
          </a:prstGeom>
          <a:noFill/>
          <a:ln/>
        </p:spPr>
        <p:txBody>
          <a:bodyPr wrap="square" lIns="0" tIns="0" rIns="0" bIns="0" rtlCol="0" anchor="t"/>
          <a:lstStyle/>
          <a:p>
            <a:pPr algn="ctr" indent="0" marL="0">
              <a:buNone/>
            </a:pPr>
            <a:r>
              <a:rPr lang="en-US" sz="1200" i="1" dirty="0">
                <a:solidFill>
                  <a:srgbClr val="5B6770"/>
                </a:solidFill>
              </a:rPr>
              <a:t>Form &amp; Space</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07-A — PLANE &amp; VOLUME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المستوى والحجم</a:t>
            </a:r>
            <a:endParaRPr lang="ar-SA" sz="3200" dirty="0"/>
          </a:p>
        </p:txBody>
      </p:sp>
      <p:sp>
        <p:nvSpPr>
          <p:cNvPr id="4" name="cube panel"/>
          <p:cNvSpPr/>
          <p:nvPr/>
        </p:nvSpPr>
        <p:spPr>
          <a:xfrm>
            <a:off x="548640" y="1554480"/>
            <a:ext cx="4846320" cy="4526280"/>
          </a:xfrm>
          <a:prstGeom prst="rect">
            <a:avLst/>
          </a:prstGeom>
          <a:solidFill>
            <a:schemeClr val="bg2"/>
          </a:solidFill>
          <a:ln/>
        </p:spPr>
      </p:sp>
      <p:sp>
        <p:nvSpPr>
          <p:cNvPr id="5" name="back top"/>
          <p:cNvSpPr/>
          <p:nvPr/>
        </p:nvSpPr>
        <p:spPr>
          <a:xfrm>
            <a:off x="2011680" y="2148840"/>
            <a:ext cx="2103120" cy="0"/>
          </a:xfrm>
          <a:prstGeom prst="line">
            <a:avLst/>
          </a:prstGeom>
          <a:noFill/>
          <a:ln w="25400">
            <a:solidFill>
              <a:srgbClr val="C2593A"/>
            </a:solidFill>
            <a:prstDash val="solid"/>
          </a:ln>
        </p:spPr>
      </p:sp>
      <p:sp>
        <p:nvSpPr>
          <p:cNvPr id="6" name="back right"/>
          <p:cNvSpPr/>
          <p:nvPr/>
        </p:nvSpPr>
        <p:spPr>
          <a:xfrm>
            <a:off x="4114800" y="2148840"/>
            <a:ext cx="0" cy="2103120"/>
          </a:xfrm>
          <a:prstGeom prst="line">
            <a:avLst/>
          </a:prstGeom>
          <a:noFill/>
          <a:ln w="25400">
            <a:solidFill>
              <a:srgbClr val="C2593A"/>
            </a:solidFill>
            <a:prstDash val="solid"/>
          </a:ln>
        </p:spPr>
      </p:sp>
      <p:sp>
        <p:nvSpPr>
          <p:cNvPr id="7" name="back bottom"/>
          <p:cNvSpPr/>
          <p:nvPr/>
        </p:nvSpPr>
        <p:spPr>
          <a:xfrm>
            <a:off x="2011680" y="4251960"/>
            <a:ext cx="2103120" cy="0"/>
          </a:xfrm>
          <a:prstGeom prst="line">
            <a:avLst/>
          </a:prstGeom>
          <a:noFill/>
          <a:ln w="25400">
            <a:solidFill>
              <a:srgbClr val="C2593A"/>
            </a:solidFill>
            <a:prstDash val="dash"/>
          </a:ln>
        </p:spPr>
      </p:sp>
      <p:sp>
        <p:nvSpPr>
          <p:cNvPr id="8" name="back left"/>
          <p:cNvSpPr/>
          <p:nvPr/>
        </p:nvSpPr>
        <p:spPr>
          <a:xfrm>
            <a:off x="2011680" y="2148840"/>
            <a:ext cx="0" cy="2103120"/>
          </a:xfrm>
          <a:prstGeom prst="line">
            <a:avLst/>
          </a:prstGeom>
          <a:noFill/>
          <a:ln w="25400">
            <a:solidFill>
              <a:srgbClr val="C2593A"/>
            </a:solidFill>
            <a:prstDash val="dash"/>
          </a:ln>
        </p:spPr>
      </p:sp>
      <p:sp>
        <p:nvSpPr>
          <p:cNvPr id="9" name="depth 0"/>
          <p:cNvSpPr/>
          <p:nvPr/>
        </p:nvSpPr>
        <p:spPr>
          <a:xfrm flipV="1">
            <a:off x="1234440" y="2148840"/>
            <a:ext cx="777240" cy="777240"/>
          </a:xfrm>
          <a:prstGeom prst="line">
            <a:avLst/>
          </a:prstGeom>
          <a:noFill/>
          <a:ln w="25400">
            <a:solidFill>
              <a:srgbClr val="C2593A"/>
            </a:solidFill>
            <a:prstDash val="solid"/>
          </a:ln>
        </p:spPr>
      </p:sp>
      <p:sp>
        <p:nvSpPr>
          <p:cNvPr id="10" name="depth 1"/>
          <p:cNvSpPr/>
          <p:nvPr/>
        </p:nvSpPr>
        <p:spPr>
          <a:xfrm flipV="1">
            <a:off x="3337560" y="2148840"/>
            <a:ext cx="777240" cy="777240"/>
          </a:xfrm>
          <a:prstGeom prst="line">
            <a:avLst/>
          </a:prstGeom>
          <a:noFill/>
          <a:ln w="25400">
            <a:solidFill>
              <a:srgbClr val="C2593A"/>
            </a:solidFill>
            <a:prstDash val="solid"/>
          </a:ln>
        </p:spPr>
      </p:sp>
      <p:sp>
        <p:nvSpPr>
          <p:cNvPr id="11" name="depth 2"/>
          <p:cNvSpPr/>
          <p:nvPr/>
        </p:nvSpPr>
        <p:spPr>
          <a:xfrm flipV="1">
            <a:off x="3337560" y="4251960"/>
            <a:ext cx="777240" cy="777240"/>
          </a:xfrm>
          <a:prstGeom prst="line">
            <a:avLst/>
          </a:prstGeom>
          <a:noFill/>
          <a:ln w="25400">
            <a:solidFill>
              <a:srgbClr val="C2593A"/>
            </a:solidFill>
            <a:prstDash val="solid"/>
          </a:ln>
        </p:spPr>
      </p:sp>
      <p:sp>
        <p:nvSpPr>
          <p:cNvPr id="12" name="depth 3"/>
          <p:cNvSpPr/>
          <p:nvPr/>
        </p:nvSpPr>
        <p:spPr>
          <a:xfrm flipV="1">
            <a:off x="1234440" y="4251960"/>
            <a:ext cx="777240" cy="777240"/>
          </a:xfrm>
          <a:prstGeom prst="line">
            <a:avLst/>
          </a:prstGeom>
          <a:noFill/>
          <a:ln w="25400">
            <a:solidFill>
              <a:srgbClr val="C2593A"/>
            </a:solidFill>
            <a:prstDash val="dash"/>
          </a:ln>
        </p:spPr>
      </p:sp>
      <p:sp>
        <p:nvSpPr>
          <p:cNvPr id="13" name="front face"/>
          <p:cNvSpPr/>
          <p:nvPr/>
        </p:nvSpPr>
        <p:spPr>
          <a:xfrm>
            <a:off x="1234440" y="2926080"/>
            <a:ext cx="2103120" cy="2103120"/>
          </a:xfrm>
          <a:custGeom>
            <a:avLst/>
            <a:gdLst/>
            <a:ahLst/>
            <a:cxnLst/>
            <a:rect l="l" t="t" r="r" b="b"/>
            <a:pathLst>
              <a:path w="2103120" h="2103120">
                <a:moveTo>
                  <a:pt x="0" y="0"/>
                </a:moveTo>
                <a:lnTo>
                  <a:pt x="2103120" y="0"/>
                </a:lnTo>
                <a:lnTo>
                  <a:pt x="2103120" y="2103120"/>
                </a:lnTo>
                <a:lnTo>
                  <a:pt x="0" y="2103120"/>
                </a:lnTo>
                <a:close/>
              </a:path>
            </a:pathLst>
          </a:custGeom>
          <a:solidFill>
            <a:srgbClr val="C2593A">
              <a:alpha val="15000"/>
            </a:srgbClr>
          </a:solidFill>
          <a:ln w="25400">
            <a:solidFill>
              <a:srgbClr val="C2593A"/>
            </a:solidFill>
            <a:prstDash val="solid"/>
          </a:ln>
        </p:spPr>
      </p:sp>
      <p:sp>
        <p:nvSpPr>
          <p:cNvPr id="14" name="vertex 0"/>
          <p:cNvSpPr/>
          <p:nvPr/>
        </p:nvSpPr>
        <p:spPr>
          <a:xfrm>
            <a:off x="1161288" y="2852928"/>
            <a:ext cx="146304" cy="146304"/>
          </a:xfrm>
          <a:prstGeom prst="ellipse">
            <a:avLst/>
          </a:prstGeom>
          <a:solidFill>
            <a:srgbClr val="1F2224"/>
          </a:solidFill>
          <a:ln/>
        </p:spPr>
      </p:sp>
      <p:sp>
        <p:nvSpPr>
          <p:cNvPr id="15" name="vertex 1"/>
          <p:cNvSpPr/>
          <p:nvPr/>
        </p:nvSpPr>
        <p:spPr>
          <a:xfrm>
            <a:off x="3264408" y="2852928"/>
            <a:ext cx="146304" cy="146304"/>
          </a:xfrm>
          <a:prstGeom prst="ellipse">
            <a:avLst/>
          </a:prstGeom>
          <a:solidFill>
            <a:srgbClr val="1F2224"/>
          </a:solidFill>
          <a:ln/>
        </p:spPr>
      </p:sp>
      <p:sp>
        <p:nvSpPr>
          <p:cNvPr id="16" name="vertex 2"/>
          <p:cNvSpPr/>
          <p:nvPr/>
        </p:nvSpPr>
        <p:spPr>
          <a:xfrm>
            <a:off x="3264408" y="4956048"/>
            <a:ext cx="146304" cy="146304"/>
          </a:xfrm>
          <a:prstGeom prst="ellipse">
            <a:avLst/>
          </a:prstGeom>
          <a:solidFill>
            <a:srgbClr val="1F2224"/>
          </a:solidFill>
          <a:ln/>
        </p:spPr>
      </p:sp>
      <p:sp>
        <p:nvSpPr>
          <p:cNvPr id="17" name="vertex 3"/>
          <p:cNvSpPr/>
          <p:nvPr/>
        </p:nvSpPr>
        <p:spPr>
          <a:xfrm>
            <a:off x="1161288" y="4956048"/>
            <a:ext cx="146304" cy="146304"/>
          </a:xfrm>
          <a:prstGeom prst="ellipse">
            <a:avLst/>
          </a:prstGeom>
          <a:solidFill>
            <a:srgbClr val="1F2224"/>
          </a:solidFill>
          <a:ln/>
        </p:spPr>
      </p:sp>
      <p:sp>
        <p:nvSpPr>
          <p:cNvPr id="18" name="vertex 4"/>
          <p:cNvSpPr/>
          <p:nvPr/>
        </p:nvSpPr>
        <p:spPr>
          <a:xfrm>
            <a:off x="1938528" y="2075688"/>
            <a:ext cx="146304" cy="146304"/>
          </a:xfrm>
          <a:prstGeom prst="ellipse">
            <a:avLst/>
          </a:prstGeom>
          <a:solidFill>
            <a:srgbClr val="1F2224"/>
          </a:solidFill>
          <a:ln/>
        </p:spPr>
      </p:sp>
      <p:sp>
        <p:nvSpPr>
          <p:cNvPr id="19" name="vertex 5"/>
          <p:cNvSpPr/>
          <p:nvPr/>
        </p:nvSpPr>
        <p:spPr>
          <a:xfrm>
            <a:off x="4041648" y="2075688"/>
            <a:ext cx="146304" cy="146304"/>
          </a:xfrm>
          <a:prstGeom prst="ellipse">
            <a:avLst/>
          </a:prstGeom>
          <a:solidFill>
            <a:srgbClr val="1F2224"/>
          </a:solidFill>
          <a:ln/>
        </p:spPr>
      </p:sp>
      <p:sp>
        <p:nvSpPr>
          <p:cNvPr id="20" name="vertex 6"/>
          <p:cNvSpPr/>
          <p:nvPr/>
        </p:nvSpPr>
        <p:spPr>
          <a:xfrm>
            <a:off x="4041648" y="4178808"/>
            <a:ext cx="146304" cy="146304"/>
          </a:xfrm>
          <a:prstGeom prst="ellipse">
            <a:avLst/>
          </a:prstGeom>
          <a:solidFill>
            <a:srgbClr val="1F2224"/>
          </a:solidFill>
          <a:ln/>
        </p:spPr>
      </p:sp>
      <p:sp>
        <p:nvSpPr>
          <p:cNvPr id="21" name="Text 19"/>
          <p:cNvSpPr txBox="1"/>
          <p:nvPr/>
        </p:nvSpPr>
        <p:spPr>
          <a:xfrm>
            <a:off x="640080" y="5257800"/>
            <a:ext cx="1508760" cy="274320"/>
          </a:xfrm>
          <a:prstGeom prst="rect">
            <a:avLst/>
          </a:prstGeom>
          <a:noFill/>
          <a:ln/>
        </p:spPr>
        <p:txBody>
          <a:bodyPr wrap="square" lIns="0" tIns="0" rIns="0" bIns="0" rtlCol="0" anchor="t"/>
          <a:lstStyle/>
          <a:p>
            <a:pPr algn="ctr" indent="0" marL="0">
              <a:buNone/>
            </a:pPr>
            <a:r>
              <a:rPr lang="en-US" sz="1200" b="1" dirty="0">
                <a:solidFill>
                  <a:srgbClr val="1F2224"/>
                </a:solidFill>
              </a:rPr>
              <a:t>Points / Vertices</a:t>
            </a:r>
            <a:endParaRPr lang="en-US" sz="1200" dirty="0"/>
          </a:p>
        </p:txBody>
      </p:sp>
      <p:sp>
        <p:nvSpPr>
          <p:cNvPr id="22" name="Text 20"/>
          <p:cNvSpPr txBox="1"/>
          <p:nvPr/>
        </p:nvSpPr>
        <p:spPr>
          <a:xfrm>
            <a:off x="640080" y="5532120"/>
            <a:ext cx="1508760" cy="502920"/>
          </a:xfrm>
          <a:prstGeom prst="rect">
            <a:avLst/>
          </a:prstGeom>
          <a:noFill/>
          <a:ln/>
        </p:spPr>
        <p:txBody>
          <a:bodyPr wrap="square" lIns="0" tIns="0" rIns="0" bIns="0" rtlCol="0" anchor="t"/>
          <a:lstStyle/>
          <a:p>
            <a:pPr rtl="1" algn="ctr" indent="0" marL="0">
              <a:buNone/>
            </a:pPr>
            <a:r>
              <a:rPr lang="ar-SA" altLang="en-US" sz="1100" dirty="0">
                <a:solidFill>
                  <a:srgbClr val="3A4146"/>
                </a:solidFill>
              </a:rPr>
              <a:t>النقاط — الرؤوس</a:t>
            </a:r>
            <a:endParaRPr lang="ar-SA" sz="1100" dirty="0"/>
          </a:p>
        </p:txBody>
      </p:sp>
      <p:sp>
        <p:nvSpPr>
          <p:cNvPr id="23" name="Text 21"/>
          <p:cNvSpPr txBox="1"/>
          <p:nvPr/>
        </p:nvSpPr>
        <p:spPr>
          <a:xfrm>
            <a:off x="2221992" y="5257800"/>
            <a:ext cx="1508760" cy="274320"/>
          </a:xfrm>
          <a:prstGeom prst="rect">
            <a:avLst/>
          </a:prstGeom>
          <a:noFill/>
          <a:ln/>
        </p:spPr>
        <p:txBody>
          <a:bodyPr wrap="square" lIns="0" tIns="0" rIns="0" bIns="0" rtlCol="0" anchor="t"/>
          <a:lstStyle/>
          <a:p>
            <a:pPr algn="ctr" indent="0" marL="0">
              <a:buNone/>
            </a:pPr>
            <a:r>
              <a:rPr lang="en-US" sz="1200" b="1" dirty="0">
                <a:solidFill>
                  <a:srgbClr val="1F2224"/>
                </a:solidFill>
              </a:rPr>
              <a:t>Lines / Edges</a:t>
            </a:r>
            <a:endParaRPr lang="en-US" sz="1200" dirty="0"/>
          </a:p>
        </p:txBody>
      </p:sp>
      <p:sp>
        <p:nvSpPr>
          <p:cNvPr id="24" name="Text 22"/>
          <p:cNvSpPr txBox="1"/>
          <p:nvPr/>
        </p:nvSpPr>
        <p:spPr>
          <a:xfrm>
            <a:off x="2221992" y="5532120"/>
            <a:ext cx="1508760" cy="502920"/>
          </a:xfrm>
          <a:prstGeom prst="rect">
            <a:avLst/>
          </a:prstGeom>
          <a:noFill/>
          <a:ln/>
        </p:spPr>
        <p:txBody>
          <a:bodyPr wrap="square" lIns="0" tIns="0" rIns="0" bIns="0" rtlCol="0" anchor="t"/>
          <a:lstStyle/>
          <a:p>
            <a:pPr rtl="1" algn="ctr" indent="0" marL="0">
              <a:buNone/>
            </a:pPr>
            <a:r>
              <a:rPr lang="ar-SA" altLang="en-US" sz="1100" dirty="0">
                <a:solidFill>
                  <a:srgbClr val="3A4146"/>
                </a:solidFill>
              </a:rPr>
              <a:t>الخطوط — الحواف (التقاء مستويين)</a:t>
            </a:r>
            <a:endParaRPr lang="ar-SA" sz="1100" dirty="0"/>
          </a:p>
        </p:txBody>
      </p:sp>
      <p:sp>
        <p:nvSpPr>
          <p:cNvPr id="25" name="Text 23"/>
          <p:cNvSpPr txBox="1"/>
          <p:nvPr/>
        </p:nvSpPr>
        <p:spPr>
          <a:xfrm>
            <a:off x="3803904" y="5257800"/>
            <a:ext cx="1508760" cy="274320"/>
          </a:xfrm>
          <a:prstGeom prst="rect">
            <a:avLst/>
          </a:prstGeom>
          <a:noFill/>
          <a:ln/>
        </p:spPr>
        <p:txBody>
          <a:bodyPr wrap="square" lIns="0" tIns="0" rIns="0" bIns="0" rtlCol="0" anchor="t"/>
          <a:lstStyle/>
          <a:p>
            <a:pPr algn="ctr" indent="0" marL="0">
              <a:buNone/>
            </a:pPr>
            <a:r>
              <a:rPr lang="en-US" sz="1200" b="1" dirty="0">
                <a:solidFill>
                  <a:srgbClr val="1F2224"/>
                </a:solidFill>
              </a:rPr>
              <a:t>Planes / Surfaces</a:t>
            </a:r>
            <a:endParaRPr lang="en-US" sz="1200" dirty="0"/>
          </a:p>
        </p:txBody>
      </p:sp>
      <p:sp>
        <p:nvSpPr>
          <p:cNvPr id="26" name="Text 24"/>
          <p:cNvSpPr txBox="1"/>
          <p:nvPr/>
        </p:nvSpPr>
        <p:spPr>
          <a:xfrm>
            <a:off x="3803904" y="5532120"/>
            <a:ext cx="1508760" cy="502920"/>
          </a:xfrm>
          <a:prstGeom prst="rect">
            <a:avLst/>
          </a:prstGeom>
          <a:noFill/>
          <a:ln/>
        </p:spPr>
        <p:txBody>
          <a:bodyPr wrap="square" lIns="0" tIns="0" rIns="0" bIns="0" rtlCol="0" anchor="t"/>
          <a:lstStyle/>
          <a:p>
            <a:pPr rtl="1" algn="ctr" indent="0" marL="0">
              <a:buNone/>
            </a:pPr>
            <a:r>
              <a:rPr lang="ar-SA" altLang="en-US" sz="1100" dirty="0">
                <a:solidFill>
                  <a:srgbClr val="3A4146"/>
                </a:solidFill>
              </a:rPr>
              <a:t>المستويات — الأسطح</a:t>
            </a:r>
            <a:endParaRPr lang="ar-SA" sz="1100" dirty="0"/>
          </a:p>
        </p:txBody>
      </p:sp>
      <p:sp>
        <p:nvSpPr>
          <p:cNvPr id="27" name="plane card"/>
          <p:cNvSpPr/>
          <p:nvPr/>
        </p:nvSpPr>
        <p:spPr>
          <a:xfrm>
            <a:off x="5715000" y="1554480"/>
            <a:ext cx="5928055" cy="2148840"/>
          </a:xfrm>
          <a:prstGeom prst="roundRect">
            <a:avLst>
              <a:gd name="adj" fmla="val 3404"/>
            </a:avLst>
          </a:prstGeom>
          <a:solidFill>
            <a:schemeClr val="bg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5989320" y="1691640"/>
            <a:ext cx="5379415" cy="320040"/>
          </a:xfrm>
          <a:prstGeom prst="rect">
            <a:avLst/>
          </a:prstGeom>
          <a:noFill/>
          <a:ln/>
        </p:spPr>
        <p:txBody>
          <a:bodyPr wrap="square" lIns="0" tIns="0" rIns="0" bIns="0" rtlCol="0" anchor="t"/>
          <a:lstStyle/>
          <a:p>
            <a:pPr algn="r" indent="0" marL="0">
              <a:buNone/>
            </a:pPr>
            <a:r>
              <a:rPr lang="en-US" sz="1600" b="1" spc="200" kern="0" dirty="0">
                <a:solidFill>
                  <a:srgbClr val="C2593A"/>
                </a:solidFill>
              </a:rPr>
              <a:t>PLANE</a:t>
            </a:r>
            <a:endParaRPr lang="en-US" sz="1600" dirty="0"/>
          </a:p>
        </p:txBody>
      </p:sp>
      <p:sp>
        <p:nvSpPr>
          <p:cNvPr id="29" name="Text 27"/>
          <p:cNvSpPr txBox="1"/>
          <p:nvPr/>
        </p:nvSpPr>
        <p:spPr>
          <a:xfrm>
            <a:off x="5989320" y="2057400"/>
            <a:ext cx="5379415" cy="1554480"/>
          </a:xfrm>
          <a:prstGeom prst="rect">
            <a:avLst/>
          </a:prstGeom>
          <a:noFill/>
          <a:ln/>
        </p:spPr>
        <p:txBody>
          <a:bodyPr wrap="square" lIns="0" tIns="0" rIns="0" bIns="0" rtlCol="0" anchor="t"/>
          <a:lstStyle/>
          <a:p>
            <a:pPr algn="r" marL="342900" indent="-342900">
              <a:spcAft>
                <a:spcPts val="600"/>
              </a:spcAft>
              <a:buSzPct val="100000"/>
              <a:buChar char="■"/>
            </a:pPr>
            <a:r>
              <a:rPr lang="ar-SA" altLang="en-US" sz="1400" dirty="0">
                <a:solidFill>
                  <a:srgbClr val="1F2224"/>
                </a:solidFill>
              </a:rPr>
              <a:t>الشكل (Shape) هو الخاصية الأساسية التي تميّز المستوى.</a:t>
            </a:r>
            <a:endParaRPr lang="ar-SA" sz="1400" dirty="0"/>
          </a:p>
          <a:p>
            <a:pPr algn="r" marL="342900" indent="-342900">
              <a:spcAft>
                <a:spcPts val="600"/>
              </a:spcAft>
              <a:buSzPct val="100000"/>
              <a:buChar char="■"/>
            </a:pPr>
            <a:r>
              <a:rPr lang="ar-SA" altLang="en-US" sz="1400" dirty="0">
                <a:solidFill>
                  <a:srgbClr val="1F2224"/>
                </a:solidFill>
              </a:rPr>
              <a:t>خصائص مكمّلة: السطح، اللون، النمط، الملمس — تؤثر في وزنه البصري واستقراره.</a:t>
            </a:r>
            <a:endParaRPr lang="ar-SA" sz="1400" dirty="0"/>
          </a:p>
          <a:p>
            <a:pPr algn="r" marL="342900" indent="-342900">
              <a:spcAft>
                <a:spcPts val="600"/>
              </a:spcAft>
              <a:buSzPct val="100000"/>
              <a:buChar char="■"/>
            </a:pPr>
            <a:r>
              <a:rPr lang="ar-SA" altLang="en-US" sz="1400" dirty="0">
                <a:solidFill>
                  <a:srgbClr val="1F2224"/>
                </a:solidFill>
              </a:rPr>
              <a:t>يعمل المستوى على تحديد حدود الحجم.</a:t>
            </a:r>
            <a:endParaRPr lang="ar-SA" sz="1400" dirty="0"/>
          </a:p>
        </p:txBody>
      </p:sp>
      <p:sp>
        <p:nvSpPr>
          <p:cNvPr id="30" name="volume card"/>
          <p:cNvSpPr/>
          <p:nvPr/>
        </p:nvSpPr>
        <p:spPr>
          <a:xfrm>
            <a:off x="5715000" y="3931920"/>
            <a:ext cx="5928055" cy="2148840"/>
          </a:xfrm>
          <a:prstGeom prst="roundRect">
            <a:avLst>
              <a:gd name="adj" fmla="val 3404"/>
            </a:avLst>
          </a:prstGeom>
          <a:solidFill>
            <a:schemeClr val="tx1"/>
          </a:solidFill>
          <a:ln/>
        </p:spPr>
      </p:sp>
      <p:sp>
        <p:nvSpPr>
          <p:cNvPr id="31" name="Text 29"/>
          <p:cNvSpPr txBox="1"/>
          <p:nvPr/>
        </p:nvSpPr>
        <p:spPr>
          <a:xfrm>
            <a:off x="5989320" y="4069080"/>
            <a:ext cx="5379415" cy="320040"/>
          </a:xfrm>
          <a:prstGeom prst="rect">
            <a:avLst/>
          </a:prstGeom>
          <a:noFill/>
          <a:ln/>
        </p:spPr>
        <p:txBody>
          <a:bodyPr wrap="square" lIns="0" tIns="0" rIns="0" bIns="0" rtlCol="0" anchor="t"/>
          <a:lstStyle/>
          <a:p>
            <a:pPr algn="r" indent="0" marL="0">
              <a:buNone/>
            </a:pPr>
            <a:r>
              <a:rPr lang="en-US" sz="1600" b="1" spc="200" kern="0" dirty="0">
                <a:solidFill>
                  <a:srgbClr val="D9A441"/>
                </a:solidFill>
              </a:rPr>
              <a:t>VOLUME</a:t>
            </a:r>
            <a:endParaRPr lang="en-US" sz="1600" dirty="0"/>
          </a:p>
        </p:txBody>
      </p:sp>
      <p:sp>
        <p:nvSpPr>
          <p:cNvPr id="32" name="Text 30"/>
          <p:cNvSpPr txBox="1"/>
          <p:nvPr/>
        </p:nvSpPr>
        <p:spPr>
          <a:xfrm>
            <a:off x="5989320" y="4434840"/>
            <a:ext cx="5379415" cy="1554480"/>
          </a:xfrm>
          <a:prstGeom prst="rect">
            <a:avLst/>
          </a:prstGeom>
          <a:noFill/>
          <a:ln/>
        </p:spPr>
        <p:txBody>
          <a:bodyPr wrap="square" lIns="0" tIns="0" rIns="0" bIns="0" rtlCol="0" anchor="t"/>
          <a:lstStyle/>
          <a:p>
            <a:pPr algn="r" marL="342900" indent="-342900">
              <a:spcAft>
                <a:spcPts val="600"/>
              </a:spcAft>
              <a:buSzPct val="100000"/>
              <a:buChar char="■"/>
            </a:pPr>
            <a:r>
              <a:rPr lang="ar-SA" altLang="en-US" sz="1400" dirty="0">
                <a:solidFill>
                  <a:srgbClr val="FFFFFF"/>
                </a:solidFill>
              </a:rPr>
              <a:t>الهيئة (Form) هي الخاصية الأساسية التي تميّز الحجم.</a:t>
            </a:r>
            <a:endParaRPr lang="ar-SA" sz="1400" dirty="0"/>
          </a:p>
          <a:p>
            <a:pPr algn="r" marL="342900" indent="-342900">
              <a:spcAft>
                <a:spcPts val="600"/>
              </a:spcAft>
              <a:buSzPct val="100000"/>
              <a:buChar char="■"/>
            </a:pPr>
            <a:r>
              <a:rPr lang="ar-SA" altLang="en-US" sz="1400" dirty="0">
                <a:solidFill>
                  <a:srgbClr val="FFFFFF"/>
                </a:solidFill>
              </a:rPr>
              <a:t>تتحدد بأشكال المستويات والعلاقات بينها.</a:t>
            </a:r>
            <a:endParaRPr lang="ar-SA" sz="1400" dirty="0"/>
          </a:p>
          <a:p>
            <a:pPr algn="r" marL="342900" indent="-342900">
              <a:spcAft>
                <a:spcPts val="600"/>
              </a:spcAft>
              <a:buSzPct val="100000"/>
              <a:buChar char="■"/>
            </a:pPr>
            <a:r>
              <a:rPr lang="ar-SA" altLang="en-US" sz="1400" dirty="0">
                <a:solidFill>
                  <a:srgbClr val="FFFFFF"/>
                </a:solidFill>
              </a:rPr>
              <a:t>الحجم إما كتلة صلبة (Solid) أو فراغ (Void) تحتويه المستويات — وهذا الفراغ هو ما نصممه.</a:t>
            </a:r>
            <a:endParaRPr lang="ar-SA"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08 — FROM ELEMENTS TO INTERIOR SPACE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من العناصر إلى الفراغ الداخلي</a:t>
            </a:r>
            <a:endParaRPr lang="ar-SA" sz="3200" dirty="0"/>
          </a:p>
        </p:txBody>
      </p:sp>
      <p:sp>
        <p:nvSpPr>
          <p:cNvPr id="4" name="Text 2"/>
          <p:cNvSpPr txBox="1"/>
          <p:nvPr/>
        </p:nvSpPr>
        <p:spPr>
          <a:xfrm>
            <a:off x="5852160" y="1463040"/>
            <a:ext cx="5790895" cy="640080"/>
          </a:xfrm>
          <a:prstGeom prst="rect">
            <a:avLst/>
          </a:prstGeom>
          <a:noFill/>
          <a:ln/>
        </p:spPr>
        <p:txBody>
          <a:bodyPr wrap="square" lIns="0" tIns="0" rIns="0" bIns="0" rtlCol="0" anchor="t"/>
          <a:lstStyle/>
          <a:p>
            <a:pPr rtl="1" algn="r" indent="0" marL="0">
              <a:buNone/>
            </a:pPr>
            <a:r>
              <a:rPr lang="ar-SA" altLang="en-US" sz="1500" dirty="0">
                <a:solidFill>
                  <a:srgbClr val="3A4146"/>
                </a:solidFill>
              </a:rPr>
              <a:t>المستوى (Plane) هو العنصر الأهم في تشكيل الفراغ الداخلي، ويظهر في ثلاثة أنواع عامة:</a:t>
            </a:r>
            <a:endParaRPr lang="ar-SA" sz="1500" dirty="0"/>
          </a:p>
        </p:txBody>
      </p:sp>
      <p:sp>
        <p:nvSpPr>
          <p:cNvPr id="5" name="base plane side A"/>
          <p:cNvSpPr/>
          <p:nvPr/>
        </p:nvSpPr>
        <p:spPr>
          <a:xfrm>
            <a:off x="1500671" y="4398264"/>
            <a:ext cx="1425409" cy="859536"/>
          </a:xfrm>
          <a:custGeom>
            <a:avLst/>
            <a:gdLst/>
            <a:ahLst/>
            <a:cxnLst/>
            <a:rect l="l" t="t" r="r" b="b"/>
            <a:pathLst>
              <a:path w="1425409" h="859536">
                <a:moveTo>
                  <a:pt x="0" y="36576"/>
                </a:moveTo>
                <a:lnTo>
                  <a:pt x="1425409" y="859536"/>
                </a:lnTo>
                <a:lnTo>
                  <a:pt x="1425409" y="822960"/>
                </a:lnTo>
                <a:lnTo>
                  <a:pt x="0" y="0"/>
                </a:lnTo>
                <a:close/>
              </a:path>
            </a:pathLst>
          </a:custGeom>
          <a:solidFill>
            <a:srgbClr val="9E4429"/>
          </a:solidFill>
          <a:ln w="9525">
            <a:solidFill>
              <a:srgbClr val="1F2224"/>
            </a:solidFill>
            <a:prstDash val="solid"/>
          </a:ln>
        </p:spPr>
      </p:sp>
      <p:sp>
        <p:nvSpPr>
          <p:cNvPr id="6" name="base plane side B"/>
          <p:cNvSpPr/>
          <p:nvPr/>
        </p:nvSpPr>
        <p:spPr>
          <a:xfrm>
            <a:off x="2926080" y="4398264"/>
            <a:ext cx="1425409" cy="859536"/>
          </a:xfrm>
          <a:custGeom>
            <a:avLst/>
            <a:gdLst/>
            <a:ahLst/>
            <a:cxnLst/>
            <a:rect l="l" t="t" r="r" b="b"/>
            <a:pathLst>
              <a:path w="1425409" h="859536">
                <a:moveTo>
                  <a:pt x="1425409" y="36576"/>
                </a:moveTo>
                <a:lnTo>
                  <a:pt x="0" y="859536"/>
                </a:lnTo>
                <a:lnTo>
                  <a:pt x="0" y="822960"/>
                </a:lnTo>
                <a:lnTo>
                  <a:pt x="1425409" y="0"/>
                </a:lnTo>
                <a:close/>
              </a:path>
            </a:pathLst>
          </a:custGeom>
          <a:solidFill>
            <a:srgbClr val="B04F33"/>
          </a:solidFill>
          <a:ln w="9525">
            <a:solidFill>
              <a:srgbClr val="1F2224"/>
            </a:solidFill>
            <a:prstDash val="solid"/>
          </a:ln>
        </p:spPr>
      </p:sp>
      <p:sp>
        <p:nvSpPr>
          <p:cNvPr id="7" name="base plane top"/>
          <p:cNvSpPr/>
          <p:nvPr/>
        </p:nvSpPr>
        <p:spPr>
          <a:xfrm>
            <a:off x="1500671" y="3575304"/>
            <a:ext cx="2850817" cy="1645920"/>
          </a:xfrm>
          <a:custGeom>
            <a:avLst/>
            <a:gdLst/>
            <a:ahLst/>
            <a:cxnLst/>
            <a:rect l="l" t="t" r="r" b="b"/>
            <a:pathLst>
              <a:path w="2850817" h="1645920">
                <a:moveTo>
                  <a:pt x="1425409" y="0"/>
                </a:moveTo>
                <a:lnTo>
                  <a:pt x="2850817" y="822960"/>
                </a:lnTo>
                <a:lnTo>
                  <a:pt x="1425409" y="1645920"/>
                </a:lnTo>
                <a:lnTo>
                  <a:pt x="0" y="822960"/>
                </a:lnTo>
                <a:close/>
              </a:path>
            </a:pathLst>
          </a:custGeom>
          <a:solidFill>
            <a:srgbClr val="C2593A"/>
          </a:solidFill>
          <a:ln w="9525">
            <a:solidFill>
              <a:srgbClr val="1F2224"/>
            </a:solidFill>
            <a:prstDash val="solid"/>
          </a:ln>
        </p:spPr>
      </p:sp>
      <p:sp>
        <p:nvSpPr>
          <p:cNvPr id="8" name="wall plane a"/>
          <p:cNvSpPr/>
          <p:nvPr/>
        </p:nvSpPr>
        <p:spPr>
          <a:xfrm>
            <a:off x="2926080" y="2368296"/>
            <a:ext cx="1425409" cy="1847088"/>
          </a:xfrm>
          <a:custGeom>
            <a:avLst/>
            <a:gdLst/>
            <a:ahLst/>
            <a:cxnLst/>
            <a:rect l="l" t="t" r="r" b="b"/>
            <a:pathLst>
              <a:path w="1425409" h="1847088">
                <a:moveTo>
                  <a:pt x="0" y="1024128"/>
                </a:moveTo>
                <a:lnTo>
                  <a:pt x="1425409" y="1847088"/>
                </a:lnTo>
                <a:lnTo>
                  <a:pt x="1425409" y="822960"/>
                </a:lnTo>
                <a:lnTo>
                  <a:pt x="0" y="0"/>
                </a:lnTo>
                <a:close/>
              </a:path>
            </a:pathLst>
          </a:custGeom>
          <a:solidFill>
            <a:srgbClr val="2F6B6A">
              <a:alpha val="90000"/>
            </a:srgbClr>
          </a:solidFill>
          <a:ln w="9525">
            <a:solidFill>
              <a:srgbClr val="1F2224"/>
            </a:solidFill>
            <a:prstDash val="solid"/>
          </a:ln>
        </p:spPr>
      </p:sp>
      <p:sp>
        <p:nvSpPr>
          <p:cNvPr id="9" name="wall plane b"/>
          <p:cNvSpPr/>
          <p:nvPr/>
        </p:nvSpPr>
        <p:spPr>
          <a:xfrm>
            <a:off x="1500671" y="2368296"/>
            <a:ext cx="1425409" cy="1847088"/>
          </a:xfrm>
          <a:custGeom>
            <a:avLst/>
            <a:gdLst/>
            <a:ahLst/>
            <a:cxnLst/>
            <a:rect l="l" t="t" r="r" b="b"/>
            <a:pathLst>
              <a:path w="1425409" h="1847088">
                <a:moveTo>
                  <a:pt x="1425409" y="1024128"/>
                </a:moveTo>
                <a:lnTo>
                  <a:pt x="0" y="1847088"/>
                </a:lnTo>
                <a:lnTo>
                  <a:pt x="0" y="822960"/>
                </a:lnTo>
                <a:lnTo>
                  <a:pt x="1425409" y="0"/>
                </a:lnTo>
                <a:close/>
              </a:path>
            </a:pathLst>
          </a:custGeom>
          <a:solidFill>
            <a:srgbClr val="4D8786"/>
          </a:solidFill>
          <a:ln w="9525">
            <a:solidFill>
              <a:srgbClr val="1F2224"/>
            </a:solidFill>
            <a:prstDash val="solid"/>
          </a:ln>
        </p:spPr>
      </p:sp>
      <p:sp>
        <p:nvSpPr>
          <p:cNvPr id="10" name="overhead plane"/>
          <p:cNvSpPr/>
          <p:nvPr/>
        </p:nvSpPr>
        <p:spPr>
          <a:xfrm>
            <a:off x="1500671" y="2002536"/>
            <a:ext cx="2850817" cy="1645920"/>
          </a:xfrm>
          <a:custGeom>
            <a:avLst/>
            <a:gdLst/>
            <a:ahLst/>
            <a:cxnLst/>
            <a:rect l="l" t="t" r="r" b="b"/>
            <a:pathLst>
              <a:path w="2850817" h="1645920">
                <a:moveTo>
                  <a:pt x="1425409" y="0"/>
                </a:moveTo>
                <a:lnTo>
                  <a:pt x="2850817" y="822960"/>
                </a:lnTo>
                <a:lnTo>
                  <a:pt x="1425409" y="1645920"/>
                </a:lnTo>
                <a:lnTo>
                  <a:pt x="0" y="822960"/>
                </a:lnTo>
                <a:close/>
              </a:path>
            </a:pathLst>
          </a:custGeom>
          <a:solidFill>
            <a:srgbClr val="D9A441">
              <a:alpha val="90000"/>
            </a:srgbClr>
          </a:solidFill>
          <a:ln w="9525">
            <a:solidFill>
              <a:srgbClr val="1F2224"/>
            </a:solidFill>
            <a:prstDash val="solid"/>
          </a:ln>
        </p:spPr>
      </p:sp>
      <p:sp>
        <p:nvSpPr>
          <p:cNvPr id="11" name="Overhead Plane"/>
          <p:cNvSpPr/>
          <p:nvPr/>
        </p:nvSpPr>
        <p:spPr>
          <a:xfrm>
            <a:off x="6035040" y="2148840"/>
            <a:ext cx="5608015" cy="1143000"/>
          </a:xfrm>
          <a:prstGeom prst="roundRect">
            <a:avLst>
              <a:gd name="adj" fmla="val 6400"/>
            </a:avLst>
          </a:prstGeom>
          <a:solidFill>
            <a:schemeClr val="bg2"/>
          </a:solidFill>
          <a:ln/>
          <a:effectLst>
            <a:outerShdw sx="100000" sy="100000" kx="0" ky="0" algn="bl" rotWithShape="0" blurRad="101600" dist="25400" dir="5400000">
              <a:srgbClr val="000000">
                <a:alpha val="12000"/>
              </a:srgbClr>
            </a:outerShdw>
          </a:effectLst>
        </p:spPr>
      </p:sp>
      <p:sp>
        <p:nvSpPr>
          <p:cNvPr id="12" name="Overhead Plane circle"/>
          <p:cNvSpPr/>
          <p:nvPr/>
        </p:nvSpPr>
        <p:spPr>
          <a:xfrm>
            <a:off x="10820095" y="2423160"/>
            <a:ext cx="594360" cy="594360"/>
          </a:xfrm>
          <a:prstGeom prst="ellipse">
            <a:avLst/>
          </a:prstGeom>
          <a:solidFill>
            <a:srgbClr val="D9A441"/>
          </a:solidFill>
          <a:ln/>
        </p:spPr>
      </p:sp>
      <p:pic>
        <p:nvPicPr>
          <p:cNvPr id="13" name="Overhead Plane icon" descr="Overhead Plane">    </p:cNvPr>
          <p:cNvPicPr>
            <a:picLocks noChangeAspect="1"/>
          </p:cNvPicPr>
          <p:nvPr/>
        </p:nvPicPr>
        <p:blipFill>
          <a:blip r:embed="rId1"/>
          <a:stretch>
            <a:fillRect/>
          </a:stretch>
        </p:blipFill>
        <p:spPr>
          <a:xfrm>
            <a:off x="10968685" y="2571750"/>
            <a:ext cx="297180" cy="297180"/>
          </a:xfrm>
          <a:prstGeom prst="rect">
            <a:avLst/>
          </a:prstGeom>
        </p:spPr>
      </p:pic>
      <p:pic>
        <p:nvPicPr>
          <p:cNvPr id="14" name="photo munich" descr="munich">    </p:cNvPr>
          <p:cNvPicPr>
            <a:picLocks noChangeAspect="1"/>
          </p:cNvPicPr>
          <p:nvPr/>
        </p:nvPicPr>
        <p:blipFill>
          <a:blip r:embed="rId2"/>
          <a:stretch>
            <a:fillRect/>
          </a:stretch>
        </p:blipFill>
        <p:spPr>
          <a:xfrm>
            <a:off x="6126480" y="2240280"/>
            <a:ext cx="1463040" cy="731520"/>
          </a:xfrm>
          <a:prstGeom prst="rect">
            <a:avLst/>
          </a:prstGeom>
        </p:spPr>
      </p:pic>
      <p:sp>
        <p:nvSpPr>
          <p:cNvPr id="15" name="Text 11"/>
          <p:cNvSpPr txBox="1"/>
          <p:nvPr/>
        </p:nvSpPr>
        <p:spPr>
          <a:xfrm>
            <a:off x="6126480" y="2999232"/>
            <a:ext cx="1463040" cy="228600"/>
          </a:xfrm>
          <a:prstGeom prst="rect">
            <a:avLst/>
          </a:prstGeom>
          <a:noFill/>
          <a:ln/>
        </p:spPr>
        <p:txBody>
          <a:bodyPr wrap="square" lIns="0" tIns="0" rIns="0" bIns="0" rtlCol="0" anchor="t"/>
          <a:lstStyle/>
          <a:p>
            <a:pPr algn="ctr" indent="0" marL="0">
              <a:buNone/>
            </a:pPr>
            <a:r>
              <a:rPr lang="en-US" sz="1000" i="1" dirty="0">
                <a:solidFill>
                  <a:srgbClr val="5B6770"/>
                </a:solidFill>
              </a:rPr>
              <a:t>Munich Olympic Stadium</a:t>
            </a:r>
            <a:endParaRPr lang="en-US" sz="1000" dirty="0"/>
          </a:p>
        </p:txBody>
      </p:sp>
      <p:sp>
        <p:nvSpPr>
          <p:cNvPr id="16" name="Text 12"/>
          <p:cNvSpPr txBox="1"/>
          <p:nvPr/>
        </p:nvSpPr>
        <p:spPr>
          <a:xfrm>
            <a:off x="7772400" y="2304288"/>
            <a:ext cx="2910535" cy="365760"/>
          </a:xfrm>
          <a:prstGeom prst="rect">
            <a:avLst/>
          </a:prstGeom>
          <a:noFill/>
          <a:ln/>
        </p:spPr>
        <p:txBody>
          <a:bodyPr wrap="square" lIns="0" tIns="0" rIns="0" bIns="0" rtlCol="0" anchor="t"/>
          <a:lstStyle/>
          <a:p>
            <a:pPr algn="r" indent="0" marL="0">
              <a:buNone/>
            </a:pPr>
            <a:r>
              <a:rPr lang="en-US" sz="1800" b="1" dirty="0">
                <a:solidFill>
                  <a:srgbClr val="1F2224"/>
                </a:solidFill>
              </a:rPr>
              <a:t>Overhead Plane</a:t>
            </a:r>
            <a:endParaRPr lang="en-US" sz="1800" dirty="0"/>
          </a:p>
        </p:txBody>
      </p:sp>
      <p:sp>
        <p:nvSpPr>
          <p:cNvPr id="17" name="Text 13"/>
          <p:cNvSpPr txBox="1"/>
          <p:nvPr/>
        </p:nvSpPr>
        <p:spPr>
          <a:xfrm>
            <a:off x="7772400" y="2679192"/>
            <a:ext cx="2910535" cy="548640"/>
          </a:xfrm>
          <a:prstGeom prst="rect">
            <a:avLst/>
          </a:prstGeom>
          <a:noFill/>
          <a:ln/>
        </p:spPr>
        <p:txBody>
          <a:bodyPr wrap="square" lIns="0" tIns="0" rIns="0" bIns="0" rtlCol="0" anchor="t"/>
          <a:lstStyle/>
          <a:p>
            <a:pPr rtl="1" algn="r" indent="0" marL="0">
              <a:buNone/>
            </a:pPr>
            <a:r>
              <a:rPr lang="ar-SA" altLang="en-US" sz="1300" dirty="0">
                <a:solidFill>
                  <a:srgbClr val="3A4146"/>
                </a:solidFill>
              </a:rPr>
              <a:t>السقف — سقف الفراغ أو سطح المبنى.</a:t>
            </a:r>
            <a:endParaRPr lang="ar-SA" sz="1300" dirty="0"/>
          </a:p>
        </p:txBody>
      </p:sp>
      <p:sp>
        <p:nvSpPr>
          <p:cNvPr id="18" name="Wall Plane"/>
          <p:cNvSpPr/>
          <p:nvPr/>
        </p:nvSpPr>
        <p:spPr>
          <a:xfrm>
            <a:off x="6035040" y="3383280"/>
            <a:ext cx="5608015" cy="1143000"/>
          </a:xfrm>
          <a:prstGeom prst="roundRect">
            <a:avLst>
              <a:gd name="adj" fmla="val 6400"/>
            </a:avLst>
          </a:prstGeom>
          <a:solidFill>
            <a:schemeClr val="bg2"/>
          </a:solidFill>
          <a:ln/>
          <a:effectLst>
            <a:outerShdw sx="100000" sy="100000" kx="0" ky="0" algn="bl" rotWithShape="0" blurRad="101600" dist="25400" dir="5400000">
              <a:srgbClr val="000000">
                <a:alpha val="12000"/>
              </a:srgbClr>
            </a:outerShdw>
          </a:effectLst>
        </p:spPr>
      </p:sp>
      <p:sp>
        <p:nvSpPr>
          <p:cNvPr id="19" name="Wall Plane circle"/>
          <p:cNvSpPr/>
          <p:nvPr/>
        </p:nvSpPr>
        <p:spPr>
          <a:xfrm>
            <a:off x="10820095" y="3657600"/>
            <a:ext cx="594360" cy="594360"/>
          </a:xfrm>
          <a:prstGeom prst="ellipse">
            <a:avLst/>
          </a:prstGeom>
          <a:solidFill>
            <a:srgbClr val="2F6B6A"/>
          </a:solidFill>
          <a:ln/>
        </p:spPr>
      </p:sp>
      <p:pic>
        <p:nvPicPr>
          <p:cNvPr id="20" name="Wall Plane icon" descr="Wall Plane">    </p:cNvPr>
          <p:cNvPicPr>
            <a:picLocks noChangeAspect="1"/>
          </p:cNvPicPr>
          <p:nvPr/>
        </p:nvPicPr>
        <p:blipFill>
          <a:blip r:embed="rId3"/>
          <a:stretch>
            <a:fillRect/>
          </a:stretch>
        </p:blipFill>
        <p:spPr>
          <a:xfrm>
            <a:off x="10968685" y="3806190"/>
            <a:ext cx="297180" cy="297180"/>
          </a:xfrm>
          <a:prstGeom prst="rect">
            <a:avLst/>
          </a:prstGeom>
        </p:spPr>
      </p:pic>
      <p:pic>
        <p:nvPicPr>
          <p:cNvPr id="21" name="photo interior" descr="interior">    </p:cNvPr>
          <p:cNvPicPr>
            <a:picLocks noChangeAspect="1"/>
          </p:cNvPicPr>
          <p:nvPr/>
        </p:nvPicPr>
        <p:blipFill>
          <a:blip r:embed="rId4"/>
          <a:stretch>
            <a:fillRect/>
          </a:stretch>
        </p:blipFill>
        <p:spPr>
          <a:xfrm>
            <a:off x="6126480" y="3474720"/>
            <a:ext cx="1463040" cy="731520"/>
          </a:xfrm>
          <a:prstGeom prst="rect">
            <a:avLst/>
          </a:prstGeom>
        </p:spPr>
      </p:pic>
      <p:sp>
        <p:nvSpPr>
          <p:cNvPr id="22" name="Text 16"/>
          <p:cNvSpPr txBox="1"/>
          <p:nvPr/>
        </p:nvSpPr>
        <p:spPr>
          <a:xfrm>
            <a:off x="6126480" y="4233672"/>
            <a:ext cx="1463040" cy="228600"/>
          </a:xfrm>
          <a:prstGeom prst="rect">
            <a:avLst/>
          </a:prstGeom>
          <a:noFill/>
          <a:ln/>
        </p:spPr>
        <p:txBody>
          <a:bodyPr wrap="square" lIns="0" tIns="0" rIns="0" bIns="0" rtlCol="0" anchor="t"/>
          <a:lstStyle/>
          <a:p>
            <a:pPr algn="ctr" indent="0" marL="0">
              <a:buNone/>
            </a:pPr>
            <a:r>
              <a:rPr lang="en-US" sz="1000" i="1" dirty="0">
                <a:solidFill>
                  <a:srgbClr val="5B6770"/>
                </a:solidFill>
              </a:rPr>
              <a:t>Modern interior</a:t>
            </a:r>
            <a:endParaRPr lang="en-US" sz="1000" dirty="0"/>
          </a:p>
        </p:txBody>
      </p:sp>
      <p:sp>
        <p:nvSpPr>
          <p:cNvPr id="23" name="Text 17"/>
          <p:cNvSpPr txBox="1"/>
          <p:nvPr/>
        </p:nvSpPr>
        <p:spPr>
          <a:xfrm>
            <a:off x="7772400" y="3538728"/>
            <a:ext cx="2910535" cy="365760"/>
          </a:xfrm>
          <a:prstGeom prst="rect">
            <a:avLst/>
          </a:prstGeom>
          <a:noFill/>
          <a:ln/>
        </p:spPr>
        <p:txBody>
          <a:bodyPr wrap="square" lIns="0" tIns="0" rIns="0" bIns="0" rtlCol="0" anchor="t"/>
          <a:lstStyle/>
          <a:p>
            <a:pPr algn="r" indent="0" marL="0">
              <a:buNone/>
            </a:pPr>
            <a:r>
              <a:rPr lang="en-US" sz="1800" b="1" dirty="0">
                <a:solidFill>
                  <a:srgbClr val="1F2224"/>
                </a:solidFill>
              </a:rPr>
              <a:t>Wall Plane</a:t>
            </a:r>
            <a:endParaRPr lang="en-US" sz="1800" dirty="0"/>
          </a:p>
        </p:txBody>
      </p:sp>
      <p:sp>
        <p:nvSpPr>
          <p:cNvPr id="24" name="Text 18"/>
          <p:cNvSpPr txBox="1"/>
          <p:nvPr/>
        </p:nvSpPr>
        <p:spPr>
          <a:xfrm>
            <a:off x="7772400" y="3913632"/>
            <a:ext cx="2910535" cy="548640"/>
          </a:xfrm>
          <a:prstGeom prst="rect">
            <a:avLst/>
          </a:prstGeom>
          <a:noFill/>
          <a:ln/>
        </p:spPr>
        <p:txBody>
          <a:bodyPr wrap="square" lIns="0" tIns="0" rIns="0" bIns="0" rtlCol="0" anchor="t"/>
          <a:lstStyle/>
          <a:p>
            <a:pPr rtl="1" algn="r" indent="0" marL="0">
              <a:buNone/>
            </a:pPr>
            <a:r>
              <a:rPr lang="ar-SA" altLang="en-US" sz="1300" dirty="0">
                <a:solidFill>
                  <a:srgbClr val="3A4146"/>
                </a:solidFill>
              </a:rPr>
              <a:t>الجدار — أساسي لاحتواء الفراغ، والأكثر حضورًا في مجال الرؤية.</a:t>
            </a:r>
            <a:endParaRPr lang="ar-SA" sz="1300" dirty="0"/>
          </a:p>
        </p:txBody>
      </p:sp>
      <p:sp>
        <p:nvSpPr>
          <p:cNvPr id="25" name="Base Plane"/>
          <p:cNvSpPr/>
          <p:nvPr/>
        </p:nvSpPr>
        <p:spPr>
          <a:xfrm>
            <a:off x="6035040" y="4617720"/>
            <a:ext cx="5608015" cy="1143000"/>
          </a:xfrm>
          <a:prstGeom prst="roundRect">
            <a:avLst>
              <a:gd name="adj" fmla="val 6400"/>
            </a:avLst>
          </a:prstGeom>
          <a:solidFill>
            <a:schemeClr val="bg2"/>
          </a:solidFill>
          <a:ln/>
          <a:effectLst>
            <a:outerShdw sx="100000" sy="100000" kx="0" ky="0" algn="bl" rotWithShape="0" blurRad="101600" dist="25400" dir="5400000">
              <a:srgbClr val="000000">
                <a:alpha val="12000"/>
              </a:srgbClr>
            </a:outerShdw>
          </a:effectLst>
        </p:spPr>
      </p:sp>
      <p:sp>
        <p:nvSpPr>
          <p:cNvPr id="26" name="Base Plane circle"/>
          <p:cNvSpPr/>
          <p:nvPr/>
        </p:nvSpPr>
        <p:spPr>
          <a:xfrm>
            <a:off x="10820095" y="4892040"/>
            <a:ext cx="594360" cy="594360"/>
          </a:xfrm>
          <a:prstGeom prst="ellipse">
            <a:avLst/>
          </a:prstGeom>
          <a:solidFill>
            <a:srgbClr val="C2593A"/>
          </a:solidFill>
          <a:ln/>
        </p:spPr>
      </p:sp>
      <p:pic>
        <p:nvPicPr>
          <p:cNvPr id="27" name="Base Plane icon" descr="Base Plane">    </p:cNvPr>
          <p:cNvPicPr>
            <a:picLocks noChangeAspect="1"/>
          </p:cNvPicPr>
          <p:nvPr/>
        </p:nvPicPr>
        <p:blipFill>
          <a:blip r:embed="rId5"/>
          <a:stretch>
            <a:fillRect/>
          </a:stretch>
        </p:blipFill>
        <p:spPr>
          <a:xfrm>
            <a:off x="10968685" y="5040630"/>
            <a:ext cx="297180" cy="297180"/>
          </a:xfrm>
          <a:prstGeom prst="rect">
            <a:avLst/>
          </a:prstGeom>
        </p:spPr>
      </p:pic>
      <p:pic>
        <p:nvPicPr>
          <p:cNvPr id="28" name="photo precast" descr="precast">    </p:cNvPr>
          <p:cNvPicPr>
            <a:picLocks noChangeAspect="1"/>
          </p:cNvPicPr>
          <p:nvPr/>
        </p:nvPicPr>
        <p:blipFill>
          <a:blip r:embed="rId6"/>
          <a:stretch>
            <a:fillRect/>
          </a:stretch>
        </p:blipFill>
        <p:spPr>
          <a:xfrm>
            <a:off x="6126480" y="4709160"/>
            <a:ext cx="1463040" cy="731520"/>
          </a:xfrm>
          <a:prstGeom prst="rect">
            <a:avLst/>
          </a:prstGeom>
        </p:spPr>
      </p:pic>
      <p:sp>
        <p:nvSpPr>
          <p:cNvPr id="29" name="Text 21"/>
          <p:cNvSpPr txBox="1"/>
          <p:nvPr/>
        </p:nvSpPr>
        <p:spPr>
          <a:xfrm>
            <a:off x="6126480" y="5468112"/>
            <a:ext cx="1463040" cy="228600"/>
          </a:xfrm>
          <a:prstGeom prst="rect">
            <a:avLst/>
          </a:prstGeom>
          <a:noFill/>
          <a:ln/>
        </p:spPr>
        <p:txBody>
          <a:bodyPr wrap="square" lIns="0" tIns="0" rIns="0" bIns="0" rtlCol="0" anchor="t"/>
          <a:lstStyle/>
          <a:p>
            <a:pPr algn="ctr" indent="0" marL="0">
              <a:buNone/>
            </a:pPr>
            <a:r>
              <a:rPr lang="en-US" sz="1000" i="1" dirty="0">
                <a:solidFill>
                  <a:srgbClr val="5B6770"/>
                </a:solidFill>
              </a:rPr>
              <a:t>Precast house</a:t>
            </a:r>
            <a:endParaRPr lang="en-US" sz="1000" dirty="0"/>
          </a:p>
        </p:txBody>
      </p:sp>
      <p:sp>
        <p:nvSpPr>
          <p:cNvPr id="30" name="Text 22"/>
          <p:cNvSpPr txBox="1"/>
          <p:nvPr/>
        </p:nvSpPr>
        <p:spPr>
          <a:xfrm>
            <a:off x="7772400" y="4773168"/>
            <a:ext cx="2910535" cy="365760"/>
          </a:xfrm>
          <a:prstGeom prst="rect">
            <a:avLst/>
          </a:prstGeom>
          <a:noFill/>
          <a:ln/>
        </p:spPr>
        <p:txBody>
          <a:bodyPr wrap="square" lIns="0" tIns="0" rIns="0" bIns="0" rtlCol="0" anchor="t"/>
          <a:lstStyle/>
          <a:p>
            <a:pPr algn="r" indent="0" marL="0">
              <a:buNone/>
            </a:pPr>
            <a:r>
              <a:rPr lang="en-US" sz="1800" b="1" dirty="0">
                <a:solidFill>
                  <a:srgbClr val="1F2224"/>
                </a:solidFill>
              </a:rPr>
              <a:t>Base Plane</a:t>
            </a:r>
            <a:endParaRPr lang="en-US" sz="1800" dirty="0"/>
          </a:p>
        </p:txBody>
      </p:sp>
      <p:sp>
        <p:nvSpPr>
          <p:cNvPr id="31" name="Text 23"/>
          <p:cNvSpPr txBox="1"/>
          <p:nvPr/>
        </p:nvSpPr>
        <p:spPr>
          <a:xfrm>
            <a:off x="7772400" y="5148072"/>
            <a:ext cx="2910535" cy="548640"/>
          </a:xfrm>
          <a:prstGeom prst="rect">
            <a:avLst/>
          </a:prstGeom>
          <a:noFill/>
          <a:ln/>
        </p:spPr>
        <p:txBody>
          <a:bodyPr wrap="square" lIns="0" tIns="0" rIns="0" bIns="0" rtlCol="0" anchor="t"/>
          <a:lstStyle/>
          <a:p>
            <a:pPr rtl="1" algn="r" indent="0" marL="0">
              <a:buNone/>
            </a:pPr>
            <a:r>
              <a:rPr lang="ar-SA" altLang="en-US" sz="1300" dirty="0">
                <a:solidFill>
                  <a:srgbClr val="3A4146"/>
                </a:solidFill>
              </a:rPr>
              <a:t>الأرضية — عليه يندمج المبنى أو يستقر أو يرتفع عنه.</a:t>
            </a:r>
            <a:endParaRPr lang="ar-SA" sz="1300" dirty="0"/>
          </a:p>
        </p:txBody>
      </p:sp>
      <p:sp>
        <p:nvSpPr>
          <p:cNvPr id="32" name="Text 24"/>
          <p:cNvSpPr txBox="1"/>
          <p:nvPr/>
        </p:nvSpPr>
        <p:spPr>
          <a:xfrm>
            <a:off x="6035040" y="5870448"/>
            <a:ext cx="5608015" cy="411480"/>
          </a:xfrm>
          <a:prstGeom prst="rect">
            <a:avLst/>
          </a:prstGeom>
          <a:noFill/>
          <a:ln/>
        </p:spPr>
        <p:txBody>
          <a:bodyPr wrap="square" lIns="0" tIns="0" rIns="0" bIns="0" rtlCol="0" anchor="t"/>
          <a:lstStyle/>
          <a:p>
            <a:pPr rtl="1" algn="r" indent="0" marL="0">
              <a:buNone/>
            </a:pPr>
            <a:r>
              <a:rPr lang="ar-SA" altLang="en-US" sz="1300" b="1" dirty="0">
                <a:solidFill>
                  <a:srgbClr val="2F6B6A"/>
                </a:solidFill>
              </a:rPr>
              <a:t>هذه المستويات الثلاثة هي أهم العناصر التي تحدد الفراغ المعماري والداخلي.</a:t>
            </a:r>
            <a:endParaRPr lang="ar-SA"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09 — BASE PLANE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الأرضية — المستوى الأساسي</a:t>
            </a:r>
            <a:endParaRPr lang="ar-SA" sz="3200" dirty="0"/>
          </a:p>
        </p:txBody>
      </p:sp>
      <p:sp>
        <p:nvSpPr>
          <p:cNvPr id="4" name="Text 2"/>
          <p:cNvSpPr txBox="1"/>
          <p:nvPr/>
        </p:nvSpPr>
        <p:spPr>
          <a:xfrm>
            <a:off x="548640" y="1463040"/>
            <a:ext cx="11094415" cy="411480"/>
          </a:xfrm>
          <a:prstGeom prst="rect">
            <a:avLst/>
          </a:prstGeom>
          <a:noFill/>
          <a:ln/>
        </p:spPr>
        <p:txBody>
          <a:bodyPr wrap="square" lIns="0" tIns="0" rIns="0" bIns="0" rtlCol="0" anchor="t"/>
          <a:lstStyle/>
          <a:p>
            <a:pPr rtl="1" algn="r" indent="0" marL="0">
              <a:buNone/>
            </a:pPr>
            <a:r>
              <a:rPr lang="ar-SA" altLang="en-US" sz="1600" dirty="0">
                <a:solidFill>
                  <a:srgbClr val="3A4146"/>
                </a:solidFill>
              </a:rPr>
              <a:t>الأرضية هي أول مستوى يلامس جسم الإنسان وتحدد قاعدة الفراغ، لكنها لا يجب أن تكون مجرد سطح أفقي.</a:t>
            </a:r>
            <a:endParaRPr lang="ar-SA" sz="1600" dirty="0"/>
          </a:p>
        </p:txBody>
      </p:sp>
      <p:sp>
        <p:nvSpPr>
          <p:cNvPr id="5" name="base Continuous"/>
          <p:cNvSpPr/>
          <p:nvPr/>
        </p:nvSpPr>
        <p:spPr>
          <a:xfrm>
            <a:off x="9109481" y="2057400"/>
            <a:ext cx="2533574" cy="3017520"/>
          </a:xfrm>
          <a:prstGeom prst="roundRect">
            <a:avLst>
              <a:gd name="adj" fmla="val 2887"/>
            </a:avLst>
          </a:prstGeom>
          <a:solidFill>
            <a:schemeClr val="bg2"/>
          </a:solidFill>
          <a:ln/>
          <a:effectLst>
            <a:outerShdw sx="100000" sy="100000" kx="0" ky="0" algn="bl" rotWithShape="0" blurRad="101600" dist="25400" dir="5400000">
              <a:srgbClr val="000000">
                <a:alpha val="12000"/>
              </a:srgbClr>
            </a:outerShdw>
          </a:effectLst>
        </p:spPr>
      </p:sp>
      <p:sp>
        <p:nvSpPr>
          <p:cNvPr id="6" name="slab side A"/>
          <p:cNvSpPr/>
          <p:nvPr/>
        </p:nvSpPr>
        <p:spPr>
          <a:xfrm>
            <a:off x="9514688" y="2482596"/>
            <a:ext cx="861580" cy="575158"/>
          </a:xfrm>
          <a:custGeom>
            <a:avLst/>
            <a:gdLst/>
            <a:ahLst/>
            <a:cxnLst/>
            <a:rect l="l" t="t" r="r" b="b"/>
            <a:pathLst>
              <a:path w="861580" h="575158">
                <a:moveTo>
                  <a:pt x="0" y="77724"/>
                </a:moveTo>
                <a:lnTo>
                  <a:pt x="861580" y="575158"/>
                </a:lnTo>
                <a:lnTo>
                  <a:pt x="861580" y="497434"/>
                </a:lnTo>
                <a:lnTo>
                  <a:pt x="0" y="0"/>
                </a:lnTo>
                <a:close/>
              </a:path>
            </a:pathLst>
          </a:custGeom>
          <a:solidFill>
            <a:srgbClr val="8A9A9B"/>
          </a:solidFill>
          <a:ln w="6350">
            <a:solidFill>
              <a:srgbClr val="1F2224"/>
            </a:solidFill>
            <a:prstDash val="solid"/>
          </a:ln>
        </p:spPr>
      </p:sp>
      <p:sp>
        <p:nvSpPr>
          <p:cNvPr id="7" name="slab side B"/>
          <p:cNvSpPr/>
          <p:nvPr/>
        </p:nvSpPr>
        <p:spPr>
          <a:xfrm>
            <a:off x="10376268" y="2482596"/>
            <a:ext cx="861580" cy="575158"/>
          </a:xfrm>
          <a:custGeom>
            <a:avLst/>
            <a:gdLst/>
            <a:ahLst/>
            <a:cxnLst/>
            <a:rect l="l" t="t" r="r" b="b"/>
            <a:pathLst>
              <a:path w="861580" h="575158">
                <a:moveTo>
                  <a:pt x="861580" y="77724"/>
                </a:moveTo>
                <a:lnTo>
                  <a:pt x="0" y="575158"/>
                </a:lnTo>
                <a:lnTo>
                  <a:pt x="0" y="497434"/>
                </a:lnTo>
                <a:lnTo>
                  <a:pt x="861580" y="0"/>
                </a:lnTo>
                <a:close/>
              </a:path>
            </a:pathLst>
          </a:custGeom>
          <a:solidFill>
            <a:srgbClr val="5B6770"/>
          </a:solidFill>
          <a:ln w="6350">
            <a:solidFill>
              <a:srgbClr val="1F2224"/>
            </a:solidFill>
            <a:prstDash val="solid"/>
          </a:ln>
        </p:spPr>
      </p:sp>
      <p:sp>
        <p:nvSpPr>
          <p:cNvPr id="8" name="slab top"/>
          <p:cNvSpPr/>
          <p:nvPr/>
        </p:nvSpPr>
        <p:spPr>
          <a:xfrm>
            <a:off x="9514688" y="1985162"/>
            <a:ext cx="1723161" cy="994867"/>
          </a:xfrm>
          <a:custGeom>
            <a:avLst/>
            <a:gdLst/>
            <a:ahLst/>
            <a:cxnLst/>
            <a:rect l="l" t="t" r="r" b="b"/>
            <a:pathLst>
              <a:path w="1723161" h="994867">
                <a:moveTo>
                  <a:pt x="861580" y="0"/>
                </a:moveTo>
                <a:lnTo>
                  <a:pt x="1723161" y="497434"/>
                </a:lnTo>
                <a:lnTo>
                  <a:pt x="861580" y="994867"/>
                </a:lnTo>
                <a:lnTo>
                  <a:pt x="0" y="497434"/>
                </a:lnTo>
                <a:close/>
              </a:path>
            </a:pathLst>
          </a:custGeom>
          <a:solidFill>
            <a:srgbClr val="B9C4C4"/>
          </a:solidFill>
          <a:ln w="6350">
            <a:solidFill>
              <a:srgbClr val="1F2224"/>
            </a:solidFill>
            <a:prstDash val="solid"/>
          </a:ln>
        </p:spPr>
      </p:sp>
      <p:sp>
        <p:nvSpPr>
          <p:cNvPr id="9" name="Text 7"/>
          <p:cNvSpPr txBox="1"/>
          <p:nvPr/>
        </p:nvSpPr>
        <p:spPr>
          <a:xfrm>
            <a:off x="9109481" y="3840480"/>
            <a:ext cx="2533574" cy="320040"/>
          </a:xfrm>
          <a:prstGeom prst="rect">
            <a:avLst/>
          </a:prstGeom>
          <a:noFill/>
          <a:ln/>
        </p:spPr>
        <p:txBody>
          <a:bodyPr wrap="square" lIns="0" tIns="0" rIns="0" bIns="0" rtlCol="0" anchor="t"/>
          <a:lstStyle/>
          <a:p>
            <a:pPr algn="ctr" indent="0" marL="0">
              <a:buNone/>
            </a:pPr>
            <a:r>
              <a:rPr lang="en-US" sz="1400" b="1" dirty="0">
                <a:solidFill>
                  <a:srgbClr val="5B6770"/>
                </a:solidFill>
              </a:rPr>
              <a:t>Continuous</a:t>
            </a:r>
            <a:endParaRPr lang="en-US" sz="1400" dirty="0"/>
          </a:p>
        </p:txBody>
      </p:sp>
      <p:sp>
        <p:nvSpPr>
          <p:cNvPr id="10" name="Text 8"/>
          <p:cNvSpPr txBox="1"/>
          <p:nvPr/>
        </p:nvSpPr>
        <p:spPr>
          <a:xfrm>
            <a:off x="9109481" y="4160520"/>
            <a:ext cx="2533574" cy="365760"/>
          </a:xfrm>
          <a:prstGeom prst="rect">
            <a:avLst/>
          </a:prstGeom>
          <a:noFill/>
          <a:ln/>
        </p:spPr>
        <p:txBody>
          <a:bodyPr wrap="square" lIns="0" tIns="0" rIns="0" bIns="0" rtlCol="0" anchor="t"/>
          <a:lstStyle/>
          <a:p>
            <a:pPr rtl="1" algn="ctr" indent="0" marL="0">
              <a:buNone/>
            </a:pPr>
            <a:r>
              <a:rPr lang="ar-SA" altLang="en-US" sz="1700" b="1" dirty="0">
                <a:solidFill>
                  <a:srgbClr val="1F2224"/>
                </a:solidFill>
              </a:rPr>
              <a:t>أرضية مستمرة</a:t>
            </a:r>
            <a:endParaRPr lang="ar-SA" sz="1700" dirty="0"/>
          </a:p>
        </p:txBody>
      </p:sp>
      <p:sp>
        <p:nvSpPr>
          <p:cNvPr id="11" name="Text 9"/>
          <p:cNvSpPr txBox="1"/>
          <p:nvPr/>
        </p:nvSpPr>
        <p:spPr>
          <a:xfrm>
            <a:off x="9292361" y="4526280"/>
            <a:ext cx="2167814" cy="457200"/>
          </a:xfrm>
          <a:prstGeom prst="rect">
            <a:avLst/>
          </a:prstGeom>
          <a:noFill/>
          <a:ln/>
        </p:spPr>
        <p:txBody>
          <a:bodyPr wrap="square" lIns="0" tIns="0" rIns="0" bIns="0" rtlCol="0" anchor="t"/>
          <a:lstStyle/>
          <a:p>
            <a:pPr rtl="1" algn="ctr" indent="0" marL="0">
              <a:buNone/>
            </a:pPr>
            <a:r>
              <a:rPr lang="ar-SA" altLang="en-US" sz="1300" dirty="0">
                <a:solidFill>
                  <a:srgbClr val="3A4146"/>
                </a:solidFill>
              </a:rPr>
              <a:t>إحساس بالاستمرارية والوحدة.</a:t>
            </a:r>
            <a:endParaRPr lang="ar-SA" sz="1300" dirty="0"/>
          </a:p>
        </p:txBody>
      </p:sp>
      <p:sp>
        <p:nvSpPr>
          <p:cNvPr id="12" name="base Elevated"/>
          <p:cNvSpPr/>
          <p:nvPr/>
        </p:nvSpPr>
        <p:spPr>
          <a:xfrm>
            <a:off x="6255868" y="2057400"/>
            <a:ext cx="2533574" cy="3017520"/>
          </a:xfrm>
          <a:prstGeom prst="roundRect">
            <a:avLst>
              <a:gd name="adj" fmla="val 2887"/>
            </a:avLst>
          </a:prstGeom>
          <a:solidFill>
            <a:schemeClr val="bg2"/>
          </a:solidFill>
          <a:ln/>
          <a:effectLst>
            <a:outerShdw sx="100000" sy="100000" kx="0" ky="0" algn="bl" rotWithShape="0" blurRad="101600" dist="25400" dir="5400000">
              <a:srgbClr val="000000">
                <a:alpha val="12000"/>
              </a:srgbClr>
            </a:outerShdw>
          </a:effectLst>
        </p:spPr>
      </p:sp>
      <p:sp>
        <p:nvSpPr>
          <p:cNvPr id="13" name="slab side A"/>
          <p:cNvSpPr/>
          <p:nvPr/>
        </p:nvSpPr>
        <p:spPr>
          <a:xfrm>
            <a:off x="6661074" y="2482596"/>
            <a:ext cx="861580" cy="575158"/>
          </a:xfrm>
          <a:custGeom>
            <a:avLst/>
            <a:gdLst/>
            <a:ahLst/>
            <a:cxnLst/>
            <a:rect l="l" t="t" r="r" b="b"/>
            <a:pathLst>
              <a:path w="861580" h="575158">
                <a:moveTo>
                  <a:pt x="0" y="77724"/>
                </a:moveTo>
                <a:lnTo>
                  <a:pt x="861580" y="575158"/>
                </a:lnTo>
                <a:lnTo>
                  <a:pt x="861580" y="497434"/>
                </a:lnTo>
                <a:lnTo>
                  <a:pt x="0" y="0"/>
                </a:lnTo>
                <a:close/>
              </a:path>
            </a:pathLst>
          </a:custGeom>
          <a:solidFill>
            <a:srgbClr val="8A9A9B"/>
          </a:solidFill>
          <a:ln w="6350">
            <a:solidFill>
              <a:srgbClr val="1F2224"/>
            </a:solidFill>
            <a:prstDash val="solid"/>
          </a:ln>
        </p:spPr>
      </p:sp>
      <p:sp>
        <p:nvSpPr>
          <p:cNvPr id="14" name="slab side B"/>
          <p:cNvSpPr/>
          <p:nvPr/>
        </p:nvSpPr>
        <p:spPr>
          <a:xfrm>
            <a:off x="7522655" y="2482596"/>
            <a:ext cx="861580" cy="575158"/>
          </a:xfrm>
          <a:custGeom>
            <a:avLst/>
            <a:gdLst/>
            <a:ahLst/>
            <a:cxnLst/>
            <a:rect l="l" t="t" r="r" b="b"/>
            <a:pathLst>
              <a:path w="861580" h="575158">
                <a:moveTo>
                  <a:pt x="861580" y="77724"/>
                </a:moveTo>
                <a:lnTo>
                  <a:pt x="0" y="575158"/>
                </a:lnTo>
                <a:lnTo>
                  <a:pt x="0" y="497434"/>
                </a:lnTo>
                <a:lnTo>
                  <a:pt x="861580" y="0"/>
                </a:lnTo>
                <a:close/>
              </a:path>
            </a:pathLst>
          </a:custGeom>
          <a:solidFill>
            <a:srgbClr val="5B6770"/>
          </a:solidFill>
          <a:ln w="6350">
            <a:solidFill>
              <a:srgbClr val="1F2224"/>
            </a:solidFill>
            <a:prstDash val="solid"/>
          </a:ln>
        </p:spPr>
      </p:sp>
      <p:sp>
        <p:nvSpPr>
          <p:cNvPr id="15" name="slab top"/>
          <p:cNvSpPr/>
          <p:nvPr/>
        </p:nvSpPr>
        <p:spPr>
          <a:xfrm>
            <a:off x="6661074" y="1985162"/>
            <a:ext cx="1723161" cy="994867"/>
          </a:xfrm>
          <a:custGeom>
            <a:avLst/>
            <a:gdLst/>
            <a:ahLst/>
            <a:cxnLst/>
            <a:rect l="l" t="t" r="r" b="b"/>
            <a:pathLst>
              <a:path w="1723161" h="994867">
                <a:moveTo>
                  <a:pt x="861580" y="0"/>
                </a:moveTo>
                <a:lnTo>
                  <a:pt x="1723161" y="497434"/>
                </a:lnTo>
                <a:lnTo>
                  <a:pt x="861580" y="994867"/>
                </a:lnTo>
                <a:lnTo>
                  <a:pt x="0" y="497434"/>
                </a:lnTo>
                <a:close/>
              </a:path>
            </a:pathLst>
          </a:custGeom>
          <a:solidFill>
            <a:srgbClr val="B9C4C4"/>
          </a:solidFill>
          <a:ln w="6350">
            <a:solidFill>
              <a:srgbClr val="1F2224"/>
            </a:solidFill>
            <a:prstDash val="solid"/>
          </a:ln>
        </p:spPr>
      </p:sp>
      <p:sp>
        <p:nvSpPr>
          <p:cNvPr id="16" name="platform side A"/>
          <p:cNvSpPr/>
          <p:nvPr/>
        </p:nvSpPr>
        <p:spPr>
          <a:xfrm>
            <a:off x="7038016" y="2311603"/>
            <a:ext cx="484639" cy="450799"/>
          </a:xfrm>
          <a:custGeom>
            <a:avLst/>
            <a:gdLst/>
            <a:ahLst/>
            <a:cxnLst/>
            <a:rect l="l" t="t" r="r" b="b"/>
            <a:pathLst>
              <a:path w="484639" h="450799">
                <a:moveTo>
                  <a:pt x="0" y="170993"/>
                </a:moveTo>
                <a:lnTo>
                  <a:pt x="484639" y="450799"/>
                </a:lnTo>
                <a:lnTo>
                  <a:pt x="484639" y="279806"/>
                </a:lnTo>
                <a:lnTo>
                  <a:pt x="0" y="0"/>
                </a:lnTo>
                <a:close/>
              </a:path>
            </a:pathLst>
          </a:custGeom>
          <a:solidFill>
            <a:srgbClr val="9E4429"/>
          </a:solidFill>
          <a:ln w="6350">
            <a:solidFill>
              <a:srgbClr val="1F2224"/>
            </a:solidFill>
            <a:prstDash val="solid"/>
          </a:ln>
        </p:spPr>
      </p:sp>
      <p:sp>
        <p:nvSpPr>
          <p:cNvPr id="17" name="platform side B"/>
          <p:cNvSpPr/>
          <p:nvPr/>
        </p:nvSpPr>
        <p:spPr>
          <a:xfrm>
            <a:off x="7522655" y="2311603"/>
            <a:ext cx="484639" cy="450799"/>
          </a:xfrm>
          <a:custGeom>
            <a:avLst/>
            <a:gdLst/>
            <a:ahLst/>
            <a:cxnLst/>
            <a:rect l="l" t="t" r="r" b="b"/>
            <a:pathLst>
              <a:path w="484639" h="450799">
                <a:moveTo>
                  <a:pt x="484639" y="170993"/>
                </a:moveTo>
                <a:lnTo>
                  <a:pt x="0" y="450799"/>
                </a:lnTo>
                <a:lnTo>
                  <a:pt x="0" y="279806"/>
                </a:lnTo>
                <a:lnTo>
                  <a:pt x="484639" y="0"/>
                </a:lnTo>
                <a:close/>
              </a:path>
            </a:pathLst>
          </a:custGeom>
          <a:solidFill>
            <a:srgbClr val="B04F33"/>
          </a:solidFill>
          <a:ln w="6350">
            <a:solidFill>
              <a:srgbClr val="1F2224"/>
            </a:solidFill>
            <a:prstDash val="solid"/>
          </a:ln>
        </p:spPr>
      </p:sp>
      <p:sp>
        <p:nvSpPr>
          <p:cNvPr id="18" name="platform top"/>
          <p:cNvSpPr/>
          <p:nvPr/>
        </p:nvSpPr>
        <p:spPr>
          <a:xfrm>
            <a:off x="7038016" y="2031797"/>
            <a:ext cx="969278" cy="559613"/>
          </a:xfrm>
          <a:custGeom>
            <a:avLst/>
            <a:gdLst/>
            <a:ahLst/>
            <a:cxnLst/>
            <a:rect l="l" t="t" r="r" b="b"/>
            <a:pathLst>
              <a:path w="969278" h="559613">
                <a:moveTo>
                  <a:pt x="484639" y="0"/>
                </a:moveTo>
                <a:lnTo>
                  <a:pt x="969278" y="279806"/>
                </a:lnTo>
                <a:lnTo>
                  <a:pt x="484639" y="559613"/>
                </a:lnTo>
                <a:lnTo>
                  <a:pt x="0" y="279806"/>
                </a:lnTo>
                <a:close/>
              </a:path>
            </a:pathLst>
          </a:custGeom>
          <a:solidFill>
            <a:srgbClr val="C2593A"/>
          </a:solidFill>
          <a:ln w="6350">
            <a:solidFill>
              <a:srgbClr val="1F2224"/>
            </a:solidFill>
            <a:prstDash val="solid"/>
          </a:ln>
        </p:spPr>
      </p:sp>
      <p:sp>
        <p:nvSpPr>
          <p:cNvPr id="19" name="Text 17"/>
          <p:cNvSpPr txBox="1"/>
          <p:nvPr/>
        </p:nvSpPr>
        <p:spPr>
          <a:xfrm>
            <a:off x="6255868" y="3840480"/>
            <a:ext cx="2533574" cy="320040"/>
          </a:xfrm>
          <a:prstGeom prst="rect">
            <a:avLst/>
          </a:prstGeom>
          <a:noFill/>
          <a:ln/>
        </p:spPr>
        <p:txBody>
          <a:bodyPr wrap="square" lIns="0" tIns="0" rIns="0" bIns="0" rtlCol="0" anchor="t"/>
          <a:lstStyle/>
          <a:p>
            <a:pPr algn="ctr" indent="0" marL="0">
              <a:buNone/>
            </a:pPr>
            <a:r>
              <a:rPr lang="en-US" sz="1400" b="1" dirty="0">
                <a:solidFill>
                  <a:srgbClr val="5B6770"/>
                </a:solidFill>
              </a:rPr>
              <a:t>Elevated</a:t>
            </a:r>
            <a:endParaRPr lang="en-US" sz="1400" dirty="0"/>
          </a:p>
        </p:txBody>
      </p:sp>
      <p:sp>
        <p:nvSpPr>
          <p:cNvPr id="20" name="Text 18"/>
          <p:cNvSpPr txBox="1"/>
          <p:nvPr/>
        </p:nvSpPr>
        <p:spPr>
          <a:xfrm>
            <a:off x="6255868" y="4160520"/>
            <a:ext cx="2533574" cy="365760"/>
          </a:xfrm>
          <a:prstGeom prst="rect">
            <a:avLst/>
          </a:prstGeom>
          <a:noFill/>
          <a:ln/>
        </p:spPr>
        <p:txBody>
          <a:bodyPr wrap="square" lIns="0" tIns="0" rIns="0" bIns="0" rtlCol="0" anchor="t"/>
          <a:lstStyle/>
          <a:p>
            <a:pPr rtl="1" algn="ctr" indent="0" marL="0">
              <a:buNone/>
            </a:pPr>
            <a:r>
              <a:rPr lang="ar-SA" altLang="en-US" sz="1700" b="1" dirty="0">
                <a:solidFill>
                  <a:srgbClr val="1F2224"/>
                </a:solidFill>
              </a:rPr>
              <a:t>أرضية مرتفعة</a:t>
            </a:r>
            <a:endParaRPr lang="ar-SA" sz="1700" dirty="0"/>
          </a:p>
        </p:txBody>
      </p:sp>
      <p:sp>
        <p:nvSpPr>
          <p:cNvPr id="21" name="Text 19"/>
          <p:cNvSpPr txBox="1"/>
          <p:nvPr/>
        </p:nvSpPr>
        <p:spPr>
          <a:xfrm>
            <a:off x="6438748" y="4526280"/>
            <a:ext cx="2167814" cy="457200"/>
          </a:xfrm>
          <a:prstGeom prst="rect">
            <a:avLst/>
          </a:prstGeom>
          <a:noFill/>
          <a:ln/>
        </p:spPr>
        <p:txBody>
          <a:bodyPr wrap="square" lIns="0" tIns="0" rIns="0" bIns="0" rtlCol="0" anchor="t"/>
          <a:lstStyle/>
          <a:p>
            <a:pPr rtl="1" algn="ctr" indent="0" marL="0">
              <a:buNone/>
            </a:pPr>
            <a:r>
              <a:rPr lang="ar-SA" altLang="en-US" sz="1300" dirty="0">
                <a:solidFill>
                  <a:srgbClr val="3A4146"/>
                </a:solidFill>
              </a:rPr>
              <a:t>تحدد منطقة مختلفة وتمنحها أهمية.</a:t>
            </a:r>
            <a:endParaRPr lang="ar-SA" sz="1300" dirty="0"/>
          </a:p>
        </p:txBody>
      </p:sp>
      <p:sp>
        <p:nvSpPr>
          <p:cNvPr id="22" name="base Depressed"/>
          <p:cNvSpPr/>
          <p:nvPr/>
        </p:nvSpPr>
        <p:spPr>
          <a:xfrm>
            <a:off x="3402254" y="2057400"/>
            <a:ext cx="2533574" cy="3017520"/>
          </a:xfrm>
          <a:prstGeom prst="roundRect">
            <a:avLst>
              <a:gd name="adj" fmla="val 2887"/>
            </a:avLst>
          </a:prstGeom>
          <a:solidFill>
            <a:schemeClr val="bg2"/>
          </a:solidFill>
          <a:ln/>
          <a:effectLst>
            <a:outerShdw sx="100000" sy="100000" kx="0" ky="0" algn="bl" rotWithShape="0" blurRad="101600" dist="25400" dir="5400000">
              <a:srgbClr val="000000">
                <a:alpha val="12000"/>
              </a:srgbClr>
            </a:outerShdw>
          </a:effectLst>
        </p:spPr>
      </p:sp>
      <p:sp>
        <p:nvSpPr>
          <p:cNvPr id="23" name="slab side A"/>
          <p:cNvSpPr/>
          <p:nvPr/>
        </p:nvSpPr>
        <p:spPr>
          <a:xfrm>
            <a:off x="3807460" y="2482596"/>
            <a:ext cx="861580" cy="575158"/>
          </a:xfrm>
          <a:custGeom>
            <a:avLst/>
            <a:gdLst/>
            <a:ahLst/>
            <a:cxnLst/>
            <a:rect l="l" t="t" r="r" b="b"/>
            <a:pathLst>
              <a:path w="861580" h="575158">
                <a:moveTo>
                  <a:pt x="0" y="77724"/>
                </a:moveTo>
                <a:lnTo>
                  <a:pt x="861580" y="575158"/>
                </a:lnTo>
                <a:lnTo>
                  <a:pt x="861580" y="497434"/>
                </a:lnTo>
                <a:lnTo>
                  <a:pt x="0" y="0"/>
                </a:lnTo>
                <a:close/>
              </a:path>
            </a:pathLst>
          </a:custGeom>
          <a:solidFill>
            <a:srgbClr val="8A9A9B"/>
          </a:solidFill>
          <a:ln w="6350">
            <a:solidFill>
              <a:srgbClr val="1F2224"/>
            </a:solidFill>
            <a:prstDash val="solid"/>
          </a:ln>
        </p:spPr>
      </p:sp>
      <p:sp>
        <p:nvSpPr>
          <p:cNvPr id="24" name="slab side B"/>
          <p:cNvSpPr/>
          <p:nvPr/>
        </p:nvSpPr>
        <p:spPr>
          <a:xfrm>
            <a:off x="4669041" y="2482596"/>
            <a:ext cx="861580" cy="575158"/>
          </a:xfrm>
          <a:custGeom>
            <a:avLst/>
            <a:gdLst/>
            <a:ahLst/>
            <a:cxnLst/>
            <a:rect l="l" t="t" r="r" b="b"/>
            <a:pathLst>
              <a:path w="861580" h="575158">
                <a:moveTo>
                  <a:pt x="861580" y="77724"/>
                </a:moveTo>
                <a:lnTo>
                  <a:pt x="0" y="575158"/>
                </a:lnTo>
                <a:lnTo>
                  <a:pt x="0" y="497434"/>
                </a:lnTo>
                <a:lnTo>
                  <a:pt x="861580" y="0"/>
                </a:lnTo>
                <a:close/>
              </a:path>
            </a:pathLst>
          </a:custGeom>
          <a:solidFill>
            <a:srgbClr val="5B6770"/>
          </a:solidFill>
          <a:ln w="6350">
            <a:solidFill>
              <a:srgbClr val="1F2224"/>
            </a:solidFill>
            <a:prstDash val="solid"/>
          </a:ln>
        </p:spPr>
      </p:sp>
      <p:sp>
        <p:nvSpPr>
          <p:cNvPr id="25" name="slab top"/>
          <p:cNvSpPr/>
          <p:nvPr/>
        </p:nvSpPr>
        <p:spPr>
          <a:xfrm>
            <a:off x="3807460" y="1985162"/>
            <a:ext cx="1723161" cy="994867"/>
          </a:xfrm>
          <a:custGeom>
            <a:avLst/>
            <a:gdLst/>
            <a:ahLst/>
            <a:cxnLst/>
            <a:rect l="l" t="t" r="r" b="b"/>
            <a:pathLst>
              <a:path w="1723161" h="994867">
                <a:moveTo>
                  <a:pt x="861580" y="0"/>
                </a:moveTo>
                <a:lnTo>
                  <a:pt x="1723161" y="497434"/>
                </a:lnTo>
                <a:lnTo>
                  <a:pt x="861580" y="994867"/>
                </a:lnTo>
                <a:lnTo>
                  <a:pt x="0" y="497434"/>
                </a:lnTo>
                <a:close/>
              </a:path>
            </a:pathLst>
          </a:custGeom>
          <a:solidFill>
            <a:srgbClr val="B9C4C4"/>
          </a:solidFill>
          <a:ln w="6350">
            <a:solidFill>
              <a:srgbClr val="1F2224"/>
            </a:solidFill>
            <a:prstDash val="solid"/>
          </a:ln>
        </p:spPr>
      </p:sp>
      <p:sp>
        <p:nvSpPr>
          <p:cNvPr id="26" name="sunken area"/>
          <p:cNvSpPr/>
          <p:nvPr/>
        </p:nvSpPr>
        <p:spPr>
          <a:xfrm>
            <a:off x="4184402" y="2202790"/>
            <a:ext cx="969278" cy="559613"/>
          </a:xfrm>
          <a:custGeom>
            <a:avLst/>
            <a:gdLst/>
            <a:ahLst/>
            <a:cxnLst/>
            <a:rect l="l" t="t" r="r" b="b"/>
            <a:pathLst>
              <a:path w="969278" h="559613">
                <a:moveTo>
                  <a:pt x="484639" y="0"/>
                </a:moveTo>
                <a:lnTo>
                  <a:pt x="969278" y="279806"/>
                </a:lnTo>
                <a:lnTo>
                  <a:pt x="484639" y="559613"/>
                </a:lnTo>
                <a:lnTo>
                  <a:pt x="0" y="279806"/>
                </a:lnTo>
                <a:close/>
              </a:path>
            </a:pathLst>
          </a:custGeom>
          <a:solidFill>
            <a:srgbClr val="C2593A"/>
          </a:solidFill>
          <a:ln w="6350">
            <a:solidFill>
              <a:srgbClr val="1F2224"/>
            </a:solidFill>
            <a:prstDash val="solid"/>
          </a:ln>
        </p:spPr>
      </p:sp>
      <p:sp>
        <p:nvSpPr>
          <p:cNvPr id="27" name="sunken wall a"/>
          <p:cNvSpPr/>
          <p:nvPr/>
        </p:nvSpPr>
        <p:spPr>
          <a:xfrm>
            <a:off x="4669041" y="2202790"/>
            <a:ext cx="484639" cy="419710"/>
          </a:xfrm>
          <a:custGeom>
            <a:avLst/>
            <a:gdLst/>
            <a:ahLst/>
            <a:cxnLst/>
            <a:rect l="l" t="t" r="r" b="b"/>
            <a:pathLst>
              <a:path w="484639" h="419710">
                <a:moveTo>
                  <a:pt x="0" y="0"/>
                </a:moveTo>
                <a:lnTo>
                  <a:pt x="484639" y="279806"/>
                </a:lnTo>
                <a:lnTo>
                  <a:pt x="484639" y="419710"/>
                </a:lnTo>
                <a:lnTo>
                  <a:pt x="0" y="139903"/>
                </a:lnTo>
                <a:close/>
              </a:path>
            </a:pathLst>
          </a:custGeom>
          <a:solidFill>
            <a:srgbClr val="7E3620"/>
          </a:solidFill>
          <a:ln w="6350">
            <a:solidFill>
              <a:srgbClr val="1F2224"/>
            </a:solidFill>
            <a:prstDash val="solid"/>
          </a:ln>
        </p:spPr>
      </p:sp>
      <p:sp>
        <p:nvSpPr>
          <p:cNvPr id="28" name="sunken wall b"/>
          <p:cNvSpPr/>
          <p:nvPr/>
        </p:nvSpPr>
        <p:spPr>
          <a:xfrm>
            <a:off x="4184402" y="2202790"/>
            <a:ext cx="484639" cy="419710"/>
          </a:xfrm>
          <a:custGeom>
            <a:avLst/>
            <a:gdLst/>
            <a:ahLst/>
            <a:cxnLst/>
            <a:rect l="l" t="t" r="r" b="b"/>
            <a:pathLst>
              <a:path w="484639" h="419710">
                <a:moveTo>
                  <a:pt x="484639" y="0"/>
                </a:moveTo>
                <a:lnTo>
                  <a:pt x="0" y="279806"/>
                </a:lnTo>
                <a:lnTo>
                  <a:pt x="0" y="419710"/>
                </a:lnTo>
                <a:lnTo>
                  <a:pt x="484639" y="139903"/>
                </a:lnTo>
                <a:close/>
              </a:path>
            </a:pathLst>
          </a:custGeom>
          <a:solidFill>
            <a:srgbClr val="9E4429"/>
          </a:solidFill>
          <a:ln w="6350">
            <a:solidFill>
              <a:srgbClr val="1F2224"/>
            </a:solidFill>
            <a:prstDash val="solid"/>
          </a:ln>
        </p:spPr>
      </p:sp>
      <p:sp>
        <p:nvSpPr>
          <p:cNvPr id="29" name="sunken floor"/>
          <p:cNvSpPr/>
          <p:nvPr/>
        </p:nvSpPr>
        <p:spPr>
          <a:xfrm>
            <a:off x="4184402" y="2342693"/>
            <a:ext cx="969278" cy="559613"/>
          </a:xfrm>
          <a:custGeom>
            <a:avLst/>
            <a:gdLst/>
            <a:ahLst/>
            <a:cxnLst/>
            <a:rect l="l" t="t" r="r" b="b"/>
            <a:pathLst>
              <a:path w="969278" h="559613">
                <a:moveTo>
                  <a:pt x="484639" y="0"/>
                </a:moveTo>
                <a:lnTo>
                  <a:pt x="969278" y="279806"/>
                </a:lnTo>
                <a:lnTo>
                  <a:pt x="484639" y="559613"/>
                </a:lnTo>
                <a:lnTo>
                  <a:pt x="0" y="279806"/>
                </a:lnTo>
                <a:close/>
              </a:path>
            </a:pathLst>
          </a:custGeom>
          <a:solidFill>
            <a:srgbClr val="C2593A"/>
          </a:solidFill>
          <a:ln w="6350">
            <a:solidFill>
              <a:srgbClr val="1F2224"/>
            </a:solidFill>
            <a:prstDash val="solid"/>
          </a:ln>
        </p:spPr>
      </p:sp>
      <p:sp>
        <p:nvSpPr>
          <p:cNvPr id="30" name="Text 28"/>
          <p:cNvSpPr txBox="1"/>
          <p:nvPr/>
        </p:nvSpPr>
        <p:spPr>
          <a:xfrm>
            <a:off x="3402254" y="3840480"/>
            <a:ext cx="2533574" cy="320040"/>
          </a:xfrm>
          <a:prstGeom prst="rect">
            <a:avLst/>
          </a:prstGeom>
          <a:noFill/>
          <a:ln/>
        </p:spPr>
        <p:txBody>
          <a:bodyPr wrap="square" lIns="0" tIns="0" rIns="0" bIns="0" rtlCol="0" anchor="t"/>
          <a:lstStyle/>
          <a:p>
            <a:pPr algn="ctr" indent="0" marL="0">
              <a:buNone/>
            </a:pPr>
            <a:r>
              <a:rPr lang="en-US" sz="1400" b="1" dirty="0">
                <a:solidFill>
                  <a:srgbClr val="5B6770"/>
                </a:solidFill>
              </a:rPr>
              <a:t>Depressed</a:t>
            </a:r>
            <a:endParaRPr lang="en-US" sz="1400" dirty="0"/>
          </a:p>
        </p:txBody>
      </p:sp>
      <p:sp>
        <p:nvSpPr>
          <p:cNvPr id="31" name="Text 29"/>
          <p:cNvSpPr txBox="1"/>
          <p:nvPr/>
        </p:nvSpPr>
        <p:spPr>
          <a:xfrm>
            <a:off x="3402254" y="4160520"/>
            <a:ext cx="2533574" cy="365760"/>
          </a:xfrm>
          <a:prstGeom prst="rect">
            <a:avLst/>
          </a:prstGeom>
          <a:noFill/>
          <a:ln/>
        </p:spPr>
        <p:txBody>
          <a:bodyPr wrap="square" lIns="0" tIns="0" rIns="0" bIns="0" rtlCol="0" anchor="t"/>
          <a:lstStyle/>
          <a:p>
            <a:pPr rtl="1" algn="ctr" indent="0" marL="0">
              <a:buNone/>
            </a:pPr>
            <a:r>
              <a:rPr lang="ar-SA" altLang="en-US" sz="1700" b="1" dirty="0">
                <a:solidFill>
                  <a:srgbClr val="1F2224"/>
                </a:solidFill>
              </a:rPr>
              <a:t>أرضية منخفضة</a:t>
            </a:r>
            <a:endParaRPr lang="ar-SA" sz="1700" dirty="0"/>
          </a:p>
        </p:txBody>
      </p:sp>
      <p:sp>
        <p:nvSpPr>
          <p:cNvPr id="32" name="Text 30"/>
          <p:cNvSpPr txBox="1"/>
          <p:nvPr/>
        </p:nvSpPr>
        <p:spPr>
          <a:xfrm>
            <a:off x="3585134" y="4526280"/>
            <a:ext cx="2167814" cy="457200"/>
          </a:xfrm>
          <a:prstGeom prst="rect">
            <a:avLst/>
          </a:prstGeom>
          <a:noFill/>
          <a:ln/>
        </p:spPr>
        <p:txBody>
          <a:bodyPr wrap="square" lIns="0" tIns="0" rIns="0" bIns="0" rtlCol="0" anchor="t"/>
          <a:lstStyle/>
          <a:p>
            <a:pPr rtl="1" algn="ctr" indent="0" marL="0">
              <a:buNone/>
            </a:pPr>
            <a:r>
              <a:rPr lang="ar-SA" altLang="en-US" sz="1300" dirty="0">
                <a:solidFill>
                  <a:srgbClr val="3A4146"/>
                </a:solidFill>
              </a:rPr>
              <a:t>تصنع إحساسًا مختلفًا بالاحتواء.</a:t>
            </a:r>
            <a:endParaRPr lang="ar-SA" sz="1300" dirty="0"/>
          </a:p>
        </p:txBody>
      </p:sp>
      <p:sp>
        <p:nvSpPr>
          <p:cNvPr id="33" name="base Articulated"/>
          <p:cNvSpPr/>
          <p:nvPr/>
        </p:nvSpPr>
        <p:spPr>
          <a:xfrm>
            <a:off x="548640" y="2057400"/>
            <a:ext cx="2533574" cy="3017520"/>
          </a:xfrm>
          <a:prstGeom prst="roundRect">
            <a:avLst>
              <a:gd name="adj" fmla="val 2887"/>
            </a:avLst>
          </a:prstGeom>
          <a:solidFill>
            <a:schemeClr val="bg2"/>
          </a:solidFill>
          <a:ln/>
          <a:effectLst>
            <a:outerShdw sx="100000" sy="100000" kx="0" ky="0" algn="bl" rotWithShape="0" blurRad="101600" dist="25400" dir="5400000">
              <a:srgbClr val="000000">
                <a:alpha val="12000"/>
              </a:srgbClr>
            </a:outerShdw>
          </a:effectLst>
        </p:spPr>
      </p:sp>
      <p:sp>
        <p:nvSpPr>
          <p:cNvPr id="34" name="slab side A"/>
          <p:cNvSpPr/>
          <p:nvPr/>
        </p:nvSpPr>
        <p:spPr>
          <a:xfrm>
            <a:off x="953847" y="2482596"/>
            <a:ext cx="861580" cy="575158"/>
          </a:xfrm>
          <a:custGeom>
            <a:avLst/>
            <a:gdLst/>
            <a:ahLst/>
            <a:cxnLst/>
            <a:rect l="l" t="t" r="r" b="b"/>
            <a:pathLst>
              <a:path w="861580" h="575158">
                <a:moveTo>
                  <a:pt x="0" y="77724"/>
                </a:moveTo>
                <a:lnTo>
                  <a:pt x="861580" y="575158"/>
                </a:lnTo>
                <a:lnTo>
                  <a:pt x="861580" y="497434"/>
                </a:lnTo>
                <a:lnTo>
                  <a:pt x="0" y="0"/>
                </a:lnTo>
                <a:close/>
              </a:path>
            </a:pathLst>
          </a:custGeom>
          <a:solidFill>
            <a:srgbClr val="8A9A9B"/>
          </a:solidFill>
          <a:ln w="6350">
            <a:solidFill>
              <a:srgbClr val="1F2224"/>
            </a:solidFill>
            <a:prstDash val="solid"/>
          </a:ln>
        </p:spPr>
      </p:sp>
      <p:sp>
        <p:nvSpPr>
          <p:cNvPr id="35" name="slab side B"/>
          <p:cNvSpPr/>
          <p:nvPr/>
        </p:nvSpPr>
        <p:spPr>
          <a:xfrm>
            <a:off x="1815427" y="2482596"/>
            <a:ext cx="861580" cy="575158"/>
          </a:xfrm>
          <a:custGeom>
            <a:avLst/>
            <a:gdLst/>
            <a:ahLst/>
            <a:cxnLst/>
            <a:rect l="l" t="t" r="r" b="b"/>
            <a:pathLst>
              <a:path w="861580" h="575158">
                <a:moveTo>
                  <a:pt x="861580" y="77724"/>
                </a:moveTo>
                <a:lnTo>
                  <a:pt x="0" y="575158"/>
                </a:lnTo>
                <a:lnTo>
                  <a:pt x="0" y="497434"/>
                </a:lnTo>
                <a:lnTo>
                  <a:pt x="861580" y="0"/>
                </a:lnTo>
                <a:close/>
              </a:path>
            </a:pathLst>
          </a:custGeom>
          <a:solidFill>
            <a:srgbClr val="5B6770"/>
          </a:solidFill>
          <a:ln w="6350">
            <a:solidFill>
              <a:srgbClr val="1F2224"/>
            </a:solidFill>
            <a:prstDash val="solid"/>
          </a:ln>
        </p:spPr>
      </p:sp>
      <p:sp>
        <p:nvSpPr>
          <p:cNvPr id="36" name="slab top"/>
          <p:cNvSpPr/>
          <p:nvPr/>
        </p:nvSpPr>
        <p:spPr>
          <a:xfrm>
            <a:off x="953847" y="1985162"/>
            <a:ext cx="1723161" cy="994867"/>
          </a:xfrm>
          <a:custGeom>
            <a:avLst/>
            <a:gdLst/>
            <a:ahLst/>
            <a:cxnLst/>
            <a:rect l="l" t="t" r="r" b="b"/>
            <a:pathLst>
              <a:path w="1723161" h="994867">
                <a:moveTo>
                  <a:pt x="861580" y="0"/>
                </a:moveTo>
                <a:lnTo>
                  <a:pt x="1723161" y="497434"/>
                </a:lnTo>
                <a:lnTo>
                  <a:pt x="861580" y="994867"/>
                </a:lnTo>
                <a:lnTo>
                  <a:pt x="0" y="497434"/>
                </a:lnTo>
                <a:close/>
              </a:path>
            </a:pathLst>
          </a:custGeom>
          <a:solidFill>
            <a:srgbClr val="B9C4C4"/>
          </a:solidFill>
          <a:ln w="6350">
            <a:solidFill>
              <a:srgbClr val="1F2224"/>
            </a:solidFill>
            <a:prstDash val="solid"/>
          </a:ln>
        </p:spPr>
      </p:sp>
      <p:sp>
        <p:nvSpPr>
          <p:cNvPr id="37" name="material change"/>
          <p:cNvSpPr/>
          <p:nvPr/>
        </p:nvSpPr>
        <p:spPr>
          <a:xfrm>
            <a:off x="1330788" y="2202790"/>
            <a:ext cx="969278" cy="559613"/>
          </a:xfrm>
          <a:custGeom>
            <a:avLst/>
            <a:gdLst/>
            <a:ahLst/>
            <a:cxnLst/>
            <a:rect l="l" t="t" r="r" b="b"/>
            <a:pathLst>
              <a:path w="969278" h="559613">
                <a:moveTo>
                  <a:pt x="484639" y="0"/>
                </a:moveTo>
                <a:lnTo>
                  <a:pt x="969278" y="279806"/>
                </a:lnTo>
                <a:lnTo>
                  <a:pt x="484639" y="559613"/>
                </a:lnTo>
                <a:lnTo>
                  <a:pt x="0" y="279806"/>
                </a:lnTo>
                <a:close/>
              </a:path>
            </a:pathLst>
          </a:custGeom>
          <a:solidFill>
            <a:srgbClr val="D9A441"/>
          </a:solidFill>
          <a:ln w="6350">
            <a:solidFill>
              <a:srgbClr val="1F2224"/>
            </a:solidFill>
            <a:prstDash val="solid"/>
          </a:ln>
        </p:spPr>
      </p:sp>
      <p:sp>
        <p:nvSpPr>
          <p:cNvPr id="38" name="Text 36"/>
          <p:cNvSpPr txBox="1"/>
          <p:nvPr/>
        </p:nvSpPr>
        <p:spPr>
          <a:xfrm>
            <a:off x="548640" y="3840480"/>
            <a:ext cx="2533574" cy="320040"/>
          </a:xfrm>
          <a:prstGeom prst="rect">
            <a:avLst/>
          </a:prstGeom>
          <a:noFill/>
          <a:ln/>
        </p:spPr>
        <p:txBody>
          <a:bodyPr wrap="square" lIns="0" tIns="0" rIns="0" bIns="0" rtlCol="0" anchor="t"/>
          <a:lstStyle/>
          <a:p>
            <a:pPr algn="ctr" indent="0" marL="0">
              <a:buNone/>
            </a:pPr>
            <a:r>
              <a:rPr lang="en-US" sz="1400" b="1" dirty="0">
                <a:solidFill>
                  <a:srgbClr val="5B6770"/>
                </a:solidFill>
              </a:rPr>
              <a:t>Articulated</a:t>
            </a:r>
            <a:endParaRPr lang="en-US" sz="1400" dirty="0"/>
          </a:p>
        </p:txBody>
      </p:sp>
      <p:sp>
        <p:nvSpPr>
          <p:cNvPr id="39" name="Text 37"/>
          <p:cNvSpPr txBox="1"/>
          <p:nvPr/>
        </p:nvSpPr>
        <p:spPr>
          <a:xfrm>
            <a:off x="548640" y="4160520"/>
            <a:ext cx="2533574" cy="365760"/>
          </a:xfrm>
          <a:prstGeom prst="rect">
            <a:avLst/>
          </a:prstGeom>
          <a:noFill/>
          <a:ln/>
        </p:spPr>
        <p:txBody>
          <a:bodyPr wrap="square" lIns="0" tIns="0" rIns="0" bIns="0" rtlCol="0" anchor="t"/>
          <a:lstStyle/>
          <a:p>
            <a:pPr rtl="1" algn="ctr" indent="0" marL="0">
              <a:buNone/>
            </a:pPr>
            <a:r>
              <a:rPr lang="ar-SA" altLang="en-US" sz="1700" b="1" dirty="0">
                <a:solidFill>
                  <a:srgbClr val="1F2224"/>
                </a:solidFill>
              </a:rPr>
              <a:t>تغيير اللون أو الخامة</a:t>
            </a:r>
            <a:endParaRPr lang="ar-SA" sz="1700" dirty="0"/>
          </a:p>
        </p:txBody>
      </p:sp>
      <p:sp>
        <p:nvSpPr>
          <p:cNvPr id="40" name="Text 38"/>
          <p:cNvSpPr txBox="1"/>
          <p:nvPr/>
        </p:nvSpPr>
        <p:spPr>
          <a:xfrm>
            <a:off x="731520" y="4526280"/>
            <a:ext cx="2167814" cy="457200"/>
          </a:xfrm>
          <a:prstGeom prst="rect">
            <a:avLst/>
          </a:prstGeom>
          <a:noFill/>
          <a:ln/>
        </p:spPr>
        <p:txBody>
          <a:bodyPr wrap="square" lIns="0" tIns="0" rIns="0" bIns="0" rtlCol="0" anchor="t"/>
          <a:lstStyle/>
          <a:p>
            <a:pPr rtl="1" algn="ctr" indent="0" marL="0">
              <a:buNone/>
            </a:pPr>
            <a:r>
              <a:rPr lang="ar-SA" altLang="en-US" sz="1300" dirty="0">
                <a:solidFill>
                  <a:srgbClr val="3A4146"/>
                </a:solidFill>
              </a:rPr>
              <a:t>يجعل المنطقة أوضح كعنصر مستقل.</a:t>
            </a:r>
            <a:endParaRPr lang="ar-SA" sz="1300" dirty="0"/>
          </a:p>
        </p:txBody>
      </p:sp>
      <p:sp>
        <p:nvSpPr>
          <p:cNvPr id="41" name="tools band"/>
          <p:cNvSpPr/>
          <p:nvPr/>
        </p:nvSpPr>
        <p:spPr>
          <a:xfrm>
            <a:off x="548640" y="5303520"/>
            <a:ext cx="11094415" cy="868680"/>
          </a:xfrm>
          <a:prstGeom prst="rect">
            <a:avLst/>
          </a:prstGeom>
          <a:solidFill>
            <a:schemeClr val="tx1"/>
          </a:solidFill>
          <a:ln/>
        </p:spPr>
      </p:sp>
      <p:sp>
        <p:nvSpPr>
          <p:cNvPr id="42" name="Text 40"/>
          <p:cNvSpPr txBox="1"/>
          <p:nvPr/>
        </p:nvSpPr>
        <p:spPr>
          <a:xfrm>
            <a:off x="8899855" y="5303520"/>
            <a:ext cx="2468880" cy="868680"/>
          </a:xfrm>
          <a:prstGeom prst="rect">
            <a:avLst/>
          </a:prstGeom>
          <a:noFill/>
          <a:ln/>
        </p:spPr>
        <p:txBody>
          <a:bodyPr wrap="square" lIns="0" tIns="0" rIns="0" bIns="0" rtlCol="0" anchor="ctr"/>
          <a:lstStyle/>
          <a:p>
            <a:pPr rtl="1" algn="r" indent="0" marL="0">
              <a:buNone/>
            </a:pPr>
            <a:r>
              <a:rPr lang="ar-SA" altLang="en-US" sz="1600" b="1" dirty="0">
                <a:solidFill>
                  <a:srgbClr val="D9A441"/>
                </a:solidFill>
              </a:rPr>
              <a:t>متى تتضح الأرضية؟</a:t>
            </a:r>
            <a:endParaRPr lang="ar-SA" sz="1600" dirty="0"/>
          </a:p>
        </p:txBody>
      </p:sp>
      <p:sp>
        <p:nvSpPr>
          <p:cNvPr id="43" name="Text 41"/>
          <p:cNvSpPr txBox="1"/>
          <p:nvPr/>
        </p:nvSpPr>
        <p:spPr>
          <a:xfrm>
            <a:off x="822960" y="5303520"/>
            <a:ext cx="7802575" cy="868680"/>
          </a:xfrm>
          <a:prstGeom prst="rect">
            <a:avLst/>
          </a:prstGeom>
          <a:noFill/>
          <a:ln/>
        </p:spPr>
        <p:txBody>
          <a:bodyPr wrap="square" lIns="0" tIns="0" rIns="0" bIns="0" rtlCol="0" anchor="ctr"/>
          <a:lstStyle/>
          <a:p>
            <a:pPr rtl="1" algn="r" indent="0" marL="0">
              <a:buNone/>
            </a:pPr>
            <a:r>
              <a:rPr lang="ar-SA" altLang="en-US" sz="1500" dirty="0">
                <a:solidFill>
                  <a:srgbClr val="FFFFFF"/>
                </a:solidFill>
              </a:rPr>
              <a:t>يتضح المستوى الأرضي عند: تغيّر محسوس في اللون أو الملمس · تحديد الحواف · معالجة السطح (سجاد، عشب، بلاط)</a:t>
            </a:r>
            <a:endParaRPr lang="ar-SA"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09-A — ELEVATED BASE PLANE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الأرضية المرتفعة</a:t>
            </a:r>
            <a:endParaRPr lang="ar-SA" sz="3200" dirty="0"/>
          </a:p>
        </p:txBody>
      </p:sp>
      <p:sp>
        <p:nvSpPr>
          <p:cNvPr id="4" name="Text 2"/>
          <p:cNvSpPr txBox="1"/>
          <p:nvPr/>
        </p:nvSpPr>
        <p:spPr>
          <a:xfrm>
            <a:off x="548640" y="1463040"/>
            <a:ext cx="11094415" cy="1143000"/>
          </a:xfrm>
          <a:prstGeom prst="rect">
            <a:avLst/>
          </a:prstGeom>
          <a:noFill/>
          <a:ln/>
        </p:spPr>
        <p:txBody>
          <a:bodyPr wrap="square" lIns="0" tIns="0" rIns="0" bIns="0" rtlCol="0" anchor="t"/>
          <a:lstStyle/>
          <a:p>
            <a:pPr algn="r" marL="342900" indent="-342900">
              <a:spcAft>
                <a:spcPts val="400"/>
              </a:spcAft>
              <a:buSzPct val="100000"/>
              <a:buChar char="■"/>
            </a:pPr>
            <a:r>
              <a:rPr lang="ar-SA" altLang="en-US" sz="1500" dirty="0">
                <a:solidFill>
                  <a:srgbClr val="1F2224"/>
                </a:solidFill>
              </a:rPr>
              <a:t>رفع جزء من الأرضية يصنع مجالًا (Domain) خاصًا داخل الفراغ الأكبر.</a:t>
            </a:r>
            <a:endParaRPr lang="ar-SA" sz="1500" dirty="0"/>
          </a:p>
          <a:p>
            <a:pPr algn="r" marL="342900" indent="-342900">
              <a:spcAft>
                <a:spcPts val="400"/>
              </a:spcAft>
              <a:buSzPct val="100000"/>
              <a:buChar char="■"/>
            </a:pPr>
            <a:r>
              <a:rPr lang="ar-SA" altLang="en-US" sz="1500" dirty="0">
                <a:solidFill>
                  <a:srgbClr val="1F2224"/>
                </a:solidFill>
              </a:rPr>
              <a:t>إذا استمرت خصائص السطح فوق الجزء المرتفع، يبدو جزءًا من المستوى المحيط.</a:t>
            </a:r>
            <a:endParaRPr lang="ar-SA" sz="1500" dirty="0"/>
          </a:p>
          <a:p>
            <a:pPr algn="r" marL="342900" indent="-342900">
              <a:spcAft>
                <a:spcPts val="400"/>
              </a:spcAft>
              <a:buSzPct val="100000"/>
              <a:buChar char="■"/>
            </a:pPr>
            <a:r>
              <a:rPr lang="ar-SA" altLang="en-US" sz="1500" dirty="0">
                <a:solidFill>
                  <a:srgbClr val="1F2224"/>
                </a:solidFill>
              </a:rPr>
              <a:t>إذا عولجت حافته بتغيير الشكل أو اللون أو الملمس، يصبح «هضبة» مستقلة عن محيطها.</a:t>
            </a:r>
            <a:endParaRPr lang="ar-SA" sz="1500" dirty="0"/>
          </a:p>
        </p:txBody>
      </p:sp>
      <p:sp>
        <p:nvSpPr>
          <p:cNvPr id="5" name="elevated case 1"/>
          <p:cNvSpPr/>
          <p:nvPr/>
        </p:nvSpPr>
        <p:spPr>
          <a:xfrm>
            <a:off x="8158277" y="2743200"/>
            <a:ext cx="3484778" cy="3429000"/>
          </a:xfrm>
          <a:prstGeom prst="roundRect">
            <a:avLst>
              <a:gd name="adj" fmla="val 2133"/>
            </a:avLst>
          </a:prstGeom>
          <a:solidFill>
            <a:schemeClr val="bg2"/>
          </a:solidFill>
          <a:ln/>
          <a:effectLst>
            <a:outerShdw sx="100000" sy="100000" kx="0" ky="0" algn="bl" rotWithShape="0" blurRad="101600" dist="25400" dir="5400000">
              <a:srgbClr val="000000">
                <a:alpha val="12000"/>
              </a:srgbClr>
            </a:outerShdw>
          </a:effectLst>
        </p:spPr>
      </p:sp>
      <p:sp>
        <p:nvSpPr>
          <p:cNvPr id="6" name="ground"/>
          <p:cNvSpPr/>
          <p:nvPr/>
        </p:nvSpPr>
        <p:spPr>
          <a:xfrm>
            <a:off x="8341157" y="4709160"/>
            <a:ext cx="3119018" cy="0"/>
          </a:xfrm>
          <a:prstGeom prst="line">
            <a:avLst/>
          </a:prstGeom>
          <a:noFill/>
          <a:ln w="19050">
            <a:solidFill>
              <a:srgbClr val="1F2224"/>
            </a:solidFill>
            <a:prstDash val="solid"/>
          </a:ln>
        </p:spPr>
      </p:sp>
      <p:sp>
        <p:nvSpPr>
          <p:cNvPr id="7" name="platform"/>
          <p:cNvSpPr/>
          <p:nvPr/>
        </p:nvSpPr>
        <p:spPr>
          <a:xfrm>
            <a:off x="9575597" y="4544568"/>
            <a:ext cx="1884578" cy="164592"/>
          </a:xfrm>
          <a:prstGeom prst="rect">
            <a:avLst/>
          </a:prstGeom>
          <a:solidFill>
            <a:srgbClr val="2F6B6A"/>
          </a:solidFill>
          <a:ln w="9525">
            <a:solidFill>
              <a:srgbClr val="1F2224"/>
            </a:solidFill>
            <a:prstDash val="solid"/>
          </a:ln>
        </p:spPr>
      </p:sp>
      <p:sp>
        <p:nvSpPr>
          <p:cNvPr id="8" name="viewer head"/>
          <p:cNvSpPr/>
          <p:nvPr/>
        </p:nvSpPr>
        <p:spPr>
          <a:xfrm>
            <a:off x="8615728" y="4009644"/>
            <a:ext cx="90937" cy="90937"/>
          </a:xfrm>
          <a:prstGeom prst="ellipse">
            <a:avLst/>
          </a:prstGeom>
          <a:solidFill>
            <a:srgbClr val="3A4146"/>
          </a:solidFill>
          <a:ln/>
        </p:spPr>
      </p:sp>
      <p:sp>
        <p:nvSpPr>
          <p:cNvPr id="9" name="viewer torso"/>
          <p:cNvSpPr/>
          <p:nvPr/>
        </p:nvSpPr>
        <p:spPr>
          <a:xfrm>
            <a:off x="8598240" y="4109675"/>
            <a:ext cx="125913" cy="293797"/>
          </a:xfrm>
          <a:prstGeom prst="roundRect">
            <a:avLst>
              <a:gd name="adj" fmla="val 36311"/>
            </a:avLst>
          </a:prstGeom>
          <a:solidFill>
            <a:srgbClr val="3A4146"/>
          </a:solidFill>
          <a:ln/>
        </p:spPr>
      </p:sp>
      <p:sp>
        <p:nvSpPr>
          <p:cNvPr id="10" name="viewer leg L"/>
          <p:cNvSpPr/>
          <p:nvPr/>
        </p:nvSpPr>
        <p:spPr>
          <a:xfrm>
            <a:off x="8633216" y="4415363"/>
            <a:ext cx="0" cy="293797"/>
          </a:xfrm>
          <a:prstGeom prst="line">
            <a:avLst/>
          </a:prstGeom>
          <a:noFill/>
          <a:ln w="38100">
            <a:solidFill>
              <a:srgbClr val="3A4146"/>
            </a:solidFill>
            <a:prstDash val="solid"/>
          </a:ln>
        </p:spPr>
      </p:sp>
      <p:sp>
        <p:nvSpPr>
          <p:cNvPr id="11" name="viewer leg R"/>
          <p:cNvSpPr/>
          <p:nvPr/>
        </p:nvSpPr>
        <p:spPr>
          <a:xfrm>
            <a:off x="8689177" y="4415363"/>
            <a:ext cx="0" cy="293797"/>
          </a:xfrm>
          <a:prstGeom prst="line">
            <a:avLst/>
          </a:prstGeom>
          <a:noFill/>
          <a:ln w="38100">
            <a:solidFill>
              <a:srgbClr val="3A4146"/>
            </a:solidFill>
            <a:prstDash val="solid"/>
          </a:ln>
        </p:spPr>
      </p:sp>
      <p:sp>
        <p:nvSpPr>
          <p:cNvPr id="12" name="user on platform head"/>
          <p:cNvSpPr/>
          <p:nvPr/>
        </p:nvSpPr>
        <p:spPr>
          <a:xfrm>
            <a:off x="10472417" y="3845052"/>
            <a:ext cx="90937" cy="90937"/>
          </a:xfrm>
          <a:prstGeom prst="ellipse">
            <a:avLst/>
          </a:prstGeom>
          <a:solidFill>
            <a:srgbClr val="8A9A9B"/>
          </a:solidFill>
          <a:ln/>
        </p:spPr>
      </p:sp>
      <p:sp>
        <p:nvSpPr>
          <p:cNvPr id="13" name="user on platform torso"/>
          <p:cNvSpPr/>
          <p:nvPr/>
        </p:nvSpPr>
        <p:spPr>
          <a:xfrm>
            <a:off x="10454930" y="3945083"/>
            <a:ext cx="125913" cy="293797"/>
          </a:xfrm>
          <a:prstGeom prst="roundRect">
            <a:avLst>
              <a:gd name="adj" fmla="val 36311"/>
            </a:avLst>
          </a:prstGeom>
          <a:solidFill>
            <a:srgbClr val="8A9A9B"/>
          </a:solidFill>
          <a:ln/>
        </p:spPr>
      </p:sp>
      <p:sp>
        <p:nvSpPr>
          <p:cNvPr id="14" name="user on platform leg L"/>
          <p:cNvSpPr/>
          <p:nvPr/>
        </p:nvSpPr>
        <p:spPr>
          <a:xfrm>
            <a:off x="10489905" y="4250771"/>
            <a:ext cx="0" cy="293797"/>
          </a:xfrm>
          <a:prstGeom prst="line">
            <a:avLst/>
          </a:prstGeom>
          <a:noFill/>
          <a:ln w="38100">
            <a:solidFill>
              <a:srgbClr val="8A9A9B"/>
            </a:solidFill>
            <a:prstDash val="solid"/>
          </a:ln>
        </p:spPr>
      </p:sp>
      <p:sp>
        <p:nvSpPr>
          <p:cNvPr id="15" name="user on platform leg R"/>
          <p:cNvSpPr/>
          <p:nvPr/>
        </p:nvSpPr>
        <p:spPr>
          <a:xfrm>
            <a:off x="10545867" y="4250771"/>
            <a:ext cx="0" cy="293797"/>
          </a:xfrm>
          <a:prstGeom prst="line">
            <a:avLst/>
          </a:prstGeom>
          <a:noFill/>
          <a:ln w="38100">
            <a:solidFill>
              <a:srgbClr val="8A9A9B"/>
            </a:solidFill>
            <a:prstDash val="solid"/>
          </a:ln>
        </p:spPr>
      </p:sp>
      <p:sp>
        <p:nvSpPr>
          <p:cNvPr id="16" name="sight line"/>
          <p:cNvSpPr/>
          <p:nvPr/>
        </p:nvSpPr>
        <p:spPr>
          <a:xfrm>
            <a:off x="8706917" y="4071366"/>
            <a:ext cx="868680" cy="0"/>
          </a:xfrm>
          <a:prstGeom prst="line">
            <a:avLst/>
          </a:prstGeom>
          <a:noFill/>
          <a:ln w="15875">
            <a:solidFill>
              <a:srgbClr val="C2593A"/>
            </a:solidFill>
            <a:prstDash val="dash"/>
            <a:tailEnd type="triangle"/>
          </a:ln>
        </p:spPr>
      </p:sp>
      <p:sp>
        <p:nvSpPr>
          <p:cNvPr id="17" name="Text 15"/>
          <p:cNvSpPr txBox="1"/>
          <p:nvPr/>
        </p:nvSpPr>
        <p:spPr>
          <a:xfrm>
            <a:off x="10820095" y="4754880"/>
            <a:ext cx="640080" cy="228600"/>
          </a:xfrm>
          <a:prstGeom prst="rect">
            <a:avLst/>
          </a:prstGeom>
          <a:noFill/>
          <a:ln/>
        </p:spPr>
        <p:txBody>
          <a:bodyPr wrap="square" lIns="0" tIns="0" rIns="0" bIns="0" rtlCol="0" anchor="t"/>
          <a:lstStyle/>
          <a:p>
            <a:pPr algn="r" indent="0" marL="0">
              <a:buNone/>
            </a:pPr>
            <a:r>
              <a:rPr lang="en-US" sz="1000" b="1" dirty="0">
                <a:solidFill>
                  <a:srgbClr val="5B6770"/>
                </a:solidFill>
              </a:rPr>
              <a:t>0.4 m</a:t>
            </a:r>
            <a:endParaRPr lang="en-US" sz="1000" dirty="0"/>
          </a:p>
        </p:txBody>
      </p:sp>
      <p:sp>
        <p:nvSpPr>
          <p:cNvPr id="18" name="Text 16"/>
          <p:cNvSpPr txBox="1"/>
          <p:nvPr/>
        </p:nvSpPr>
        <p:spPr>
          <a:xfrm>
            <a:off x="8341157" y="4983480"/>
            <a:ext cx="3119018" cy="274320"/>
          </a:xfrm>
          <a:prstGeom prst="rect">
            <a:avLst/>
          </a:prstGeom>
          <a:noFill/>
          <a:ln/>
        </p:spPr>
        <p:txBody>
          <a:bodyPr wrap="square" lIns="0" tIns="0" rIns="0" bIns="0" rtlCol="0" anchor="t"/>
          <a:lstStyle/>
          <a:p>
            <a:pPr algn="ctr" indent="0" marL="0">
              <a:buNone/>
            </a:pPr>
            <a:r>
              <a:rPr lang="en-US" sz="1200" b="1" dirty="0">
                <a:solidFill>
                  <a:srgbClr val="5B6770"/>
                </a:solidFill>
              </a:rPr>
              <a:t>Edge defined · continuity kept</a:t>
            </a:r>
            <a:endParaRPr lang="en-US" sz="1200" dirty="0"/>
          </a:p>
        </p:txBody>
      </p:sp>
      <p:sp>
        <p:nvSpPr>
          <p:cNvPr id="19" name="Text 17"/>
          <p:cNvSpPr txBox="1"/>
          <p:nvPr/>
        </p:nvSpPr>
        <p:spPr>
          <a:xfrm>
            <a:off x="8341157" y="5303520"/>
            <a:ext cx="3119018" cy="777240"/>
          </a:xfrm>
          <a:prstGeom prst="rect">
            <a:avLst/>
          </a:prstGeom>
          <a:noFill/>
          <a:ln/>
        </p:spPr>
        <p:txBody>
          <a:bodyPr wrap="square" lIns="0" tIns="0" rIns="0" bIns="0" rtlCol="0" anchor="t"/>
          <a:lstStyle/>
          <a:p>
            <a:pPr rtl="1" algn="ctr" indent="0" marL="0">
              <a:buNone/>
            </a:pPr>
            <a:r>
              <a:rPr lang="ar-SA" altLang="en-US" sz="1300" dirty="0">
                <a:solidFill>
                  <a:srgbClr val="1F2224"/>
                </a:solidFill>
              </a:rPr>
              <a:t>الحافة واضحة؛ تبقى الاستمرارية الفراغية والبصرية، والوصول سهل.</a:t>
            </a:r>
            <a:endParaRPr lang="ar-SA" sz="1300" dirty="0"/>
          </a:p>
        </p:txBody>
      </p:sp>
      <p:sp>
        <p:nvSpPr>
          <p:cNvPr id="20" name="elevated case 2"/>
          <p:cNvSpPr/>
          <p:nvPr/>
        </p:nvSpPr>
        <p:spPr>
          <a:xfrm>
            <a:off x="4353458" y="2743200"/>
            <a:ext cx="3484778" cy="3429000"/>
          </a:xfrm>
          <a:prstGeom prst="roundRect">
            <a:avLst>
              <a:gd name="adj" fmla="val 2133"/>
            </a:avLst>
          </a:prstGeom>
          <a:solidFill>
            <a:schemeClr val="bg2"/>
          </a:solidFill>
          <a:ln/>
          <a:effectLst>
            <a:outerShdw sx="100000" sy="100000" kx="0" ky="0" algn="bl" rotWithShape="0" blurRad="101600" dist="25400" dir="5400000">
              <a:srgbClr val="000000">
                <a:alpha val="12000"/>
              </a:srgbClr>
            </a:outerShdw>
          </a:effectLst>
        </p:spPr>
      </p:sp>
      <p:sp>
        <p:nvSpPr>
          <p:cNvPr id="21" name="ground"/>
          <p:cNvSpPr/>
          <p:nvPr/>
        </p:nvSpPr>
        <p:spPr>
          <a:xfrm>
            <a:off x="4536338" y="4709160"/>
            <a:ext cx="3119018" cy="0"/>
          </a:xfrm>
          <a:prstGeom prst="line">
            <a:avLst/>
          </a:prstGeom>
          <a:noFill/>
          <a:ln w="19050">
            <a:solidFill>
              <a:srgbClr val="1F2224"/>
            </a:solidFill>
            <a:prstDash val="solid"/>
          </a:ln>
        </p:spPr>
      </p:sp>
      <p:sp>
        <p:nvSpPr>
          <p:cNvPr id="22" name="platform"/>
          <p:cNvSpPr/>
          <p:nvPr/>
        </p:nvSpPr>
        <p:spPr>
          <a:xfrm>
            <a:off x="5770778" y="4256532"/>
            <a:ext cx="1884578" cy="452628"/>
          </a:xfrm>
          <a:prstGeom prst="rect">
            <a:avLst/>
          </a:prstGeom>
          <a:solidFill>
            <a:srgbClr val="D9A441"/>
          </a:solidFill>
          <a:ln w="9525">
            <a:solidFill>
              <a:srgbClr val="1F2224"/>
            </a:solidFill>
            <a:prstDash val="solid"/>
          </a:ln>
        </p:spPr>
      </p:sp>
      <p:sp>
        <p:nvSpPr>
          <p:cNvPr id="23" name="step 0"/>
          <p:cNvSpPr/>
          <p:nvPr/>
        </p:nvSpPr>
        <p:spPr>
          <a:xfrm>
            <a:off x="5606186" y="4315570"/>
            <a:ext cx="164592" cy="393590"/>
          </a:xfrm>
          <a:prstGeom prst="rect">
            <a:avLst/>
          </a:prstGeom>
          <a:solidFill>
            <a:srgbClr val="B9C4C4"/>
          </a:solidFill>
          <a:ln w="6350">
            <a:solidFill>
              <a:srgbClr val="1F2224"/>
            </a:solidFill>
            <a:prstDash val="solid"/>
          </a:ln>
        </p:spPr>
      </p:sp>
      <p:sp>
        <p:nvSpPr>
          <p:cNvPr id="24" name="step 1"/>
          <p:cNvSpPr/>
          <p:nvPr/>
        </p:nvSpPr>
        <p:spPr>
          <a:xfrm>
            <a:off x="5441594" y="4413968"/>
            <a:ext cx="164592" cy="295192"/>
          </a:xfrm>
          <a:prstGeom prst="rect">
            <a:avLst/>
          </a:prstGeom>
          <a:solidFill>
            <a:srgbClr val="B9C4C4"/>
          </a:solidFill>
          <a:ln w="6350">
            <a:solidFill>
              <a:srgbClr val="1F2224"/>
            </a:solidFill>
            <a:prstDash val="solid"/>
          </a:ln>
        </p:spPr>
      </p:sp>
      <p:sp>
        <p:nvSpPr>
          <p:cNvPr id="25" name="step 2"/>
          <p:cNvSpPr/>
          <p:nvPr/>
        </p:nvSpPr>
        <p:spPr>
          <a:xfrm>
            <a:off x="5277002" y="4512365"/>
            <a:ext cx="164592" cy="196795"/>
          </a:xfrm>
          <a:prstGeom prst="rect">
            <a:avLst/>
          </a:prstGeom>
          <a:solidFill>
            <a:srgbClr val="B9C4C4"/>
          </a:solidFill>
          <a:ln w="6350">
            <a:solidFill>
              <a:srgbClr val="1F2224"/>
            </a:solidFill>
            <a:prstDash val="solid"/>
          </a:ln>
        </p:spPr>
      </p:sp>
      <p:sp>
        <p:nvSpPr>
          <p:cNvPr id="26" name="step 3"/>
          <p:cNvSpPr/>
          <p:nvPr/>
        </p:nvSpPr>
        <p:spPr>
          <a:xfrm>
            <a:off x="5112410" y="4610763"/>
            <a:ext cx="164592" cy="98397"/>
          </a:xfrm>
          <a:prstGeom prst="rect">
            <a:avLst/>
          </a:prstGeom>
          <a:solidFill>
            <a:srgbClr val="B9C4C4"/>
          </a:solidFill>
          <a:ln w="6350">
            <a:solidFill>
              <a:srgbClr val="1F2224"/>
            </a:solidFill>
            <a:prstDash val="solid"/>
          </a:ln>
        </p:spPr>
      </p:sp>
      <p:sp>
        <p:nvSpPr>
          <p:cNvPr id="27" name="viewer head"/>
          <p:cNvSpPr/>
          <p:nvPr/>
        </p:nvSpPr>
        <p:spPr>
          <a:xfrm>
            <a:off x="4810910" y="4009644"/>
            <a:ext cx="90937" cy="90937"/>
          </a:xfrm>
          <a:prstGeom prst="ellipse">
            <a:avLst/>
          </a:prstGeom>
          <a:solidFill>
            <a:srgbClr val="3A4146"/>
          </a:solidFill>
          <a:ln/>
        </p:spPr>
      </p:sp>
      <p:sp>
        <p:nvSpPr>
          <p:cNvPr id="28" name="viewer torso"/>
          <p:cNvSpPr/>
          <p:nvPr/>
        </p:nvSpPr>
        <p:spPr>
          <a:xfrm>
            <a:off x="4793422" y="4109675"/>
            <a:ext cx="125913" cy="293797"/>
          </a:xfrm>
          <a:prstGeom prst="roundRect">
            <a:avLst>
              <a:gd name="adj" fmla="val 36311"/>
            </a:avLst>
          </a:prstGeom>
          <a:solidFill>
            <a:srgbClr val="3A4146"/>
          </a:solidFill>
          <a:ln/>
        </p:spPr>
      </p:sp>
      <p:sp>
        <p:nvSpPr>
          <p:cNvPr id="29" name="viewer leg L"/>
          <p:cNvSpPr/>
          <p:nvPr/>
        </p:nvSpPr>
        <p:spPr>
          <a:xfrm>
            <a:off x="4828398" y="4415363"/>
            <a:ext cx="0" cy="293797"/>
          </a:xfrm>
          <a:prstGeom prst="line">
            <a:avLst/>
          </a:prstGeom>
          <a:noFill/>
          <a:ln w="38100">
            <a:solidFill>
              <a:srgbClr val="3A4146"/>
            </a:solidFill>
            <a:prstDash val="solid"/>
          </a:ln>
        </p:spPr>
      </p:sp>
      <p:sp>
        <p:nvSpPr>
          <p:cNvPr id="30" name="viewer leg R"/>
          <p:cNvSpPr/>
          <p:nvPr/>
        </p:nvSpPr>
        <p:spPr>
          <a:xfrm>
            <a:off x="4884359" y="4415363"/>
            <a:ext cx="0" cy="293797"/>
          </a:xfrm>
          <a:prstGeom prst="line">
            <a:avLst/>
          </a:prstGeom>
          <a:noFill/>
          <a:ln w="38100">
            <a:solidFill>
              <a:srgbClr val="3A4146"/>
            </a:solidFill>
            <a:prstDash val="solid"/>
          </a:ln>
        </p:spPr>
      </p:sp>
      <p:sp>
        <p:nvSpPr>
          <p:cNvPr id="31" name="user on platform head"/>
          <p:cNvSpPr/>
          <p:nvPr/>
        </p:nvSpPr>
        <p:spPr>
          <a:xfrm>
            <a:off x="6667599" y="3557016"/>
            <a:ext cx="90937" cy="90937"/>
          </a:xfrm>
          <a:prstGeom prst="ellipse">
            <a:avLst/>
          </a:prstGeom>
          <a:solidFill>
            <a:srgbClr val="8A9A9B"/>
          </a:solidFill>
          <a:ln/>
        </p:spPr>
      </p:sp>
      <p:sp>
        <p:nvSpPr>
          <p:cNvPr id="32" name="user on platform torso"/>
          <p:cNvSpPr/>
          <p:nvPr/>
        </p:nvSpPr>
        <p:spPr>
          <a:xfrm>
            <a:off x="6650111" y="3657047"/>
            <a:ext cx="125913" cy="293797"/>
          </a:xfrm>
          <a:prstGeom prst="roundRect">
            <a:avLst>
              <a:gd name="adj" fmla="val 36311"/>
            </a:avLst>
          </a:prstGeom>
          <a:solidFill>
            <a:srgbClr val="8A9A9B"/>
          </a:solidFill>
          <a:ln/>
        </p:spPr>
      </p:sp>
      <p:sp>
        <p:nvSpPr>
          <p:cNvPr id="33" name="user on platform leg L"/>
          <p:cNvSpPr/>
          <p:nvPr/>
        </p:nvSpPr>
        <p:spPr>
          <a:xfrm>
            <a:off x="6685087" y="3962735"/>
            <a:ext cx="0" cy="293797"/>
          </a:xfrm>
          <a:prstGeom prst="line">
            <a:avLst/>
          </a:prstGeom>
          <a:noFill/>
          <a:ln w="38100">
            <a:solidFill>
              <a:srgbClr val="8A9A9B"/>
            </a:solidFill>
            <a:prstDash val="solid"/>
          </a:ln>
        </p:spPr>
      </p:sp>
      <p:sp>
        <p:nvSpPr>
          <p:cNvPr id="34" name="user on platform leg R"/>
          <p:cNvSpPr/>
          <p:nvPr/>
        </p:nvSpPr>
        <p:spPr>
          <a:xfrm>
            <a:off x="6741048" y="3962735"/>
            <a:ext cx="0" cy="293797"/>
          </a:xfrm>
          <a:prstGeom prst="line">
            <a:avLst/>
          </a:prstGeom>
          <a:noFill/>
          <a:ln w="38100">
            <a:solidFill>
              <a:srgbClr val="8A9A9B"/>
            </a:solidFill>
            <a:prstDash val="solid"/>
          </a:ln>
        </p:spPr>
      </p:sp>
      <p:sp>
        <p:nvSpPr>
          <p:cNvPr id="35" name="sight line"/>
          <p:cNvSpPr/>
          <p:nvPr/>
        </p:nvSpPr>
        <p:spPr>
          <a:xfrm>
            <a:off x="4902098" y="4071366"/>
            <a:ext cx="868680" cy="0"/>
          </a:xfrm>
          <a:prstGeom prst="line">
            <a:avLst/>
          </a:prstGeom>
          <a:noFill/>
          <a:ln w="15875">
            <a:solidFill>
              <a:srgbClr val="C2593A"/>
            </a:solidFill>
            <a:prstDash val="dash"/>
            <a:tailEnd type="triangle"/>
          </a:ln>
        </p:spPr>
      </p:sp>
      <p:sp>
        <p:nvSpPr>
          <p:cNvPr id="36" name="Text 34"/>
          <p:cNvSpPr txBox="1"/>
          <p:nvPr/>
        </p:nvSpPr>
        <p:spPr>
          <a:xfrm>
            <a:off x="7015277" y="4754880"/>
            <a:ext cx="640080" cy="228600"/>
          </a:xfrm>
          <a:prstGeom prst="rect">
            <a:avLst/>
          </a:prstGeom>
          <a:noFill/>
          <a:ln/>
        </p:spPr>
        <p:txBody>
          <a:bodyPr wrap="square" lIns="0" tIns="0" rIns="0" bIns="0" rtlCol="0" anchor="t"/>
          <a:lstStyle/>
          <a:p>
            <a:pPr algn="r" indent="0" marL="0">
              <a:buNone/>
            </a:pPr>
            <a:r>
              <a:rPr lang="en-US" sz="1000" b="1" dirty="0">
                <a:solidFill>
                  <a:srgbClr val="5B6770"/>
                </a:solidFill>
              </a:rPr>
              <a:t>1.1 m</a:t>
            </a:r>
            <a:endParaRPr lang="en-US" sz="1000" dirty="0"/>
          </a:p>
        </p:txBody>
      </p:sp>
      <p:sp>
        <p:nvSpPr>
          <p:cNvPr id="37" name="Text 35"/>
          <p:cNvSpPr txBox="1"/>
          <p:nvPr/>
        </p:nvSpPr>
        <p:spPr>
          <a:xfrm>
            <a:off x="4536338" y="4983480"/>
            <a:ext cx="3119018" cy="274320"/>
          </a:xfrm>
          <a:prstGeom prst="rect">
            <a:avLst/>
          </a:prstGeom>
          <a:noFill/>
          <a:ln/>
        </p:spPr>
        <p:txBody>
          <a:bodyPr wrap="square" lIns="0" tIns="0" rIns="0" bIns="0" rtlCol="0" anchor="t"/>
          <a:lstStyle/>
          <a:p>
            <a:pPr algn="ctr" indent="0" marL="0">
              <a:buNone/>
            </a:pPr>
            <a:r>
              <a:rPr lang="en-US" sz="1200" b="1" dirty="0">
                <a:solidFill>
                  <a:srgbClr val="5B6770"/>
                </a:solidFill>
              </a:rPr>
              <a:t>Spatial broken · visual kept</a:t>
            </a:r>
            <a:endParaRPr lang="en-US" sz="1200" dirty="0"/>
          </a:p>
        </p:txBody>
      </p:sp>
      <p:sp>
        <p:nvSpPr>
          <p:cNvPr id="38" name="Text 36"/>
          <p:cNvSpPr txBox="1"/>
          <p:nvPr/>
        </p:nvSpPr>
        <p:spPr>
          <a:xfrm>
            <a:off x="4536338" y="5303520"/>
            <a:ext cx="3119018" cy="777240"/>
          </a:xfrm>
          <a:prstGeom prst="rect">
            <a:avLst/>
          </a:prstGeom>
          <a:noFill/>
          <a:ln/>
        </p:spPr>
        <p:txBody>
          <a:bodyPr wrap="square" lIns="0" tIns="0" rIns="0" bIns="0" rtlCol="0" anchor="t"/>
          <a:lstStyle/>
          <a:p>
            <a:pPr rtl="1" algn="ctr" indent="0" marL="0">
              <a:buNone/>
            </a:pPr>
            <a:r>
              <a:rPr lang="ar-SA" altLang="en-US" sz="1300" dirty="0">
                <a:solidFill>
                  <a:srgbClr val="1F2224"/>
                </a:solidFill>
              </a:rPr>
              <a:t>تنقطع الاستمرارية الفراغية وتبقى البصرية؛ يحتاج الوصول إلى درج.</a:t>
            </a:r>
            <a:endParaRPr lang="ar-SA" sz="1300" dirty="0"/>
          </a:p>
        </p:txBody>
      </p:sp>
      <p:sp>
        <p:nvSpPr>
          <p:cNvPr id="39" name="elevated case 3"/>
          <p:cNvSpPr/>
          <p:nvPr/>
        </p:nvSpPr>
        <p:spPr>
          <a:xfrm>
            <a:off x="548640" y="2743200"/>
            <a:ext cx="3484778" cy="3429000"/>
          </a:xfrm>
          <a:prstGeom prst="roundRect">
            <a:avLst>
              <a:gd name="adj" fmla="val 2133"/>
            </a:avLst>
          </a:prstGeom>
          <a:solidFill>
            <a:schemeClr val="bg2"/>
          </a:solidFill>
          <a:ln/>
          <a:effectLst>
            <a:outerShdw sx="100000" sy="100000" kx="0" ky="0" algn="bl" rotWithShape="0" blurRad="101600" dist="25400" dir="5400000">
              <a:srgbClr val="000000">
                <a:alpha val="12000"/>
              </a:srgbClr>
            </a:outerShdw>
          </a:effectLst>
        </p:spPr>
      </p:sp>
      <p:sp>
        <p:nvSpPr>
          <p:cNvPr id="40" name="ground"/>
          <p:cNvSpPr/>
          <p:nvPr/>
        </p:nvSpPr>
        <p:spPr>
          <a:xfrm>
            <a:off x="731520" y="4709160"/>
            <a:ext cx="3119018" cy="0"/>
          </a:xfrm>
          <a:prstGeom prst="line">
            <a:avLst/>
          </a:prstGeom>
          <a:noFill/>
          <a:ln w="19050">
            <a:solidFill>
              <a:srgbClr val="1F2224"/>
            </a:solidFill>
            <a:prstDash val="solid"/>
          </a:ln>
        </p:spPr>
      </p:sp>
      <p:sp>
        <p:nvSpPr>
          <p:cNvPr id="41" name="platform"/>
          <p:cNvSpPr/>
          <p:nvPr/>
        </p:nvSpPr>
        <p:spPr>
          <a:xfrm>
            <a:off x="1965960" y="3803904"/>
            <a:ext cx="1884578" cy="905256"/>
          </a:xfrm>
          <a:prstGeom prst="rect">
            <a:avLst/>
          </a:prstGeom>
          <a:solidFill>
            <a:srgbClr val="C2593A"/>
          </a:solidFill>
          <a:ln w="9525">
            <a:solidFill>
              <a:srgbClr val="1F2224"/>
            </a:solidFill>
            <a:prstDash val="solid"/>
          </a:ln>
        </p:spPr>
      </p:sp>
      <p:sp>
        <p:nvSpPr>
          <p:cNvPr id="42" name="viewer head"/>
          <p:cNvSpPr/>
          <p:nvPr/>
        </p:nvSpPr>
        <p:spPr>
          <a:xfrm>
            <a:off x="1006091" y="4009644"/>
            <a:ext cx="90937" cy="90937"/>
          </a:xfrm>
          <a:prstGeom prst="ellipse">
            <a:avLst/>
          </a:prstGeom>
          <a:solidFill>
            <a:srgbClr val="3A4146"/>
          </a:solidFill>
          <a:ln/>
        </p:spPr>
      </p:sp>
      <p:sp>
        <p:nvSpPr>
          <p:cNvPr id="43" name="viewer torso"/>
          <p:cNvSpPr/>
          <p:nvPr/>
        </p:nvSpPr>
        <p:spPr>
          <a:xfrm>
            <a:off x="988604" y="4109675"/>
            <a:ext cx="125913" cy="293797"/>
          </a:xfrm>
          <a:prstGeom prst="roundRect">
            <a:avLst>
              <a:gd name="adj" fmla="val 36311"/>
            </a:avLst>
          </a:prstGeom>
          <a:solidFill>
            <a:srgbClr val="3A4146"/>
          </a:solidFill>
          <a:ln/>
        </p:spPr>
      </p:sp>
      <p:sp>
        <p:nvSpPr>
          <p:cNvPr id="44" name="viewer leg L"/>
          <p:cNvSpPr/>
          <p:nvPr/>
        </p:nvSpPr>
        <p:spPr>
          <a:xfrm>
            <a:off x="1023579" y="4415363"/>
            <a:ext cx="0" cy="293797"/>
          </a:xfrm>
          <a:prstGeom prst="line">
            <a:avLst/>
          </a:prstGeom>
          <a:noFill/>
          <a:ln w="38100">
            <a:solidFill>
              <a:srgbClr val="3A4146"/>
            </a:solidFill>
            <a:prstDash val="solid"/>
          </a:ln>
        </p:spPr>
      </p:sp>
      <p:sp>
        <p:nvSpPr>
          <p:cNvPr id="45" name="viewer leg R"/>
          <p:cNvSpPr/>
          <p:nvPr/>
        </p:nvSpPr>
        <p:spPr>
          <a:xfrm>
            <a:off x="1079541" y="4415363"/>
            <a:ext cx="0" cy="293797"/>
          </a:xfrm>
          <a:prstGeom prst="line">
            <a:avLst/>
          </a:prstGeom>
          <a:noFill/>
          <a:ln w="38100">
            <a:solidFill>
              <a:srgbClr val="3A4146"/>
            </a:solidFill>
            <a:prstDash val="solid"/>
          </a:ln>
        </p:spPr>
      </p:sp>
      <p:sp>
        <p:nvSpPr>
          <p:cNvPr id="46" name="user on platform head"/>
          <p:cNvSpPr/>
          <p:nvPr/>
        </p:nvSpPr>
        <p:spPr>
          <a:xfrm>
            <a:off x="2862781" y="3104388"/>
            <a:ext cx="90937" cy="90937"/>
          </a:xfrm>
          <a:prstGeom prst="ellipse">
            <a:avLst/>
          </a:prstGeom>
          <a:solidFill>
            <a:srgbClr val="8A9A9B"/>
          </a:solidFill>
          <a:ln/>
        </p:spPr>
      </p:sp>
      <p:sp>
        <p:nvSpPr>
          <p:cNvPr id="47" name="user on platform torso"/>
          <p:cNvSpPr/>
          <p:nvPr/>
        </p:nvSpPr>
        <p:spPr>
          <a:xfrm>
            <a:off x="2845293" y="3204419"/>
            <a:ext cx="125913" cy="293797"/>
          </a:xfrm>
          <a:prstGeom prst="roundRect">
            <a:avLst>
              <a:gd name="adj" fmla="val 36311"/>
            </a:avLst>
          </a:prstGeom>
          <a:solidFill>
            <a:srgbClr val="8A9A9B"/>
          </a:solidFill>
          <a:ln/>
        </p:spPr>
      </p:sp>
      <p:sp>
        <p:nvSpPr>
          <p:cNvPr id="48" name="user on platform leg L"/>
          <p:cNvSpPr/>
          <p:nvPr/>
        </p:nvSpPr>
        <p:spPr>
          <a:xfrm>
            <a:off x="2880269" y="3510107"/>
            <a:ext cx="0" cy="293797"/>
          </a:xfrm>
          <a:prstGeom prst="line">
            <a:avLst/>
          </a:prstGeom>
          <a:noFill/>
          <a:ln w="38100">
            <a:solidFill>
              <a:srgbClr val="8A9A9B"/>
            </a:solidFill>
            <a:prstDash val="solid"/>
          </a:ln>
        </p:spPr>
      </p:sp>
      <p:sp>
        <p:nvSpPr>
          <p:cNvPr id="49" name="user on platform leg R"/>
          <p:cNvSpPr/>
          <p:nvPr/>
        </p:nvSpPr>
        <p:spPr>
          <a:xfrm>
            <a:off x="2936230" y="3510107"/>
            <a:ext cx="0" cy="293797"/>
          </a:xfrm>
          <a:prstGeom prst="line">
            <a:avLst/>
          </a:prstGeom>
          <a:noFill/>
          <a:ln w="38100">
            <a:solidFill>
              <a:srgbClr val="8A9A9B"/>
            </a:solidFill>
            <a:prstDash val="solid"/>
          </a:ln>
        </p:spPr>
      </p:sp>
      <p:sp>
        <p:nvSpPr>
          <p:cNvPr id="50" name="sight line"/>
          <p:cNvSpPr/>
          <p:nvPr/>
        </p:nvSpPr>
        <p:spPr>
          <a:xfrm>
            <a:off x="1097280" y="4071366"/>
            <a:ext cx="868680" cy="0"/>
          </a:xfrm>
          <a:prstGeom prst="line">
            <a:avLst/>
          </a:prstGeom>
          <a:noFill/>
          <a:ln w="15875">
            <a:solidFill>
              <a:srgbClr val="C2593A"/>
            </a:solidFill>
            <a:prstDash val="dash"/>
            <a:tailEnd type="triangle"/>
          </a:ln>
        </p:spPr>
      </p:sp>
      <p:sp>
        <p:nvSpPr>
          <p:cNvPr id="51" name="Text 49"/>
          <p:cNvSpPr txBox="1"/>
          <p:nvPr/>
        </p:nvSpPr>
        <p:spPr>
          <a:xfrm>
            <a:off x="3210458" y="4754880"/>
            <a:ext cx="640080" cy="228600"/>
          </a:xfrm>
          <a:prstGeom prst="rect">
            <a:avLst/>
          </a:prstGeom>
          <a:noFill/>
          <a:ln/>
        </p:spPr>
        <p:txBody>
          <a:bodyPr wrap="square" lIns="0" tIns="0" rIns="0" bIns="0" rtlCol="0" anchor="t"/>
          <a:lstStyle/>
          <a:p>
            <a:pPr algn="r" indent="0" marL="0">
              <a:buNone/>
            </a:pPr>
            <a:r>
              <a:rPr lang="en-US" sz="1000" b="1" dirty="0">
                <a:solidFill>
                  <a:srgbClr val="5B6770"/>
                </a:solidFill>
              </a:rPr>
              <a:t>2.2 m</a:t>
            </a:r>
            <a:endParaRPr lang="en-US" sz="1000" dirty="0"/>
          </a:p>
        </p:txBody>
      </p:sp>
      <p:sp>
        <p:nvSpPr>
          <p:cNvPr id="52" name="Text 50"/>
          <p:cNvSpPr txBox="1"/>
          <p:nvPr/>
        </p:nvSpPr>
        <p:spPr>
          <a:xfrm>
            <a:off x="731520" y="4983480"/>
            <a:ext cx="3119018" cy="274320"/>
          </a:xfrm>
          <a:prstGeom prst="rect">
            <a:avLst/>
          </a:prstGeom>
          <a:noFill/>
          <a:ln/>
        </p:spPr>
        <p:txBody>
          <a:bodyPr wrap="square" lIns="0" tIns="0" rIns="0" bIns="0" rtlCol="0" anchor="t"/>
          <a:lstStyle/>
          <a:p>
            <a:pPr algn="ctr" indent="0" marL="0">
              <a:buNone/>
            </a:pPr>
            <a:r>
              <a:rPr lang="en-US" sz="1200" b="1" dirty="0">
                <a:solidFill>
                  <a:srgbClr val="5B6770"/>
                </a:solidFill>
              </a:rPr>
              <a:t>Spatial &amp; visual broken</a:t>
            </a:r>
            <a:endParaRPr lang="en-US" sz="1200" dirty="0"/>
          </a:p>
        </p:txBody>
      </p:sp>
      <p:sp>
        <p:nvSpPr>
          <p:cNvPr id="53" name="Text 51"/>
          <p:cNvSpPr txBox="1"/>
          <p:nvPr/>
        </p:nvSpPr>
        <p:spPr>
          <a:xfrm>
            <a:off x="731520" y="5303520"/>
            <a:ext cx="3119018" cy="777240"/>
          </a:xfrm>
          <a:prstGeom prst="rect">
            <a:avLst/>
          </a:prstGeom>
          <a:noFill/>
          <a:ln/>
        </p:spPr>
        <p:txBody>
          <a:bodyPr wrap="square" lIns="0" tIns="0" rIns="0" bIns="0" rtlCol="0" anchor="t"/>
          <a:lstStyle/>
          <a:p>
            <a:pPr rtl="1" algn="ctr" indent="0" marL="0">
              <a:buNone/>
            </a:pPr>
            <a:r>
              <a:rPr lang="ar-SA" altLang="en-US" sz="1300" dirty="0">
                <a:solidFill>
                  <a:srgbClr val="1F2224"/>
                </a:solidFill>
              </a:rPr>
              <a:t>تنقطع الاستمرارية البصرية والفراغية؛ ينعزل المستوى المرتفع عن الأرض.</a:t>
            </a:r>
            <a:endParaRPr lang="ar-SA"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09-B — ELEVATED PLANE: EXAMPLES</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الأرضية المرتفعة: أمثلة</a:t>
            </a:r>
            <a:endParaRPr lang="ar-SA" sz="3200" dirty="0"/>
          </a:p>
        </p:txBody>
      </p:sp>
      <p:sp>
        <p:nvSpPr>
          <p:cNvPr id="4" name="Text 2"/>
          <p:cNvSpPr txBox="1"/>
          <p:nvPr/>
        </p:nvSpPr>
        <p:spPr>
          <a:xfrm>
            <a:off x="548640" y="1463040"/>
            <a:ext cx="11094415" cy="640080"/>
          </a:xfrm>
          <a:prstGeom prst="rect">
            <a:avLst/>
          </a:prstGeom>
          <a:noFill/>
          <a:ln/>
        </p:spPr>
        <p:txBody>
          <a:bodyPr wrap="square" lIns="0" tIns="0" rIns="0" bIns="0" rtlCol="0" anchor="t"/>
          <a:lstStyle/>
          <a:p>
            <a:pPr rtl="1" algn="r" indent="0" marL="0">
              <a:buNone/>
            </a:pPr>
            <a:r>
              <a:rPr lang="ar-SA" altLang="en-US" sz="1500" dirty="0">
                <a:solidFill>
                  <a:srgbClr val="3A4146"/>
                </a:solidFill>
              </a:rPr>
              <a:t>قد ينتج الارتفاع عن طبيعة الموقع أو يُنشأ عمدًا لرفع المبنى عن محيطه وتعزيز صورته، ويُستخدم لتمييز المباني المقدسة أو المهمة.</a:t>
            </a:r>
            <a:endParaRPr lang="ar-SA" sz="1500" dirty="0"/>
          </a:p>
        </p:txBody>
      </p:sp>
      <p:pic>
        <p:nvPicPr>
          <p:cNvPr id="5" name="photo acropolis" descr="acropolis">    </p:cNvPr>
          <p:cNvPicPr>
            <a:picLocks noChangeAspect="1"/>
          </p:cNvPicPr>
          <p:nvPr/>
        </p:nvPicPr>
        <p:blipFill>
          <a:blip r:embed="rId1"/>
          <a:stretch>
            <a:fillRect/>
          </a:stretch>
        </p:blipFill>
        <p:spPr>
          <a:xfrm>
            <a:off x="9075191" y="2286000"/>
            <a:ext cx="2567864" cy="2514600"/>
          </a:xfrm>
          <a:prstGeom prst="rect">
            <a:avLst/>
          </a:prstGeom>
        </p:spPr>
      </p:pic>
      <p:sp>
        <p:nvSpPr>
          <p:cNvPr id="6" name="Text 3"/>
          <p:cNvSpPr txBox="1"/>
          <p:nvPr/>
        </p:nvSpPr>
        <p:spPr>
          <a:xfrm>
            <a:off x="9075191" y="4892040"/>
            <a:ext cx="2567864" cy="457200"/>
          </a:xfrm>
          <a:prstGeom prst="rect">
            <a:avLst/>
          </a:prstGeom>
          <a:noFill/>
          <a:ln/>
        </p:spPr>
        <p:txBody>
          <a:bodyPr wrap="square" lIns="0" tIns="0" rIns="0" bIns="0" rtlCol="0" anchor="t"/>
          <a:lstStyle/>
          <a:p>
            <a:pPr algn="r" indent="0" marL="0">
              <a:buNone/>
            </a:pPr>
            <a:r>
              <a:rPr lang="en-US" sz="1200" b="1" dirty="0">
                <a:solidFill>
                  <a:srgbClr val="1F2224"/>
                </a:solidFill>
              </a:rPr>
              <a:t>Acropolis, Athens</a:t>
            </a:r>
            <a:endParaRPr lang="en-US" sz="1200" dirty="0"/>
          </a:p>
        </p:txBody>
      </p:sp>
      <p:sp>
        <p:nvSpPr>
          <p:cNvPr id="7" name="Text 4"/>
          <p:cNvSpPr txBox="1"/>
          <p:nvPr/>
        </p:nvSpPr>
        <p:spPr>
          <a:xfrm>
            <a:off x="9075191" y="5349240"/>
            <a:ext cx="2567864" cy="640080"/>
          </a:xfrm>
          <a:prstGeom prst="rect">
            <a:avLst/>
          </a:prstGeom>
          <a:noFill/>
          <a:ln/>
        </p:spPr>
        <p:txBody>
          <a:bodyPr wrap="square" lIns="0" tIns="0" rIns="0" bIns="0" rtlCol="0" anchor="t"/>
          <a:lstStyle/>
          <a:p>
            <a:pPr rtl="1" algn="r" indent="0" marL="0">
              <a:buNone/>
            </a:pPr>
            <a:r>
              <a:rPr lang="ar-SA" altLang="en-US" sz="1300" dirty="0">
                <a:solidFill>
                  <a:srgbClr val="3A4146"/>
                </a:solidFill>
              </a:rPr>
              <a:t>مرتفع طبيعي يميّز المعبد ويمنحه المكانة.</a:t>
            </a:r>
            <a:endParaRPr lang="ar-SA" sz="1300" dirty="0"/>
          </a:p>
        </p:txBody>
      </p:sp>
      <p:pic>
        <p:nvPicPr>
          <p:cNvPr id="8" name="photo savoye" descr="savoye">    </p:cNvPr>
          <p:cNvPicPr>
            <a:picLocks noChangeAspect="1"/>
          </p:cNvPicPr>
          <p:nvPr/>
        </p:nvPicPr>
        <p:blipFill>
          <a:blip r:embed="rId2"/>
          <a:stretch>
            <a:fillRect/>
          </a:stretch>
        </p:blipFill>
        <p:spPr>
          <a:xfrm>
            <a:off x="6233008" y="2286000"/>
            <a:ext cx="2567864" cy="2514600"/>
          </a:xfrm>
          <a:prstGeom prst="rect">
            <a:avLst/>
          </a:prstGeom>
        </p:spPr>
      </p:pic>
      <p:sp>
        <p:nvSpPr>
          <p:cNvPr id="9" name="Text 5"/>
          <p:cNvSpPr txBox="1"/>
          <p:nvPr/>
        </p:nvSpPr>
        <p:spPr>
          <a:xfrm>
            <a:off x="6233008" y="4892040"/>
            <a:ext cx="2567864" cy="457200"/>
          </a:xfrm>
          <a:prstGeom prst="rect">
            <a:avLst/>
          </a:prstGeom>
          <a:noFill/>
          <a:ln/>
        </p:spPr>
        <p:txBody>
          <a:bodyPr wrap="square" lIns="0" tIns="0" rIns="0" bIns="0" rtlCol="0" anchor="t"/>
          <a:lstStyle/>
          <a:p>
            <a:pPr algn="r" indent="0" marL="0">
              <a:buNone/>
            </a:pPr>
            <a:r>
              <a:rPr lang="en-US" sz="1200" b="1" dirty="0">
                <a:solidFill>
                  <a:srgbClr val="1F2224"/>
                </a:solidFill>
              </a:rPr>
              <a:t>Villa Savoye, Paris — Le Corbusier</a:t>
            </a:r>
            <a:endParaRPr lang="en-US" sz="1200" dirty="0"/>
          </a:p>
        </p:txBody>
      </p:sp>
      <p:sp>
        <p:nvSpPr>
          <p:cNvPr id="10" name="Text 6"/>
          <p:cNvSpPr txBox="1"/>
          <p:nvPr/>
        </p:nvSpPr>
        <p:spPr>
          <a:xfrm>
            <a:off x="6233008" y="5349240"/>
            <a:ext cx="2567864" cy="640080"/>
          </a:xfrm>
          <a:prstGeom prst="rect">
            <a:avLst/>
          </a:prstGeom>
          <a:noFill/>
          <a:ln/>
        </p:spPr>
        <p:txBody>
          <a:bodyPr wrap="square" lIns="0" tIns="0" rIns="0" bIns="0" rtlCol="0" anchor="t"/>
          <a:lstStyle/>
          <a:p>
            <a:pPr rtl="1" algn="r" indent="0" marL="0">
              <a:buNone/>
            </a:pPr>
            <a:r>
              <a:rPr lang="ar-SA" altLang="en-US" sz="1300" dirty="0">
                <a:solidFill>
                  <a:srgbClr val="3A4146"/>
                </a:solidFill>
              </a:rPr>
              <a:t>رفع المبنى على أعمدة عن الأرض.</a:t>
            </a:r>
            <a:endParaRPr lang="ar-SA" sz="1300" dirty="0"/>
          </a:p>
        </p:txBody>
      </p:sp>
      <p:pic>
        <p:nvPicPr>
          <p:cNvPr id="11" name="photo cept" descr="cept">    </p:cNvPr>
          <p:cNvPicPr>
            <a:picLocks noChangeAspect="1"/>
          </p:cNvPicPr>
          <p:nvPr/>
        </p:nvPicPr>
        <p:blipFill>
          <a:blip r:embed="rId3"/>
          <a:stretch>
            <a:fillRect/>
          </a:stretch>
        </p:blipFill>
        <p:spPr>
          <a:xfrm>
            <a:off x="3390824" y="2286000"/>
            <a:ext cx="2567864" cy="2514600"/>
          </a:xfrm>
          <a:prstGeom prst="rect">
            <a:avLst/>
          </a:prstGeom>
        </p:spPr>
      </p:pic>
      <p:sp>
        <p:nvSpPr>
          <p:cNvPr id="12" name="Text 7"/>
          <p:cNvSpPr txBox="1"/>
          <p:nvPr/>
        </p:nvSpPr>
        <p:spPr>
          <a:xfrm>
            <a:off x="3390824" y="4892040"/>
            <a:ext cx="2567864" cy="457200"/>
          </a:xfrm>
          <a:prstGeom prst="rect">
            <a:avLst/>
          </a:prstGeom>
          <a:noFill/>
          <a:ln/>
        </p:spPr>
        <p:txBody>
          <a:bodyPr wrap="square" lIns="0" tIns="0" rIns="0" bIns="0" rtlCol="0" anchor="t"/>
          <a:lstStyle/>
          <a:p>
            <a:pPr algn="r" indent="0" marL="0">
              <a:buNone/>
            </a:pPr>
            <a:r>
              <a:rPr lang="en-US" sz="1200" b="1" dirty="0">
                <a:solidFill>
                  <a:srgbClr val="1F2224"/>
                </a:solidFill>
              </a:rPr>
              <a:t>CEPT University canteen, Ahmedabad</a:t>
            </a:r>
            <a:endParaRPr lang="en-US" sz="1200" dirty="0"/>
          </a:p>
        </p:txBody>
      </p:sp>
      <p:sp>
        <p:nvSpPr>
          <p:cNvPr id="13" name="Text 8"/>
          <p:cNvSpPr txBox="1"/>
          <p:nvPr/>
        </p:nvSpPr>
        <p:spPr>
          <a:xfrm>
            <a:off x="3390824" y="5349240"/>
            <a:ext cx="2567864" cy="640080"/>
          </a:xfrm>
          <a:prstGeom prst="rect">
            <a:avLst/>
          </a:prstGeom>
          <a:noFill/>
          <a:ln/>
        </p:spPr>
        <p:txBody>
          <a:bodyPr wrap="square" lIns="0" tIns="0" rIns="0" bIns="0" rtlCol="0" anchor="t"/>
          <a:lstStyle/>
          <a:p>
            <a:pPr rtl="1" algn="r" indent="0" marL="0">
              <a:buNone/>
            </a:pPr>
            <a:r>
              <a:rPr lang="ar-SA" altLang="en-US" sz="1300" dirty="0">
                <a:solidFill>
                  <a:srgbClr val="3A4146"/>
                </a:solidFill>
              </a:rPr>
              <a:t>منصة منخفضة تحدد منطقة جلوس خارجية.</a:t>
            </a:r>
            <a:endParaRPr lang="ar-SA" sz="1300" dirty="0"/>
          </a:p>
        </p:txBody>
      </p:sp>
      <p:pic>
        <p:nvPicPr>
          <p:cNvPr id="14" name="photo elev_room" descr="elev_room">    </p:cNvPr>
          <p:cNvPicPr>
            <a:picLocks noChangeAspect="1"/>
          </p:cNvPicPr>
          <p:nvPr/>
        </p:nvPicPr>
        <p:blipFill>
          <a:blip r:embed="rId4"/>
          <a:stretch>
            <a:fillRect/>
          </a:stretch>
        </p:blipFill>
        <p:spPr>
          <a:xfrm>
            <a:off x="548640" y="2286000"/>
            <a:ext cx="2567864" cy="2514600"/>
          </a:xfrm>
          <a:prstGeom prst="rect">
            <a:avLst/>
          </a:prstGeom>
        </p:spPr>
      </p:pic>
      <p:sp>
        <p:nvSpPr>
          <p:cNvPr id="15" name="Text 9"/>
          <p:cNvSpPr txBox="1"/>
          <p:nvPr/>
        </p:nvSpPr>
        <p:spPr>
          <a:xfrm>
            <a:off x="548640" y="4892040"/>
            <a:ext cx="2567864" cy="457200"/>
          </a:xfrm>
          <a:prstGeom prst="rect">
            <a:avLst/>
          </a:prstGeom>
          <a:noFill/>
          <a:ln/>
        </p:spPr>
        <p:txBody>
          <a:bodyPr wrap="square" lIns="0" tIns="0" rIns="0" bIns="0" rtlCol="0" anchor="t"/>
          <a:lstStyle/>
          <a:p>
            <a:pPr algn="r" indent="0" marL="0">
              <a:buNone/>
            </a:pPr>
            <a:r>
              <a:rPr lang="en-US" sz="1200" b="1" dirty="0">
                <a:solidFill>
                  <a:srgbClr val="1F2224"/>
                </a:solidFill>
              </a:rPr>
              <a:t>Elevated zone in an interior</a:t>
            </a:r>
            <a:endParaRPr lang="en-US" sz="1200" dirty="0"/>
          </a:p>
        </p:txBody>
      </p:sp>
      <p:sp>
        <p:nvSpPr>
          <p:cNvPr id="16" name="Text 10"/>
          <p:cNvSpPr txBox="1"/>
          <p:nvPr/>
        </p:nvSpPr>
        <p:spPr>
          <a:xfrm>
            <a:off x="548640" y="5349240"/>
            <a:ext cx="2567864" cy="640080"/>
          </a:xfrm>
          <a:prstGeom prst="rect">
            <a:avLst/>
          </a:prstGeom>
          <a:noFill/>
          <a:ln/>
        </p:spPr>
        <p:txBody>
          <a:bodyPr wrap="square" lIns="0" tIns="0" rIns="0" bIns="0" rtlCol="0" anchor="t"/>
          <a:lstStyle/>
          <a:p>
            <a:pPr rtl="1" algn="r" indent="0" marL="0">
              <a:buNone/>
            </a:pPr>
            <a:r>
              <a:rPr lang="ar-SA" altLang="en-US" sz="1300" dirty="0">
                <a:solidFill>
                  <a:srgbClr val="3A4146"/>
                </a:solidFill>
              </a:rPr>
              <a:t>أرضية مرتفعة تحدد منطقة عمل داخل الفراغ.</a:t>
            </a:r>
            <a:endParaRPr lang="ar-SA" sz="1300" dirty="0"/>
          </a:p>
        </p:txBody>
      </p:sp>
      <p:sp>
        <p:nvSpPr>
          <p:cNvPr id="17" name="Text 11"/>
          <p:cNvSpPr txBox="1"/>
          <p:nvPr/>
        </p:nvSpPr>
        <p:spPr>
          <a:xfrm>
            <a:off x="548640" y="6053328"/>
            <a:ext cx="5486400" cy="228600"/>
          </a:xfrm>
          <a:prstGeom prst="rect">
            <a:avLst/>
          </a:prstGeom>
          <a:noFill/>
          <a:ln/>
        </p:spPr>
        <p:txBody>
          <a:bodyPr wrap="square" lIns="0" tIns="0" rIns="0" bIns="0" rtlCol="0" anchor="t"/>
          <a:lstStyle/>
          <a:p>
            <a:pPr algn="l" indent="0" marL="0">
              <a:buNone/>
            </a:pPr>
            <a:r>
              <a:rPr lang="en-US" sz="1000" i="1" dirty="0">
                <a:solidFill>
                  <a:srgbClr val="8A9A9B"/>
                </a:solidFill>
              </a:rPr>
              <a:t>Images: Theory of Architecture — course reference</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09-C — DEPRESSED BASE PLANE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الأرضية المنخفضة</a:t>
            </a:r>
            <a:endParaRPr lang="ar-SA" sz="3200" dirty="0"/>
          </a:p>
        </p:txBody>
      </p:sp>
      <p:sp>
        <p:nvSpPr>
          <p:cNvPr id="4" name="Text 2"/>
          <p:cNvSpPr txBox="1"/>
          <p:nvPr/>
        </p:nvSpPr>
        <p:spPr>
          <a:xfrm>
            <a:off x="548640" y="1463040"/>
            <a:ext cx="11094415" cy="411480"/>
          </a:xfrm>
          <a:prstGeom prst="rect">
            <a:avLst/>
          </a:prstGeom>
          <a:noFill/>
          <a:ln/>
        </p:spPr>
        <p:txBody>
          <a:bodyPr wrap="square" lIns="0" tIns="0" rIns="0" bIns="0" rtlCol="0" anchor="t"/>
          <a:lstStyle/>
          <a:p>
            <a:pPr rtl="1" algn="r" indent="0" marL="0">
              <a:buNone/>
            </a:pPr>
            <a:r>
              <a:rPr lang="ar-SA" altLang="en-US" sz="1500" dirty="0">
                <a:solidFill>
                  <a:srgbClr val="3A4146"/>
                </a:solidFill>
              </a:rPr>
              <a:t>الأسطح الرأسية للانخفاض هي التي تحدد حدوده، ويمكن تعزيزه بتباين الشكل أو الهندسة أو الاتجاه عن المحيط.</a:t>
            </a:r>
            <a:endParaRPr lang="ar-SA" sz="1500" dirty="0"/>
          </a:p>
        </p:txBody>
      </p:sp>
      <p:sp>
        <p:nvSpPr>
          <p:cNvPr id="5" name="depressed case 1"/>
          <p:cNvSpPr/>
          <p:nvPr/>
        </p:nvSpPr>
        <p:spPr>
          <a:xfrm>
            <a:off x="8158277" y="2011680"/>
            <a:ext cx="3484778" cy="1828800"/>
          </a:xfrm>
          <a:prstGeom prst="roundRect">
            <a:avLst>
              <a:gd name="adj" fmla="val 4000"/>
            </a:avLst>
          </a:prstGeom>
          <a:solidFill>
            <a:schemeClr val="bg2"/>
          </a:solidFill>
          <a:ln/>
          <a:effectLst>
            <a:outerShdw sx="100000" sy="100000" kx="0" ky="0" algn="bl" rotWithShape="0" blurRad="101600" dist="25400" dir="5400000">
              <a:srgbClr val="000000">
                <a:alpha val="12000"/>
              </a:srgbClr>
            </a:outerShdw>
          </a:effectLst>
        </p:spPr>
      </p:sp>
      <p:sp>
        <p:nvSpPr>
          <p:cNvPr id="6" name="sunken field"/>
          <p:cNvSpPr/>
          <p:nvPr/>
        </p:nvSpPr>
        <p:spPr>
          <a:xfrm>
            <a:off x="8981237" y="2560320"/>
            <a:ext cx="1838858" cy="87782"/>
          </a:xfrm>
          <a:prstGeom prst="rect">
            <a:avLst/>
          </a:prstGeom>
          <a:solidFill>
            <a:srgbClr val="C2593A">
              <a:alpha val="30000"/>
            </a:srgbClr>
          </a:solidFill>
          <a:ln/>
        </p:spPr>
      </p:sp>
      <p:sp>
        <p:nvSpPr>
          <p:cNvPr id="7" name="section line 0"/>
          <p:cNvSpPr/>
          <p:nvPr/>
        </p:nvSpPr>
        <p:spPr>
          <a:xfrm>
            <a:off x="8341157" y="2560320"/>
            <a:ext cx="640080" cy="0"/>
          </a:xfrm>
          <a:prstGeom prst="line">
            <a:avLst/>
          </a:prstGeom>
          <a:noFill/>
          <a:ln w="22225">
            <a:solidFill>
              <a:srgbClr val="1F2224"/>
            </a:solidFill>
            <a:prstDash val="solid"/>
          </a:ln>
        </p:spPr>
      </p:sp>
      <p:sp>
        <p:nvSpPr>
          <p:cNvPr id="8" name="section line 1"/>
          <p:cNvSpPr/>
          <p:nvPr/>
        </p:nvSpPr>
        <p:spPr>
          <a:xfrm>
            <a:off x="8981237" y="2560320"/>
            <a:ext cx="0" cy="87782"/>
          </a:xfrm>
          <a:prstGeom prst="line">
            <a:avLst/>
          </a:prstGeom>
          <a:noFill/>
          <a:ln w="22225">
            <a:solidFill>
              <a:srgbClr val="1F2224"/>
            </a:solidFill>
            <a:prstDash val="solid"/>
          </a:ln>
        </p:spPr>
      </p:sp>
      <p:sp>
        <p:nvSpPr>
          <p:cNvPr id="9" name="section line 2"/>
          <p:cNvSpPr/>
          <p:nvPr/>
        </p:nvSpPr>
        <p:spPr>
          <a:xfrm>
            <a:off x="8981237" y="2648102"/>
            <a:ext cx="1838858" cy="0"/>
          </a:xfrm>
          <a:prstGeom prst="line">
            <a:avLst/>
          </a:prstGeom>
          <a:noFill/>
          <a:ln w="22225">
            <a:solidFill>
              <a:srgbClr val="1F2224"/>
            </a:solidFill>
            <a:prstDash val="solid"/>
          </a:ln>
        </p:spPr>
      </p:sp>
      <p:sp>
        <p:nvSpPr>
          <p:cNvPr id="10" name="section line 3"/>
          <p:cNvSpPr/>
          <p:nvPr/>
        </p:nvSpPr>
        <p:spPr>
          <a:xfrm>
            <a:off x="10820095" y="2560320"/>
            <a:ext cx="0" cy="87782"/>
          </a:xfrm>
          <a:prstGeom prst="line">
            <a:avLst/>
          </a:prstGeom>
          <a:noFill/>
          <a:ln w="22225">
            <a:solidFill>
              <a:srgbClr val="1F2224"/>
            </a:solidFill>
            <a:prstDash val="solid"/>
          </a:ln>
        </p:spPr>
      </p:sp>
      <p:sp>
        <p:nvSpPr>
          <p:cNvPr id="11" name="section line 4"/>
          <p:cNvSpPr/>
          <p:nvPr/>
        </p:nvSpPr>
        <p:spPr>
          <a:xfrm>
            <a:off x="10820095" y="2560320"/>
            <a:ext cx="640080" cy="0"/>
          </a:xfrm>
          <a:prstGeom prst="line">
            <a:avLst/>
          </a:prstGeom>
          <a:noFill/>
          <a:ln w="22225">
            <a:solidFill>
              <a:srgbClr val="1F2224"/>
            </a:solidFill>
            <a:prstDash val="solid"/>
          </a:ln>
        </p:spPr>
      </p:sp>
      <p:sp>
        <p:nvSpPr>
          <p:cNvPr id="12" name="user head"/>
          <p:cNvSpPr/>
          <p:nvPr/>
        </p:nvSpPr>
        <p:spPr>
          <a:xfrm>
            <a:off x="9868333" y="2150669"/>
            <a:ext cx="64666" cy="64666"/>
          </a:xfrm>
          <a:prstGeom prst="ellipse">
            <a:avLst/>
          </a:prstGeom>
          <a:solidFill>
            <a:srgbClr val="3A4146"/>
          </a:solidFill>
          <a:ln/>
        </p:spPr>
      </p:sp>
      <p:sp>
        <p:nvSpPr>
          <p:cNvPr id="13" name="user torso"/>
          <p:cNvSpPr/>
          <p:nvPr/>
        </p:nvSpPr>
        <p:spPr>
          <a:xfrm>
            <a:off x="9855897" y="2221802"/>
            <a:ext cx="89538" cy="208922"/>
          </a:xfrm>
          <a:prstGeom prst="roundRect">
            <a:avLst>
              <a:gd name="adj" fmla="val 51062"/>
            </a:avLst>
          </a:prstGeom>
          <a:solidFill>
            <a:srgbClr val="3A4146"/>
          </a:solidFill>
          <a:ln/>
        </p:spPr>
      </p:sp>
      <p:sp>
        <p:nvSpPr>
          <p:cNvPr id="14" name="user leg L"/>
          <p:cNvSpPr/>
          <p:nvPr/>
        </p:nvSpPr>
        <p:spPr>
          <a:xfrm>
            <a:off x="9880769" y="2439180"/>
            <a:ext cx="0" cy="208922"/>
          </a:xfrm>
          <a:prstGeom prst="line">
            <a:avLst/>
          </a:prstGeom>
          <a:noFill/>
          <a:ln w="38100">
            <a:solidFill>
              <a:srgbClr val="3A4146"/>
            </a:solidFill>
            <a:prstDash val="solid"/>
          </a:ln>
        </p:spPr>
      </p:sp>
      <p:sp>
        <p:nvSpPr>
          <p:cNvPr id="15" name="user leg R"/>
          <p:cNvSpPr/>
          <p:nvPr/>
        </p:nvSpPr>
        <p:spPr>
          <a:xfrm>
            <a:off x="9920563" y="2439180"/>
            <a:ext cx="0" cy="208922"/>
          </a:xfrm>
          <a:prstGeom prst="line">
            <a:avLst/>
          </a:prstGeom>
          <a:noFill/>
          <a:ln w="38100">
            <a:solidFill>
              <a:srgbClr val="3A4146"/>
            </a:solidFill>
            <a:prstDash val="solid"/>
          </a:ln>
        </p:spPr>
      </p:sp>
      <p:sp>
        <p:nvSpPr>
          <p:cNvPr id="16" name="Text 14"/>
          <p:cNvSpPr txBox="1"/>
          <p:nvPr/>
        </p:nvSpPr>
        <p:spPr>
          <a:xfrm>
            <a:off x="8158277" y="3200400"/>
            <a:ext cx="3484778" cy="274320"/>
          </a:xfrm>
          <a:prstGeom prst="rect">
            <a:avLst/>
          </a:prstGeom>
          <a:noFill/>
          <a:ln/>
        </p:spPr>
        <p:txBody>
          <a:bodyPr wrap="square" lIns="0" tIns="0" rIns="0" bIns="0" rtlCol="0" anchor="t"/>
          <a:lstStyle/>
          <a:p>
            <a:pPr algn="ctr" indent="0" marL="0">
              <a:buNone/>
            </a:pPr>
            <a:r>
              <a:rPr lang="en-US" sz="1200" b="1" dirty="0">
                <a:solidFill>
                  <a:srgbClr val="5B6770"/>
                </a:solidFill>
              </a:rPr>
              <a:t>Remains an integral part</a:t>
            </a:r>
            <a:endParaRPr lang="en-US" sz="1200" dirty="0"/>
          </a:p>
        </p:txBody>
      </p:sp>
      <p:sp>
        <p:nvSpPr>
          <p:cNvPr id="17" name="Text 15"/>
          <p:cNvSpPr txBox="1"/>
          <p:nvPr/>
        </p:nvSpPr>
        <p:spPr>
          <a:xfrm>
            <a:off x="8158277" y="3474720"/>
            <a:ext cx="3484778" cy="320040"/>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يبقى جزءًا من الفراغ المحيط</a:t>
            </a:r>
            <a:endParaRPr lang="ar-SA" sz="1400" dirty="0"/>
          </a:p>
        </p:txBody>
      </p:sp>
      <p:sp>
        <p:nvSpPr>
          <p:cNvPr id="18" name="depressed case 2"/>
          <p:cNvSpPr/>
          <p:nvPr/>
        </p:nvSpPr>
        <p:spPr>
          <a:xfrm>
            <a:off x="4353458" y="2011680"/>
            <a:ext cx="3484778" cy="1828800"/>
          </a:xfrm>
          <a:prstGeom prst="roundRect">
            <a:avLst>
              <a:gd name="adj" fmla="val 4000"/>
            </a:avLst>
          </a:prstGeom>
          <a:solidFill>
            <a:schemeClr val="bg2"/>
          </a:solidFill>
          <a:ln/>
          <a:effectLst>
            <a:outerShdw sx="100000" sy="100000" kx="0" ky="0" algn="bl" rotWithShape="0" blurRad="101600" dist="25400" dir="5400000">
              <a:srgbClr val="000000">
                <a:alpha val="12000"/>
              </a:srgbClr>
            </a:outerShdw>
          </a:effectLst>
        </p:spPr>
      </p:sp>
      <p:sp>
        <p:nvSpPr>
          <p:cNvPr id="19" name="sunken field"/>
          <p:cNvSpPr/>
          <p:nvPr/>
        </p:nvSpPr>
        <p:spPr>
          <a:xfrm>
            <a:off x="5176418" y="2560320"/>
            <a:ext cx="1838858" cy="292608"/>
          </a:xfrm>
          <a:prstGeom prst="rect">
            <a:avLst/>
          </a:prstGeom>
          <a:solidFill>
            <a:srgbClr val="C2593A">
              <a:alpha val="30000"/>
            </a:srgbClr>
          </a:solidFill>
          <a:ln/>
        </p:spPr>
      </p:sp>
      <p:sp>
        <p:nvSpPr>
          <p:cNvPr id="20" name="section line 0"/>
          <p:cNvSpPr/>
          <p:nvPr/>
        </p:nvSpPr>
        <p:spPr>
          <a:xfrm>
            <a:off x="4536338" y="2560320"/>
            <a:ext cx="640080" cy="0"/>
          </a:xfrm>
          <a:prstGeom prst="line">
            <a:avLst/>
          </a:prstGeom>
          <a:noFill/>
          <a:ln w="22225">
            <a:solidFill>
              <a:srgbClr val="1F2224"/>
            </a:solidFill>
            <a:prstDash val="solid"/>
          </a:ln>
        </p:spPr>
      </p:sp>
      <p:sp>
        <p:nvSpPr>
          <p:cNvPr id="21" name="section line 1"/>
          <p:cNvSpPr/>
          <p:nvPr/>
        </p:nvSpPr>
        <p:spPr>
          <a:xfrm>
            <a:off x="5176418" y="2560320"/>
            <a:ext cx="0" cy="292608"/>
          </a:xfrm>
          <a:prstGeom prst="line">
            <a:avLst/>
          </a:prstGeom>
          <a:noFill/>
          <a:ln w="22225">
            <a:solidFill>
              <a:srgbClr val="1F2224"/>
            </a:solidFill>
            <a:prstDash val="solid"/>
          </a:ln>
        </p:spPr>
      </p:sp>
      <p:sp>
        <p:nvSpPr>
          <p:cNvPr id="22" name="section line 2"/>
          <p:cNvSpPr/>
          <p:nvPr/>
        </p:nvSpPr>
        <p:spPr>
          <a:xfrm>
            <a:off x="5176418" y="2852928"/>
            <a:ext cx="1838858" cy="0"/>
          </a:xfrm>
          <a:prstGeom prst="line">
            <a:avLst/>
          </a:prstGeom>
          <a:noFill/>
          <a:ln w="22225">
            <a:solidFill>
              <a:srgbClr val="1F2224"/>
            </a:solidFill>
            <a:prstDash val="solid"/>
          </a:ln>
        </p:spPr>
      </p:sp>
      <p:sp>
        <p:nvSpPr>
          <p:cNvPr id="23" name="section line 3"/>
          <p:cNvSpPr/>
          <p:nvPr/>
        </p:nvSpPr>
        <p:spPr>
          <a:xfrm>
            <a:off x="7015277" y="2560320"/>
            <a:ext cx="0" cy="292608"/>
          </a:xfrm>
          <a:prstGeom prst="line">
            <a:avLst/>
          </a:prstGeom>
          <a:noFill/>
          <a:ln w="22225">
            <a:solidFill>
              <a:srgbClr val="1F2224"/>
            </a:solidFill>
            <a:prstDash val="solid"/>
          </a:ln>
        </p:spPr>
      </p:sp>
      <p:sp>
        <p:nvSpPr>
          <p:cNvPr id="24" name="section line 4"/>
          <p:cNvSpPr/>
          <p:nvPr/>
        </p:nvSpPr>
        <p:spPr>
          <a:xfrm>
            <a:off x="7015277" y="2560320"/>
            <a:ext cx="640080" cy="0"/>
          </a:xfrm>
          <a:prstGeom prst="line">
            <a:avLst/>
          </a:prstGeom>
          <a:noFill/>
          <a:ln w="22225">
            <a:solidFill>
              <a:srgbClr val="1F2224"/>
            </a:solidFill>
            <a:prstDash val="solid"/>
          </a:ln>
        </p:spPr>
      </p:sp>
      <p:sp>
        <p:nvSpPr>
          <p:cNvPr id="25" name="user head"/>
          <p:cNvSpPr/>
          <p:nvPr/>
        </p:nvSpPr>
        <p:spPr>
          <a:xfrm>
            <a:off x="6063514" y="2355494"/>
            <a:ext cx="64666" cy="64666"/>
          </a:xfrm>
          <a:prstGeom prst="ellipse">
            <a:avLst/>
          </a:prstGeom>
          <a:solidFill>
            <a:srgbClr val="3A4146"/>
          </a:solidFill>
          <a:ln/>
        </p:spPr>
      </p:sp>
      <p:sp>
        <p:nvSpPr>
          <p:cNvPr id="26" name="user torso"/>
          <p:cNvSpPr/>
          <p:nvPr/>
        </p:nvSpPr>
        <p:spPr>
          <a:xfrm>
            <a:off x="6051079" y="2426627"/>
            <a:ext cx="89538" cy="208922"/>
          </a:xfrm>
          <a:prstGeom prst="roundRect">
            <a:avLst>
              <a:gd name="adj" fmla="val 51062"/>
            </a:avLst>
          </a:prstGeom>
          <a:solidFill>
            <a:srgbClr val="3A4146"/>
          </a:solidFill>
          <a:ln/>
        </p:spPr>
      </p:sp>
      <p:sp>
        <p:nvSpPr>
          <p:cNvPr id="27" name="user leg L"/>
          <p:cNvSpPr/>
          <p:nvPr/>
        </p:nvSpPr>
        <p:spPr>
          <a:xfrm>
            <a:off x="6075950" y="2644006"/>
            <a:ext cx="0" cy="208922"/>
          </a:xfrm>
          <a:prstGeom prst="line">
            <a:avLst/>
          </a:prstGeom>
          <a:noFill/>
          <a:ln w="38100">
            <a:solidFill>
              <a:srgbClr val="3A4146"/>
            </a:solidFill>
            <a:prstDash val="solid"/>
          </a:ln>
        </p:spPr>
      </p:sp>
      <p:sp>
        <p:nvSpPr>
          <p:cNvPr id="28" name="user leg R"/>
          <p:cNvSpPr/>
          <p:nvPr/>
        </p:nvSpPr>
        <p:spPr>
          <a:xfrm>
            <a:off x="6115745" y="2644006"/>
            <a:ext cx="0" cy="208922"/>
          </a:xfrm>
          <a:prstGeom prst="line">
            <a:avLst/>
          </a:prstGeom>
          <a:noFill/>
          <a:ln w="38100">
            <a:solidFill>
              <a:srgbClr val="3A4146"/>
            </a:solidFill>
            <a:prstDash val="solid"/>
          </a:ln>
        </p:spPr>
      </p:sp>
      <p:sp>
        <p:nvSpPr>
          <p:cNvPr id="29" name="Text 27"/>
          <p:cNvSpPr txBox="1"/>
          <p:nvPr/>
        </p:nvSpPr>
        <p:spPr>
          <a:xfrm>
            <a:off x="4353458" y="3200400"/>
            <a:ext cx="3484778" cy="274320"/>
          </a:xfrm>
          <a:prstGeom prst="rect">
            <a:avLst/>
          </a:prstGeom>
          <a:noFill/>
          <a:ln/>
        </p:spPr>
        <p:txBody>
          <a:bodyPr wrap="square" lIns="0" tIns="0" rIns="0" bIns="0" rtlCol="0" anchor="t"/>
          <a:lstStyle/>
          <a:p>
            <a:pPr algn="ctr" indent="0" marL="0">
              <a:buNone/>
            </a:pPr>
            <a:r>
              <a:rPr lang="en-US" sz="1200" b="1" dirty="0">
                <a:solidFill>
                  <a:srgbClr val="5B6770"/>
                </a:solidFill>
              </a:rPr>
              <a:t>The space is distinct</a:t>
            </a:r>
            <a:endParaRPr lang="en-US" sz="1200" dirty="0"/>
          </a:p>
        </p:txBody>
      </p:sp>
      <p:sp>
        <p:nvSpPr>
          <p:cNvPr id="30" name="Text 28"/>
          <p:cNvSpPr txBox="1"/>
          <p:nvPr/>
        </p:nvSpPr>
        <p:spPr>
          <a:xfrm>
            <a:off x="4353458" y="3474720"/>
            <a:ext cx="3484778" cy="320040"/>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يصبح فراغًا مميزًا</a:t>
            </a:r>
            <a:endParaRPr lang="ar-SA" sz="1400" dirty="0"/>
          </a:p>
        </p:txBody>
      </p:sp>
      <p:sp>
        <p:nvSpPr>
          <p:cNvPr id="31" name="depressed case 3"/>
          <p:cNvSpPr/>
          <p:nvPr/>
        </p:nvSpPr>
        <p:spPr>
          <a:xfrm>
            <a:off x="548640" y="2011680"/>
            <a:ext cx="3484778" cy="1828800"/>
          </a:xfrm>
          <a:prstGeom prst="roundRect">
            <a:avLst>
              <a:gd name="adj" fmla="val 4000"/>
            </a:avLst>
          </a:prstGeom>
          <a:solidFill>
            <a:schemeClr val="bg2"/>
          </a:solidFill>
          <a:ln/>
          <a:effectLst>
            <a:outerShdw sx="100000" sy="100000" kx="0" ky="0" algn="bl" rotWithShape="0" blurRad="101600" dist="25400" dir="5400000">
              <a:srgbClr val="000000">
                <a:alpha val="12000"/>
              </a:srgbClr>
            </a:outerShdw>
          </a:effectLst>
        </p:spPr>
      </p:sp>
      <p:sp>
        <p:nvSpPr>
          <p:cNvPr id="32" name="sunken field"/>
          <p:cNvSpPr/>
          <p:nvPr/>
        </p:nvSpPr>
        <p:spPr>
          <a:xfrm>
            <a:off x="1371600" y="2560320"/>
            <a:ext cx="1838858" cy="526694"/>
          </a:xfrm>
          <a:prstGeom prst="rect">
            <a:avLst/>
          </a:prstGeom>
          <a:solidFill>
            <a:srgbClr val="C2593A">
              <a:alpha val="30000"/>
            </a:srgbClr>
          </a:solidFill>
          <a:ln/>
        </p:spPr>
      </p:sp>
      <p:sp>
        <p:nvSpPr>
          <p:cNvPr id="33" name="section line 0"/>
          <p:cNvSpPr/>
          <p:nvPr/>
        </p:nvSpPr>
        <p:spPr>
          <a:xfrm>
            <a:off x="731520" y="2560320"/>
            <a:ext cx="640080" cy="0"/>
          </a:xfrm>
          <a:prstGeom prst="line">
            <a:avLst/>
          </a:prstGeom>
          <a:noFill/>
          <a:ln w="22225">
            <a:solidFill>
              <a:srgbClr val="1F2224"/>
            </a:solidFill>
            <a:prstDash val="solid"/>
          </a:ln>
        </p:spPr>
      </p:sp>
      <p:sp>
        <p:nvSpPr>
          <p:cNvPr id="34" name="section line 1"/>
          <p:cNvSpPr/>
          <p:nvPr/>
        </p:nvSpPr>
        <p:spPr>
          <a:xfrm>
            <a:off x="1371600" y="2560320"/>
            <a:ext cx="0" cy="526694"/>
          </a:xfrm>
          <a:prstGeom prst="line">
            <a:avLst/>
          </a:prstGeom>
          <a:noFill/>
          <a:ln w="22225">
            <a:solidFill>
              <a:srgbClr val="1F2224"/>
            </a:solidFill>
            <a:prstDash val="solid"/>
          </a:ln>
        </p:spPr>
      </p:sp>
      <p:sp>
        <p:nvSpPr>
          <p:cNvPr id="35" name="section line 2"/>
          <p:cNvSpPr/>
          <p:nvPr/>
        </p:nvSpPr>
        <p:spPr>
          <a:xfrm>
            <a:off x="1371600" y="3087014"/>
            <a:ext cx="1838858" cy="0"/>
          </a:xfrm>
          <a:prstGeom prst="line">
            <a:avLst/>
          </a:prstGeom>
          <a:noFill/>
          <a:ln w="22225">
            <a:solidFill>
              <a:srgbClr val="1F2224"/>
            </a:solidFill>
            <a:prstDash val="solid"/>
          </a:ln>
        </p:spPr>
      </p:sp>
      <p:sp>
        <p:nvSpPr>
          <p:cNvPr id="36" name="section line 3"/>
          <p:cNvSpPr/>
          <p:nvPr/>
        </p:nvSpPr>
        <p:spPr>
          <a:xfrm>
            <a:off x="3210458" y="2560320"/>
            <a:ext cx="0" cy="526694"/>
          </a:xfrm>
          <a:prstGeom prst="line">
            <a:avLst/>
          </a:prstGeom>
          <a:noFill/>
          <a:ln w="22225">
            <a:solidFill>
              <a:srgbClr val="1F2224"/>
            </a:solidFill>
            <a:prstDash val="solid"/>
          </a:ln>
        </p:spPr>
      </p:sp>
      <p:sp>
        <p:nvSpPr>
          <p:cNvPr id="37" name="section line 4"/>
          <p:cNvSpPr/>
          <p:nvPr/>
        </p:nvSpPr>
        <p:spPr>
          <a:xfrm>
            <a:off x="3210458" y="2560320"/>
            <a:ext cx="640080" cy="0"/>
          </a:xfrm>
          <a:prstGeom prst="line">
            <a:avLst/>
          </a:prstGeom>
          <a:noFill/>
          <a:ln w="22225">
            <a:solidFill>
              <a:srgbClr val="1F2224"/>
            </a:solidFill>
            <a:prstDash val="solid"/>
          </a:ln>
        </p:spPr>
      </p:sp>
      <p:sp>
        <p:nvSpPr>
          <p:cNvPr id="38" name="canopy"/>
          <p:cNvSpPr/>
          <p:nvPr/>
        </p:nvSpPr>
        <p:spPr>
          <a:xfrm>
            <a:off x="1600200" y="2331720"/>
            <a:ext cx="1747418" cy="0"/>
          </a:xfrm>
          <a:prstGeom prst="line">
            <a:avLst/>
          </a:prstGeom>
          <a:noFill/>
          <a:ln w="22225">
            <a:solidFill>
              <a:srgbClr val="1F2224"/>
            </a:solidFill>
            <a:prstDash val="solid"/>
          </a:ln>
        </p:spPr>
      </p:sp>
      <p:sp>
        <p:nvSpPr>
          <p:cNvPr id="39" name="user head"/>
          <p:cNvSpPr/>
          <p:nvPr/>
        </p:nvSpPr>
        <p:spPr>
          <a:xfrm>
            <a:off x="2258696" y="2589581"/>
            <a:ext cx="64666" cy="64666"/>
          </a:xfrm>
          <a:prstGeom prst="ellipse">
            <a:avLst/>
          </a:prstGeom>
          <a:solidFill>
            <a:srgbClr val="3A4146"/>
          </a:solidFill>
          <a:ln/>
        </p:spPr>
      </p:sp>
      <p:sp>
        <p:nvSpPr>
          <p:cNvPr id="40" name="user torso"/>
          <p:cNvSpPr/>
          <p:nvPr/>
        </p:nvSpPr>
        <p:spPr>
          <a:xfrm>
            <a:off x="2246260" y="2660714"/>
            <a:ext cx="89538" cy="208922"/>
          </a:xfrm>
          <a:prstGeom prst="roundRect">
            <a:avLst>
              <a:gd name="adj" fmla="val 51062"/>
            </a:avLst>
          </a:prstGeom>
          <a:solidFill>
            <a:srgbClr val="3A4146"/>
          </a:solidFill>
          <a:ln/>
        </p:spPr>
      </p:sp>
      <p:sp>
        <p:nvSpPr>
          <p:cNvPr id="41" name="user leg L"/>
          <p:cNvSpPr/>
          <p:nvPr/>
        </p:nvSpPr>
        <p:spPr>
          <a:xfrm>
            <a:off x="2271132" y="2878092"/>
            <a:ext cx="0" cy="208922"/>
          </a:xfrm>
          <a:prstGeom prst="line">
            <a:avLst/>
          </a:prstGeom>
          <a:noFill/>
          <a:ln w="38100">
            <a:solidFill>
              <a:srgbClr val="3A4146"/>
            </a:solidFill>
            <a:prstDash val="solid"/>
          </a:ln>
        </p:spPr>
      </p:sp>
      <p:sp>
        <p:nvSpPr>
          <p:cNvPr id="42" name="user leg R"/>
          <p:cNvSpPr/>
          <p:nvPr/>
        </p:nvSpPr>
        <p:spPr>
          <a:xfrm>
            <a:off x="2310927" y="2878092"/>
            <a:ext cx="0" cy="208922"/>
          </a:xfrm>
          <a:prstGeom prst="line">
            <a:avLst/>
          </a:prstGeom>
          <a:noFill/>
          <a:ln w="38100">
            <a:solidFill>
              <a:srgbClr val="3A4146"/>
            </a:solidFill>
            <a:prstDash val="solid"/>
          </a:ln>
        </p:spPr>
      </p:sp>
      <p:sp>
        <p:nvSpPr>
          <p:cNvPr id="43" name="Text 41"/>
          <p:cNvSpPr txBox="1"/>
          <p:nvPr/>
        </p:nvSpPr>
        <p:spPr>
          <a:xfrm>
            <a:off x="548640" y="3200400"/>
            <a:ext cx="3484778" cy="274320"/>
          </a:xfrm>
          <a:prstGeom prst="rect">
            <a:avLst/>
          </a:prstGeom>
          <a:noFill/>
          <a:ln/>
        </p:spPr>
        <p:txBody>
          <a:bodyPr wrap="square" lIns="0" tIns="0" rIns="0" bIns="0" rtlCol="0" anchor="t"/>
          <a:lstStyle/>
          <a:p>
            <a:pPr algn="ctr" indent="0" marL="0">
              <a:buNone/>
            </a:pPr>
            <a:r>
              <a:rPr lang="en-US" sz="1200" b="1" dirty="0">
                <a:solidFill>
                  <a:srgbClr val="5B6770"/>
                </a:solidFill>
              </a:rPr>
              <a:t>Separates</a:t>
            </a:r>
            <a:endParaRPr lang="en-US" sz="1200" dirty="0"/>
          </a:p>
        </p:txBody>
      </p:sp>
      <p:sp>
        <p:nvSpPr>
          <p:cNvPr id="44" name="Text 42"/>
          <p:cNvSpPr txBox="1"/>
          <p:nvPr/>
        </p:nvSpPr>
        <p:spPr>
          <a:xfrm>
            <a:off x="548640" y="3474720"/>
            <a:ext cx="3484778" cy="320040"/>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ينفصل عن الفراغ المحيط</a:t>
            </a:r>
            <a:endParaRPr lang="ar-SA" sz="1400" dirty="0"/>
          </a:p>
        </p:txBody>
      </p:sp>
      <p:pic>
        <p:nvPicPr>
          <p:cNvPr id="45" name="photo amph_forest" descr="amph_forest">    </p:cNvPr>
          <p:cNvPicPr>
            <a:picLocks noChangeAspect="1"/>
          </p:cNvPicPr>
          <p:nvPr/>
        </p:nvPicPr>
        <p:blipFill>
          <a:blip r:embed="rId1"/>
          <a:stretch>
            <a:fillRect/>
          </a:stretch>
        </p:blipFill>
        <p:spPr>
          <a:xfrm>
            <a:off x="8158277" y="4023360"/>
            <a:ext cx="1600200" cy="1417320"/>
          </a:xfrm>
          <a:prstGeom prst="rect">
            <a:avLst/>
          </a:prstGeom>
        </p:spPr>
      </p:pic>
      <p:sp>
        <p:nvSpPr>
          <p:cNvPr id="46" name="Text 43"/>
          <p:cNvSpPr txBox="1"/>
          <p:nvPr/>
        </p:nvSpPr>
        <p:spPr>
          <a:xfrm>
            <a:off x="9895637" y="4023360"/>
            <a:ext cx="1747418" cy="457200"/>
          </a:xfrm>
          <a:prstGeom prst="rect">
            <a:avLst/>
          </a:prstGeom>
          <a:noFill/>
          <a:ln/>
        </p:spPr>
        <p:txBody>
          <a:bodyPr wrap="square" lIns="0" tIns="0" rIns="0" bIns="0" rtlCol="0" anchor="t"/>
          <a:lstStyle/>
          <a:p>
            <a:pPr algn="r" indent="0" marL="0">
              <a:buNone/>
            </a:pPr>
            <a:r>
              <a:rPr lang="en-US" sz="1200" b="1" dirty="0">
                <a:solidFill>
                  <a:srgbClr val="1F2224"/>
                </a:solidFill>
              </a:rPr>
              <a:t>Outdoor amphitheatre</a:t>
            </a:r>
            <a:endParaRPr lang="en-US" sz="1200" dirty="0"/>
          </a:p>
        </p:txBody>
      </p:sp>
      <p:sp>
        <p:nvSpPr>
          <p:cNvPr id="47" name="Text 44"/>
          <p:cNvSpPr txBox="1"/>
          <p:nvPr/>
        </p:nvSpPr>
        <p:spPr>
          <a:xfrm>
            <a:off x="9895637" y="4480560"/>
            <a:ext cx="1747418" cy="1005840"/>
          </a:xfrm>
          <a:prstGeom prst="rect">
            <a:avLst/>
          </a:prstGeom>
          <a:noFill/>
          <a:ln/>
        </p:spPr>
        <p:txBody>
          <a:bodyPr wrap="square" lIns="0" tIns="0" rIns="0" bIns="0" rtlCol="0" anchor="t"/>
          <a:lstStyle/>
          <a:p>
            <a:pPr rtl="1" algn="r" indent="0" marL="0">
              <a:buNone/>
            </a:pPr>
            <a:r>
              <a:rPr lang="ar-SA" altLang="en-US" sz="1300" dirty="0">
                <a:solidFill>
                  <a:srgbClr val="3A4146"/>
                </a:solidFill>
              </a:rPr>
              <a:t>انخفاض في طبوغرافيا الموقع يصبح مسرحًا مفتوحًا.</a:t>
            </a:r>
            <a:endParaRPr lang="ar-SA" sz="1300" dirty="0"/>
          </a:p>
        </p:txBody>
      </p:sp>
      <p:pic>
        <p:nvPicPr>
          <p:cNvPr id="48" name="photo amph_stone" descr="amph_stone">    </p:cNvPr>
          <p:cNvPicPr>
            <a:picLocks noChangeAspect="1"/>
          </p:cNvPicPr>
          <p:nvPr/>
        </p:nvPicPr>
        <p:blipFill>
          <a:blip r:embed="rId2"/>
          <a:stretch>
            <a:fillRect/>
          </a:stretch>
        </p:blipFill>
        <p:spPr>
          <a:xfrm>
            <a:off x="4353458" y="4023360"/>
            <a:ext cx="1600200" cy="1417320"/>
          </a:xfrm>
          <a:prstGeom prst="rect">
            <a:avLst/>
          </a:prstGeom>
        </p:spPr>
      </p:pic>
      <p:sp>
        <p:nvSpPr>
          <p:cNvPr id="49" name="Text 45"/>
          <p:cNvSpPr txBox="1"/>
          <p:nvPr/>
        </p:nvSpPr>
        <p:spPr>
          <a:xfrm>
            <a:off x="6090818" y="4023360"/>
            <a:ext cx="1747418" cy="457200"/>
          </a:xfrm>
          <a:prstGeom prst="rect">
            <a:avLst/>
          </a:prstGeom>
          <a:noFill/>
          <a:ln/>
        </p:spPr>
        <p:txBody>
          <a:bodyPr wrap="square" lIns="0" tIns="0" rIns="0" bIns="0" rtlCol="0" anchor="t"/>
          <a:lstStyle/>
          <a:p>
            <a:pPr algn="r" indent="0" marL="0">
              <a:buNone/>
            </a:pPr>
            <a:r>
              <a:rPr lang="en-US" sz="1200" b="1" dirty="0">
                <a:solidFill>
                  <a:srgbClr val="1F2224"/>
                </a:solidFill>
              </a:rPr>
              <a:t>Classical theatre</a:t>
            </a:r>
            <a:endParaRPr lang="en-US" sz="1200" dirty="0"/>
          </a:p>
        </p:txBody>
      </p:sp>
      <p:sp>
        <p:nvSpPr>
          <p:cNvPr id="50" name="Text 46"/>
          <p:cNvSpPr txBox="1"/>
          <p:nvPr/>
        </p:nvSpPr>
        <p:spPr>
          <a:xfrm>
            <a:off x="6090818" y="4480560"/>
            <a:ext cx="1747418" cy="1005840"/>
          </a:xfrm>
          <a:prstGeom prst="rect">
            <a:avLst/>
          </a:prstGeom>
          <a:noFill/>
          <a:ln/>
        </p:spPr>
        <p:txBody>
          <a:bodyPr wrap="square" lIns="0" tIns="0" rIns="0" bIns="0" rtlCol="0" anchor="t"/>
          <a:lstStyle/>
          <a:p>
            <a:pPr rtl="1" algn="r" indent="0" marL="0">
              <a:buNone/>
            </a:pPr>
            <a:r>
              <a:rPr lang="ar-SA" altLang="en-US" sz="1300" dirty="0">
                <a:solidFill>
                  <a:srgbClr val="3A4146"/>
                </a:solidFill>
              </a:rPr>
              <a:t>يحسّن خطوط الرؤية والإحساس بالاحتواء والجودة الصوتية.</a:t>
            </a:r>
            <a:endParaRPr lang="ar-SA" sz="1300" dirty="0"/>
          </a:p>
        </p:txBody>
      </p:sp>
      <p:pic>
        <p:nvPicPr>
          <p:cNvPr id="51" name="photo steps_up" descr="steps_up">    </p:cNvPr>
          <p:cNvPicPr>
            <a:picLocks noChangeAspect="1"/>
          </p:cNvPicPr>
          <p:nvPr/>
        </p:nvPicPr>
        <p:blipFill>
          <a:blip r:embed="rId3"/>
          <a:stretch>
            <a:fillRect/>
          </a:stretch>
        </p:blipFill>
        <p:spPr>
          <a:xfrm>
            <a:off x="548640" y="4023360"/>
            <a:ext cx="1600200" cy="1417320"/>
          </a:xfrm>
          <a:prstGeom prst="rect">
            <a:avLst/>
          </a:prstGeom>
        </p:spPr>
      </p:pic>
      <p:sp>
        <p:nvSpPr>
          <p:cNvPr id="52" name="Text 47"/>
          <p:cNvSpPr txBox="1"/>
          <p:nvPr/>
        </p:nvSpPr>
        <p:spPr>
          <a:xfrm>
            <a:off x="2286000" y="4023360"/>
            <a:ext cx="1747418" cy="457200"/>
          </a:xfrm>
          <a:prstGeom prst="rect">
            <a:avLst/>
          </a:prstGeom>
          <a:noFill/>
          <a:ln/>
        </p:spPr>
        <p:txBody>
          <a:bodyPr wrap="square" lIns="0" tIns="0" rIns="0" bIns="0" rtlCol="0" anchor="t"/>
          <a:lstStyle/>
          <a:p>
            <a:pPr algn="r" indent="0" marL="0">
              <a:buNone/>
            </a:pPr>
            <a:r>
              <a:rPr lang="en-US" sz="1200" b="1" dirty="0">
                <a:solidFill>
                  <a:srgbClr val="1F2224"/>
                </a:solidFill>
              </a:rPr>
              <a:t>Steps up — extrovert</a:t>
            </a:r>
            <a:endParaRPr lang="en-US" sz="1200" dirty="0"/>
          </a:p>
        </p:txBody>
      </p:sp>
      <p:sp>
        <p:nvSpPr>
          <p:cNvPr id="53" name="Text 48"/>
          <p:cNvSpPr txBox="1"/>
          <p:nvPr/>
        </p:nvSpPr>
        <p:spPr>
          <a:xfrm>
            <a:off x="2286000" y="4480560"/>
            <a:ext cx="1747418" cy="1005840"/>
          </a:xfrm>
          <a:prstGeom prst="rect">
            <a:avLst/>
          </a:prstGeom>
          <a:noFill/>
          <a:ln/>
        </p:spPr>
        <p:txBody>
          <a:bodyPr wrap="square" lIns="0" tIns="0" rIns="0" bIns="0" rtlCol="0" anchor="t"/>
          <a:lstStyle/>
          <a:p>
            <a:pPr rtl="1" algn="r" indent="0" marL="0">
              <a:buNone/>
            </a:pPr>
            <a:r>
              <a:rPr lang="ar-SA" altLang="en-US" sz="1300" dirty="0">
                <a:solidFill>
                  <a:srgbClr val="3A4146"/>
                </a:solidFill>
              </a:rPr>
              <a:t>الصعود انفتاحي (Extrovert)؛ أما النزول فانطوائي (Introvert).</a:t>
            </a:r>
            <a:endParaRPr lang="ar-SA" sz="1300" dirty="0"/>
          </a:p>
        </p:txBody>
      </p:sp>
      <p:sp>
        <p:nvSpPr>
          <p:cNvPr id="54" name="Text 49"/>
          <p:cNvSpPr txBox="1"/>
          <p:nvPr/>
        </p:nvSpPr>
        <p:spPr>
          <a:xfrm>
            <a:off x="548640" y="6053328"/>
            <a:ext cx="5486400" cy="228600"/>
          </a:xfrm>
          <a:prstGeom prst="rect">
            <a:avLst/>
          </a:prstGeom>
          <a:noFill/>
          <a:ln/>
        </p:spPr>
        <p:txBody>
          <a:bodyPr wrap="square" lIns="0" tIns="0" rIns="0" bIns="0" rtlCol="0" anchor="t"/>
          <a:lstStyle/>
          <a:p>
            <a:pPr algn="l" indent="0" marL="0">
              <a:buNone/>
            </a:pPr>
            <a:r>
              <a:rPr lang="en-US" sz="1000" i="1" dirty="0">
                <a:solidFill>
                  <a:srgbClr val="8A9A9B"/>
                </a:solidFill>
              </a:rPr>
              <a:t>Images: Theory of Architecture — course reference</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10 — WALL PLANE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الجدار — المستوى الرأسي</a:t>
            </a:r>
            <a:endParaRPr lang="ar-SA" sz="3200" dirty="0"/>
          </a:p>
        </p:txBody>
      </p:sp>
      <p:sp>
        <p:nvSpPr>
          <p:cNvPr id="4" name="ground"/>
          <p:cNvSpPr/>
          <p:nvPr/>
        </p:nvSpPr>
        <p:spPr>
          <a:xfrm>
            <a:off x="548640" y="5669280"/>
            <a:ext cx="5760720" cy="0"/>
          </a:xfrm>
          <a:prstGeom prst="line">
            <a:avLst/>
          </a:prstGeom>
          <a:noFill/>
          <a:ln w="19050">
            <a:solidFill>
              <a:srgbClr val="1F2224"/>
            </a:solidFill>
            <a:prstDash val="solid"/>
          </a:ln>
        </p:spPr>
      </p:sp>
      <p:sp>
        <p:nvSpPr>
          <p:cNvPr id="5" name="scale figure head"/>
          <p:cNvSpPr/>
          <p:nvPr/>
        </p:nvSpPr>
        <p:spPr>
          <a:xfrm>
            <a:off x="757128" y="2546330"/>
            <a:ext cx="405984" cy="405984"/>
          </a:xfrm>
          <a:prstGeom prst="ellipse">
            <a:avLst/>
          </a:prstGeom>
          <a:solidFill>
            <a:srgbClr val="3A4146"/>
          </a:solidFill>
          <a:ln/>
        </p:spPr>
      </p:sp>
      <p:sp>
        <p:nvSpPr>
          <p:cNvPr id="6" name="scale figure torso"/>
          <p:cNvSpPr/>
          <p:nvPr/>
        </p:nvSpPr>
        <p:spPr>
          <a:xfrm>
            <a:off x="679054" y="2992912"/>
            <a:ext cx="562131" cy="1311639"/>
          </a:xfrm>
          <a:prstGeom prst="roundRect">
            <a:avLst>
              <a:gd name="adj" fmla="val 8133"/>
            </a:avLst>
          </a:prstGeom>
          <a:solidFill>
            <a:srgbClr val="3A4146"/>
          </a:solidFill>
          <a:ln/>
        </p:spPr>
      </p:sp>
      <p:sp>
        <p:nvSpPr>
          <p:cNvPr id="7" name="scale figure leg L"/>
          <p:cNvSpPr/>
          <p:nvPr/>
        </p:nvSpPr>
        <p:spPr>
          <a:xfrm>
            <a:off x="835202" y="4357641"/>
            <a:ext cx="0" cy="1311639"/>
          </a:xfrm>
          <a:prstGeom prst="line">
            <a:avLst/>
          </a:prstGeom>
          <a:noFill/>
          <a:ln w="38100">
            <a:solidFill>
              <a:srgbClr val="3A4146"/>
            </a:solidFill>
            <a:prstDash val="solid"/>
          </a:ln>
        </p:spPr>
      </p:sp>
      <p:sp>
        <p:nvSpPr>
          <p:cNvPr id="8" name="scale figure leg R"/>
          <p:cNvSpPr/>
          <p:nvPr/>
        </p:nvSpPr>
        <p:spPr>
          <a:xfrm>
            <a:off x="1085038" y="4357641"/>
            <a:ext cx="0" cy="1311639"/>
          </a:xfrm>
          <a:prstGeom prst="line">
            <a:avLst/>
          </a:prstGeom>
          <a:noFill/>
          <a:ln w="38100">
            <a:solidFill>
              <a:srgbClr val="3A4146"/>
            </a:solidFill>
            <a:prstDash val="solid"/>
          </a:ln>
        </p:spPr>
      </p:sp>
      <p:sp>
        <p:nvSpPr>
          <p:cNvPr id="9" name="eye level"/>
          <p:cNvSpPr/>
          <p:nvPr/>
        </p:nvSpPr>
        <p:spPr>
          <a:xfrm>
            <a:off x="640080" y="2763774"/>
            <a:ext cx="5577840" cy="0"/>
          </a:xfrm>
          <a:prstGeom prst="line">
            <a:avLst/>
          </a:prstGeom>
          <a:noFill/>
          <a:ln w="12700">
            <a:solidFill>
              <a:srgbClr val="C2593A"/>
            </a:solidFill>
            <a:prstDash val="dash"/>
          </a:ln>
        </p:spPr>
      </p:sp>
      <p:sp>
        <p:nvSpPr>
          <p:cNvPr id="10" name="Text 8"/>
          <p:cNvSpPr txBox="1"/>
          <p:nvPr/>
        </p:nvSpPr>
        <p:spPr>
          <a:xfrm>
            <a:off x="5687568" y="2324862"/>
            <a:ext cx="777240" cy="411480"/>
          </a:xfrm>
          <a:prstGeom prst="rect">
            <a:avLst/>
          </a:prstGeom>
          <a:noFill/>
          <a:ln/>
        </p:spPr>
        <p:txBody>
          <a:bodyPr wrap="square" lIns="0" tIns="0" rIns="0" bIns="0" rtlCol="0" anchor="t"/>
          <a:lstStyle/>
          <a:p>
            <a:pPr algn="l" indent="0" marL="0">
              <a:buNone/>
            </a:pPr>
            <a:r>
              <a:rPr lang="en-US" sz="900" dirty="0">
                <a:solidFill>
                  <a:srgbClr val="C2593A"/>
                </a:solidFill>
              </a:rPr>
              <a:t>Eye level</a:t>
            </a:r>
            <a:endParaRPr lang="en-US" sz="900" dirty="0"/>
          </a:p>
          <a:p>
            <a:pPr algn="l" indent="0" marL="0">
              <a:buNone/>
            </a:pPr>
            <a:r>
              <a:rPr lang="en-US" sz="900" dirty="0">
                <a:solidFill>
                  <a:srgbClr val="C2593A"/>
                </a:solidFill>
              </a:rPr>
              <a:t>≈ 1.55 m</a:t>
            </a:r>
            <a:endParaRPr lang="en-US" sz="900" dirty="0"/>
          </a:p>
        </p:txBody>
      </p:sp>
      <p:sp>
        <p:nvSpPr>
          <p:cNvPr id="11" name="wall 0.6 m"/>
          <p:cNvSpPr/>
          <p:nvPr/>
        </p:nvSpPr>
        <p:spPr>
          <a:xfrm>
            <a:off x="1737360" y="4544568"/>
            <a:ext cx="292608" cy="1124712"/>
          </a:xfrm>
          <a:prstGeom prst="rect">
            <a:avLst/>
          </a:prstGeom>
          <a:solidFill>
            <a:srgbClr val="B9C4C4"/>
          </a:solidFill>
          <a:ln w="9525">
            <a:solidFill>
              <a:srgbClr val="1F2224"/>
            </a:solidFill>
            <a:prstDash val="solid"/>
          </a:ln>
        </p:spPr>
      </p:sp>
      <p:sp>
        <p:nvSpPr>
          <p:cNvPr id="12" name="Text 10"/>
          <p:cNvSpPr txBox="1"/>
          <p:nvPr/>
        </p:nvSpPr>
        <p:spPr>
          <a:xfrm>
            <a:off x="1463040" y="5715000"/>
            <a:ext cx="841248" cy="228600"/>
          </a:xfrm>
          <a:prstGeom prst="rect">
            <a:avLst/>
          </a:prstGeom>
          <a:noFill/>
          <a:ln/>
        </p:spPr>
        <p:txBody>
          <a:bodyPr wrap="square" lIns="0" tIns="0" rIns="0" bIns="0" rtlCol="0" anchor="t"/>
          <a:lstStyle/>
          <a:p>
            <a:pPr algn="ctr" indent="0" marL="0">
              <a:buNone/>
            </a:pPr>
            <a:r>
              <a:rPr lang="en-US" sz="1100" b="1" dirty="0">
                <a:solidFill>
                  <a:srgbClr val="1F2224"/>
                </a:solidFill>
              </a:rPr>
              <a:t>0.6 m</a:t>
            </a:r>
            <a:endParaRPr lang="en-US" sz="1100" dirty="0"/>
          </a:p>
        </p:txBody>
      </p:sp>
      <p:sp>
        <p:nvSpPr>
          <p:cNvPr id="13" name="Text 11"/>
          <p:cNvSpPr txBox="1"/>
          <p:nvPr/>
        </p:nvSpPr>
        <p:spPr>
          <a:xfrm>
            <a:off x="1700784" y="4197096"/>
            <a:ext cx="365760" cy="274320"/>
          </a:xfrm>
          <a:prstGeom prst="rect">
            <a:avLst/>
          </a:prstGeom>
          <a:noFill/>
          <a:ln/>
        </p:spPr>
        <p:txBody>
          <a:bodyPr wrap="square" lIns="0" tIns="0" rIns="0" bIns="0" rtlCol="0" anchor="t"/>
          <a:lstStyle/>
          <a:p>
            <a:pPr algn="ctr" indent="0" marL="0">
              <a:buNone/>
            </a:pPr>
            <a:r>
              <a:rPr lang="en-US" sz="1200" b="1" dirty="0">
                <a:solidFill>
                  <a:srgbClr val="C2593A"/>
                </a:solidFill>
              </a:rPr>
              <a:t>1</a:t>
            </a:r>
            <a:endParaRPr lang="en-US" sz="1200" dirty="0"/>
          </a:p>
        </p:txBody>
      </p:sp>
      <p:sp>
        <p:nvSpPr>
          <p:cNvPr id="14" name="wall 1.0 m"/>
          <p:cNvSpPr/>
          <p:nvPr/>
        </p:nvSpPr>
        <p:spPr>
          <a:xfrm>
            <a:off x="2926080" y="3794760"/>
            <a:ext cx="292608" cy="1874520"/>
          </a:xfrm>
          <a:prstGeom prst="rect">
            <a:avLst/>
          </a:prstGeom>
          <a:solidFill>
            <a:srgbClr val="B9C4C4"/>
          </a:solidFill>
          <a:ln w="9525">
            <a:solidFill>
              <a:srgbClr val="1F2224"/>
            </a:solidFill>
            <a:prstDash val="solid"/>
          </a:ln>
        </p:spPr>
      </p:sp>
      <p:sp>
        <p:nvSpPr>
          <p:cNvPr id="15" name="Text 13"/>
          <p:cNvSpPr txBox="1"/>
          <p:nvPr/>
        </p:nvSpPr>
        <p:spPr>
          <a:xfrm>
            <a:off x="2651760" y="5715000"/>
            <a:ext cx="841248" cy="228600"/>
          </a:xfrm>
          <a:prstGeom prst="rect">
            <a:avLst/>
          </a:prstGeom>
          <a:noFill/>
          <a:ln/>
        </p:spPr>
        <p:txBody>
          <a:bodyPr wrap="square" lIns="0" tIns="0" rIns="0" bIns="0" rtlCol="0" anchor="t"/>
          <a:lstStyle/>
          <a:p>
            <a:pPr algn="ctr" indent="0" marL="0">
              <a:buNone/>
            </a:pPr>
            <a:r>
              <a:rPr lang="en-US" sz="1100" b="1" dirty="0">
                <a:solidFill>
                  <a:srgbClr val="1F2224"/>
                </a:solidFill>
              </a:rPr>
              <a:t>1.0 m</a:t>
            </a:r>
            <a:endParaRPr lang="en-US" sz="1100" dirty="0"/>
          </a:p>
        </p:txBody>
      </p:sp>
      <p:sp>
        <p:nvSpPr>
          <p:cNvPr id="16" name="Text 14"/>
          <p:cNvSpPr txBox="1"/>
          <p:nvPr/>
        </p:nvSpPr>
        <p:spPr>
          <a:xfrm>
            <a:off x="2889504" y="3447288"/>
            <a:ext cx="365760" cy="274320"/>
          </a:xfrm>
          <a:prstGeom prst="rect">
            <a:avLst/>
          </a:prstGeom>
          <a:noFill/>
          <a:ln/>
        </p:spPr>
        <p:txBody>
          <a:bodyPr wrap="square" lIns="0" tIns="0" rIns="0" bIns="0" rtlCol="0" anchor="t"/>
          <a:lstStyle/>
          <a:p>
            <a:pPr algn="ctr" indent="0" marL="0">
              <a:buNone/>
            </a:pPr>
            <a:r>
              <a:rPr lang="en-US" sz="1200" b="1" dirty="0">
                <a:solidFill>
                  <a:srgbClr val="C2593A"/>
                </a:solidFill>
              </a:rPr>
              <a:t>2</a:t>
            </a:r>
            <a:endParaRPr lang="en-US" sz="1200" dirty="0"/>
          </a:p>
        </p:txBody>
      </p:sp>
      <p:sp>
        <p:nvSpPr>
          <p:cNvPr id="17" name="wall 1.6 m"/>
          <p:cNvSpPr/>
          <p:nvPr/>
        </p:nvSpPr>
        <p:spPr>
          <a:xfrm>
            <a:off x="4114800" y="2670048"/>
            <a:ext cx="292608" cy="2999232"/>
          </a:xfrm>
          <a:prstGeom prst="rect">
            <a:avLst/>
          </a:prstGeom>
          <a:solidFill>
            <a:srgbClr val="B9C4C4"/>
          </a:solidFill>
          <a:ln w="9525">
            <a:solidFill>
              <a:srgbClr val="1F2224"/>
            </a:solidFill>
            <a:prstDash val="solid"/>
          </a:ln>
        </p:spPr>
      </p:sp>
      <p:sp>
        <p:nvSpPr>
          <p:cNvPr id="18" name="Text 16"/>
          <p:cNvSpPr txBox="1"/>
          <p:nvPr/>
        </p:nvSpPr>
        <p:spPr>
          <a:xfrm>
            <a:off x="3840480" y="5715000"/>
            <a:ext cx="841248" cy="228600"/>
          </a:xfrm>
          <a:prstGeom prst="rect">
            <a:avLst/>
          </a:prstGeom>
          <a:noFill/>
          <a:ln/>
        </p:spPr>
        <p:txBody>
          <a:bodyPr wrap="square" lIns="0" tIns="0" rIns="0" bIns="0" rtlCol="0" anchor="t"/>
          <a:lstStyle/>
          <a:p>
            <a:pPr algn="ctr" indent="0" marL="0">
              <a:buNone/>
            </a:pPr>
            <a:r>
              <a:rPr lang="en-US" sz="1100" b="1" dirty="0">
                <a:solidFill>
                  <a:srgbClr val="1F2224"/>
                </a:solidFill>
              </a:rPr>
              <a:t>1.6 m</a:t>
            </a:r>
            <a:endParaRPr lang="en-US" sz="1100" dirty="0"/>
          </a:p>
        </p:txBody>
      </p:sp>
      <p:sp>
        <p:nvSpPr>
          <p:cNvPr id="19" name="Text 17"/>
          <p:cNvSpPr txBox="1"/>
          <p:nvPr/>
        </p:nvSpPr>
        <p:spPr>
          <a:xfrm>
            <a:off x="4078224" y="2322576"/>
            <a:ext cx="365760" cy="274320"/>
          </a:xfrm>
          <a:prstGeom prst="rect">
            <a:avLst/>
          </a:prstGeom>
          <a:noFill/>
          <a:ln/>
        </p:spPr>
        <p:txBody>
          <a:bodyPr wrap="square" lIns="0" tIns="0" rIns="0" bIns="0" rtlCol="0" anchor="t"/>
          <a:lstStyle/>
          <a:p>
            <a:pPr algn="ctr" indent="0" marL="0">
              <a:buNone/>
            </a:pPr>
            <a:r>
              <a:rPr lang="en-US" sz="1200" b="1" dirty="0">
                <a:solidFill>
                  <a:srgbClr val="C2593A"/>
                </a:solidFill>
              </a:rPr>
              <a:t>3</a:t>
            </a:r>
            <a:endParaRPr lang="en-US" sz="1200" dirty="0"/>
          </a:p>
        </p:txBody>
      </p:sp>
      <p:sp>
        <p:nvSpPr>
          <p:cNvPr id="20" name="wall 2.1 m+"/>
          <p:cNvSpPr/>
          <p:nvPr/>
        </p:nvSpPr>
        <p:spPr>
          <a:xfrm>
            <a:off x="5303520" y="1732788"/>
            <a:ext cx="292608" cy="3936492"/>
          </a:xfrm>
          <a:prstGeom prst="rect">
            <a:avLst/>
          </a:prstGeom>
          <a:solidFill>
            <a:srgbClr val="2F6B6A"/>
          </a:solidFill>
          <a:ln w="9525">
            <a:solidFill>
              <a:srgbClr val="1F2224"/>
            </a:solidFill>
            <a:prstDash val="solid"/>
          </a:ln>
        </p:spPr>
      </p:sp>
      <p:sp>
        <p:nvSpPr>
          <p:cNvPr id="21" name="Text 19"/>
          <p:cNvSpPr txBox="1"/>
          <p:nvPr/>
        </p:nvSpPr>
        <p:spPr>
          <a:xfrm>
            <a:off x="5029200" y="5715000"/>
            <a:ext cx="841248" cy="228600"/>
          </a:xfrm>
          <a:prstGeom prst="rect">
            <a:avLst/>
          </a:prstGeom>
          <a:noFill/>
          <a:ln/>
        </p:spPr>
        <p:txBody>
          <a:bodyPr wrap="square" lIns="0" tIns="0" rIns="0" bIns="0" rtlCol="0" anchor="t"/>
          <a:lstStyle/>
          <a:p>
            <a:pPr algn="ctr" indent="0" marL="0">
              <a:buNone/>
            </a:pPr>
            <a:r>
              <a:rPr lang="en-US" sz="1100" b="1" dirty="0">
                <a:solidFill>
                  <a:srgbClr val="1F2224"/>
                </a:solidFill>
              </a:rPr>
              <a:t>2.1 m+</a:t>
            </a:r>
            <a:endParaRPr lang="en-US" sz="1100" dirty="0"/>
          </a:p>
        </p:txBody>
      </p:sp>
      <p:sp>
        <p:nvSpPr>
          <p:cNvPr id="22" name="Text 20"/>
          <p:cNvSpPr txBox="1"/>
          <p:nvPr/>
        </p:nvSpPr>
        <p:spPr>
          <a:xfrm>
            <a:off x="5266944" y="1385316"/>
            <a:ext cx="365760" cy="274320"/>
          </a:xfrm>
          <a:prstGeom prst="rect">
            <a:avLst/>
          </a:prstGeom>
          <a:noFill/>
          <a:ln/>
        </p:spPr>
        <p:txBody>
          <a:bodyPr wrap="square" lIns="0" tIns="0" rIns="0" bIns="0" rtlCol="0" anchor="t"/>
          <a:lstStyle/>
          <a:p>
            <a:pPr algn="ctr" indent="0" marL="0">
              <a:buNone/>
            </a:pPr>
            <a:r>
              <a:rPr lang="en-US" sz="1200" b="1" dirty="0">
                <a:solidFill>
                  <a:srgbClr val="C2593A"/>
                </a:solidFill>
              </a:rPr>
              <a:t>4</a:t>
            </a:r>
            <a:endParaRPr lang="en-US" sz="1200" dirty="0"/>
          </a:p>
        </p:txBody>
      </p:sp>
      <p:sp>
        <p:nvSpPr>
          <p:cNvPr id="23" name="Text 21"/>
          <p:cNvSpPr txBox="1"/>
          <p:nvPr/>
        </p:nvSpPr>
        <p:spPr>
          <a:xfrm>
            <a:off x="6583680" y="1508760"/>
            <a:ext cx="5059375" cy="365760"/>
          </a:xfrm>
          <a:prstGeom prst="rect">
            <a:avLst/>
          </a:prstGeom>
          <a:noFill/>
          <a:ln/>
        </p:spPr>
        <p:txBody>
          <a:bodyPr wrap="square" lIns="0" tIns="0" rIns="0" bIns="0" rtlCol="0" anchor="t"/>
          <a:lstStyle/>
          <a:p>
            <a:pPr rtl="1" algn="r" indent="0" marL="0">
              <a:buNone/>
            </a:pPr>
            <a:r>
              <a:rPr lang="ar-SA" altLang="en-US" sz="1500" b="1" dirty="0">
                <a:solidFill>
                  <a:srgbClr val="C2593A"/>
                </a:solidFill>
              </a:rPr>
              <a:t>أثر ارتفاع الجدار بالنسبة لمستوى العين:</a:t>
            </a:r>
            <a:endParaRPr lang="ar-SA" sz="1500" dirty="0"/>
          </a:p>
        </p:txBody>
      </p:sp>
      <p:sp>
        <p:nvSpPr>
          <p:cNvPr id="24" name="marker 1"/>
          <p:cNvSpPr/>
          <p:nvPr/>
        </p:nvSpPr>
        <p:spPr>
          <a:xfrm>
            <a:off x="11277295" y="1975104"/>
            <a:ext cx="365760" cy="365760"/>
          </a:xfrm>
          <a:prstGeom prst="ellipse">
            <a:avLst/>
          </a:prstGeom>
          <a:solidFill>
            <a:srgbClr val="C2593A"/>
          </a:solidFill>
          <a:ln/>
        </p:spPr>
      </p:sp>
      <p:sp>
        <p:nvSpPr>
          <p:cNvPr id="25" name="Text 23"/>
          <p:cNvSpPr txBox="1"/>
          <p:nvPr/>
        </p:nvSpPr>
        <p:spPr>
          <a:xfrm>
            <a:off x="11277295" y="19751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6" name="Text 24"/>
          <p:cNvSpPr txBox="1"/>
          <p:nvPr/>
        </p:nvSpPr>
        <p:spPr>
          <a:xfrm>
            <a:off x="6583680" y="1947672"/>
            <a:ext cx="4556455" cy="457200"/>
          </a:xfrm>
          <a:prstGeom prst="rect">
            <a:avLst/>
          </a:prstGeom>
          <a:noFill/>
          <a:ln/>
        </p:spPr>
        <p:txBody>
          <a:bodyPr wrap="square" lIns="0" tIns="0" rIns="0" bIns="0" rtlCol="0" anchor="ctr"/>
          <a:lstStyle/>
          <a:p>
            <a:pPr rtl="1" algn="r" indent="0" marL="0">
              <a:buNone/>
            </a:pPr>
            <a:r>
              <a:rPr lang="ar-SA" altLang="en-US" sz="1300" dirty="0">
                <a:solidFill>
                  <a:srgbClr val="1F2224"/>
                </a:solidFill>
              </a:rPr>
              <a:t>عند مستوى الركبة: يحدد حافة المجال دون إحساس بالاحتواء.</a:t>
            </a:r>
            <a:endParaRPr lang="ar-SA" sz="1300" dirty="0"/>
          </a:p>
        </p:txBody>
      </p:sp>
      <p:sp>
        <p:nvSpPr>
          <p:cNvPr id="27" name="marker 2"/>
          <p:cNvSpPr/>
          <p:nvPr/>
        </p:nvSpPr>
        <p:spPr>
          <a:xfrm>
            <a:off x="11277295" y="2523744"/>
            <a:ext cx="365760" cy="365760"/>
          </a:xfrm>
          <a:prstGeom prst="ellipse">
            <a:avLst/>
          </a:prstGeom>
          <a:solidFill>
            <a:srgbClr val="C2593A"/>
          </a:solidFill>
          <a:ln/>
        </p:spPr>
      </p:sp>
      <p:sp>
        <p:nvSpPr>
          <p:cNvPr id="28" name="Text 26"/>
          <p:cNvSpPr txBox="1"/>
          <p:nvPr/>
        </p:nvSpPr>
        <p:spPr>
          <a:xfrm>
            <a:off x="11277295" y="25237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9" name="Text 27"/>
          <p:cNvSpPr txBox="1"/>
          <p:nvPr/>
        </p:nvSpPr>
        <p:spPr>
          <a:xfrm>
            <a:off x="6583680" y="2496312"/>
            <a:ext cx="4556455" cy="457200"/>
          </a:xfrm>
          <a:prstGeom prst="rect">
            <a:avLst/>
          </a:prstGeom>
          <a:noFill/>
          <a:ln/>
        </p:spPr>
        <p:txBody>
          <a:bodyPr wrap="square" lIns="0" tIns="0" rIns="0" bIns="0" rtlCol="0" anchor="ctr"/>
          <a:lstStyle/>
          <a:p>
            <a:pPr rtl="1" algn="r" indent="0" marL="0">
              <a:buNone/>
            </a:pPr>
            <a:r>
              <a:rPr lang="ar-SA" altLang="en-US" sz="1300" dirty="0">
                <a:solidFill>
                  <a:srgbClr val="1F2224"/>
                </a:solidFill>
              </a:rPr>
              <a:t>عند مستوى الخصر: يبدأ الاحتواء مع بقاء الاستمرارية البصرية.</a:t>
            </a:r>
            <a:endParaRPr lang="ar-SA" sz="1300" dirty="0"/>
          </a:p>
        </p:txBody>
      </p:sp>
      <p:sp>
        <p:nvSpPr>
          <p:cNvPr id="30" name="marker 3"/>
          <p:cNvSpPr/>
          <p:nvPr/>
        </p:nvSpPr>
        <p:spPr>
          <a:xfrm>
            <a:off x="11277295" y="3072384"/>
            <a:ext cx="365760" cy="365760"/>
          </a:xfrm>
          <a:prstGeom prst="ellipse">
            <a:avLst/>
          </a:prstGeom>
          <a:solidFill>
            <a:srgbClr val="C2593A"/>
          </a:solidFill>
          <a:ln/>
        </p:spPr>
      </p:sp>
      <p:sp>
        <p:nvSpPr>
          <p:cNvPr id="31" name="Text 29"/>
          <p:cNvSpPr txBox="1"/>
          <p:nvPr/>
        </p:nvSpPr>
        <p:spPr>
          <a:xfrm>
            <a:off x="11277295" y="30723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2" name="Text 30"/>
          <p:cNvSpPr txBox="1"/>
          <p:nvPr/>
        </p:nvSpPr>
        <p:spPr>
          <a:xfrm>
            <a:off x="6583680" y="3044952"/>
            <a:ext cx="4556455" cy="457200"/>
          </a:xfrm>
          <a:prstGeom prst="rect">
            <a:avLst/>
          </a:prstGeom>
          <a:noFill/>
          <a:ln/>
        </p:spPr>
        <p:txBody>
          <a:bodyPr wrap="square" lIns="0" tIns="0" rIns="0" bIns="0" rtlCol="0" anchor="ctr"/>
          <a:lstStyle/>
          <a:p>
            <a:pPr rtl="1" algn="r" indent="0" marL="0">
              <a:buNone/>
            </a:pPr>
            <a:r>
              <a:rPr lang="ar-SA" altLang="en-US" sz="1300" dirty="0">
                <a:solidFill>
                  <a:srgbClr val="1F2224"/>
                </a:solidFill>
              </a:rPr>
              <a:t>قرب مستوى العين: يبدأ في فصل فراغ عن آخر.</a:t>
            </a:r>
            <a:endParaRPr lang="ar-SA" sz="1300" dirty="0"/>
          </a:p>
        </p:txBody>
      </p:sp>
      <p:sp>
        <p:nvSpPr>
          <p:cNvPr id="33" name="marker 4"/>
          <p:cNvSpPr/>
          <p:nvPr/>
        </p:nvSpPr>
        <p:spPr>
          <a:xfrm>
            <a:off x="11277295" y="3621024"/>
            <a:ext cx="365760" cy="365760"/>
          </a:xfrm>
          <a:prstGeom prst="ellipse">
            <a:avLst/>
          </a:prstGeom>
          <a:solidFill>
            <a:srgbClr val="C2593A"/>
          </a:solidFill>
          <a:ln/>
        </p:spPr>
      </p:sp>
      <p:sp>
        <p:nvSpPr>
          <p:cNvPr id="34" name="Text 32"/>
          <p:cNvSpPr txBox="1"/>
          <p:nvPr/>
        </p:nvSpPr>
        <p:spPr>
          <a:xfrm>
            <a:off x="11277295" y="36210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5" name="Text 33"/>
          <p:cNvSpPr txBox="1"/>
          <p:nvPr/>
        </p:nvSpPr>
        <p:spPr>
          <a:xfrm>
            <a:off x="6583680" y="3593592"/>
            <a:ext cx="4556455" cy="457200"/>
          </a:xfrm>
          <a:prstGeom prst="rect">
            <a:avLst/>
          </a:prstGeom>
          <a:noFill/>
          <a:ln/>
        </p:spPr>
        <p:txBody>
          <a:bodyPr wrap="square" lIns="0" tIns="0" rIns="0" bIns="0" rtlCol="0" anchor="ctr"/>
          <a:lstStyle/>
          <a:p>
            <a:pPr rtl="1" algn="r" indent="0" marL="0">
              <a:buNone/>
            </a:pPr>
            <a:r>
              <a:rPr lang="ar-SA" altLang="en-US" sz="1300" dirty="0">
                <a:solidFill>
                  <a:srgbClr val="1F2224"/>
                </a:solidFill>
              </a:rPr>
              <a:t>أعلى من قامة الإنسان: يقطع الاستمرارية البصرية ويحتوي الفراغ بقوة.</a:t>
            </a:r>
            <a:endParaRPr lang="ar-SA" sz="1300" dirty="0"/>
          </a:p>
        </p:txBody>
      </p:sp>
      <p:sp>
        <p:nvSpPr>
          <p:cNvPr id="36" name="wall roles"/>
          <p:cNvSpPr/>
          <p:nvPr/>
        </p:nvSpPr>
        <p:spPr>
          <a:xfrm>
            <a:off x="6583680" y="4251960"/>
            <a:ext cx="5059375" cy="1920240"/>
          </a:xfrm>
          <a:prstGeom prst="roundRect">
            <a:avLst>
              <a:gd name="adj" fmla="val 3810"/>
            </a:avLst>
          </a:prstGeom>
          <a:solidFill>
            <a:schemeClr val="bg2"/>
          </a:solidFill>
          <a:ln/>
          <a:effectLst>
            <a:outerShdw sx="100000" sy="100000" kx="0" ky="0" algn="bl" rotWithShape="0" blurRad="101600" dist="25400" dir="5400000">
              <a:srgbClr val="000000">
                <a:alpha val="12000"/>
              </a:srgbClr>
            </a:outerShdw>
          </a:effectLst>
        </p:spPr>
      </p:sp>
      <p:sp>
        <p:nvSpPr>
          <p:cNvPr id="37" name="Text 35"/>
          <p:cNvSpPr txBox="1"/>
          <p:nvPr/>
        </p:nvSpPr>
        <p:spPr>
          <a:xfrm>
            <a:off x="6812280" y="4343400"/>
            <a:ext cx="4602175" cy="320040"/>
          </a:xfrm>
          <a:prstGeom prst="rect">
            <a:avLst/>
          </a:prstGeom>
          <a:noFill/>
          <a:ln/>
        </p:spPr>
        <p:txBody>
          <a:bodyPr wrap="square" lIns="0" tIns="0" rIns="0" bIns="0" rtlCol="0" anchor="t"/>
          <a:lstStyle/>
          <a:p>
            <a:pPr rtl="1" algn="r" indent="0" marL="0">
              <a:buNone/>
            </a:pPr>
            <a:r>
              <a:rPr lang="ar-SA" altLang="en-US" sz="1400" b="1" dirty="0">
                <a:solidFill>
                  <a:srgbClr val="2F6B6A"/>
                </a:solidFill>
              </a:rPr>
              <a:t>يمكن للجدار أن:</a:t>
            </a:r>
            <a:endParaRPr lang="ar-SA" sz="1400" dirty="0"/>
          </a:p>
        </p:txBody>
      </p:sp>
      <p:sp>
        <p:nvSpPr>
          <p:cNvPr id="38" name="Text 36"/>
          <p:cNvSpPr txBox="1"/>
          <p:nvPr/>
        </p:nvSpPr>
        <p:spPr>
          <a:xfrm>
            <a:off x="9159088" y="4709160"/>
            <a:ext cx="2255368" cy="384048"/>
          </a:xfrm>
          <a:prstGeom prst="rect">
            <a:avLst/>
          </a:prstGeom>
          <a:noFill/>
          <a:ln/>
        </p:spPr>
        <p:txBody>
          <a:bodyPr wrap="square" lIns="0" tIns="0" rIns="0" bIns="0" rtlCol="0" anchor="ctr"/>
          <a:lstStyle/>
          <a:p>
            <a:pPr algn="r" marL="342900" indent="-342900">
              <a:buSzPct val="100000"/>
              <a:buChar char="■"/>
            </a:pPr>
            <a:r>
              <a:rPr lang="ar-SA" altLang="en-US" sz="1300" dirty="0">
                <a:solidFill>
                  <a:srgbClr val="1F2224"/>
                </a:solidFill>
              </a:rPr>
              <a:t>يحدد حدود الفراغ</a:t>
            </a:r>
            <a:endParaRPr lang="ar-SA" sz="1300" dirty="0"/>
          </a:p>
        </p:txBody>
      </p:sp>
      <p:sp>
        <p:nvSpPr>
          <p:cNvPr id="39" name="Text 37"/>
          <p:cNvSpPr txBox="1"/>
          <p:nvPr/>
        </p:nvSpPr>
        <p:spPr>
          <a:xfrm>
            <a:off x="6812280" y="4709160"/>
            <a:ext cx="2255368" cy="384048"/>
          </a:xfrm>
          <a:prstGeom prst="rect">
            <a:avLst/>
          </a:prstGeom>
          <a:noFill/>
          <a:ln/>
        </p:spPr>
        <p:txBody>
          <a:bodyPr wrap="square" lIns="0" tIns="0" rIns="0" bIns="0" rtlCol="0" anchor="ctr"/>
          <a:lstStyle/>
          <a:p>
            <a:pPr algn="r" marL="342900" indent="-342900">
              <a:buSzPct val="100000"/>
              <a:buChar char="■"/>
            </a:pPr>
            <a:r>
              <a:rPr lang="ar-SA" altLang="en-US" sz="1300" dirty="0">
                <a:solidFill>
                  <a:srgbClr val="1F2224"/>
                </a:solidFill>
              </a:rPr>
              <a:t>يفصل بين نشاطين</a:t>
            </a:r>
            <a:endParaRPr lang="ar-SA" sz="1300" dirty="0"/>
          </a:p>
        </p:txBody>
      </p:sp>
      <p:sp>
        <p:nvSpPr>
          <p:cNvPr id="40" name="Text 38"/>
          <p:cNvSpPr txBox="1"/>
          <p:nvPr/>
        </p:nvSpPr>
        <p:spPr>
          <a:xfrm>
            <a:off x="9159088" y="5166360"/>
            <a:ext cx="2255368" cy="384048"/>
          </a:xfrm>
          <a:prstGeom prst="rect">
            <a:avLst/>
          </a:prstGeom>
          <a:noFill/>
          <a:ln/>
        </p:spPr>
        <p:txBody>
          <a:bodyPr wrap="square" lIns="0" tIns="0" rIns="0" bIns="0" rtlCol="0" anchor="ctr"/>
          <a:lstStyle/>
          <a:p>
            <a:pPr algn="r" marL="342900" indent="-342900">
              <a:buSzPct val="100000"/>
              <a:buChar char="■"/>
            </a:pPr>
            <a:r>
              <a:rPr lang="ar-SA" altLang="en-US" sz="1300" dirty="0">
                <a:solidFill>
                  <a:srgbClr val="1F2224"/>
                </a:solidFill>
              </a:rPr>
              <a:t>يوجّه الحركة</a:t>
            </a:r>
            <a:endParaRPr lang="ar-SA" sz="1300" dirty="0"/>
          </a:p>
        </p:txBody>
      </p:sp>
      <p:sp>
        <p:nvSpPr>
          <p:cNvPr id="41" name="Text 39"/>
          <p:cNvSpPr txBox="1"/>
          <p:nvPr/>
        </p:nvSpPr>
        <p:spPr>
          <a:xfrm>
            <a:off x="6812280" y="5166360"/>
            <a:ext cx="2255368" cy="384048"/>
          </a:xfrm>
          <a:prstGeom prst="rect">
            <a:avLst/>
          </a:prstGeom>
          <a:noFill/>
          <a:ln/>
        </p:spPr>
        <p:txBody>
          <a:bodyPr wrap="square" lIns="0" tIns="0" rIns="0" bIns="0" rtlCol="0" anchor="ctr"/>
          <a:lstStyle/>
          <a:p>
            <a:pPr algn="r" marL="342900" indent="-342900">
              <a:buSzPct val="100000"/>
              <a:buChar char="■"/>
            </a:pPr>
            <a:r>
              <a:rPr lang="ar-SA" altLang="en-US" sz="1300" dirty="0">
                <a:solidFill>
                  <a:srgbClr val="1F2224"/>
                </a:solidFill>
              </a:rPr>
              <a:t>يصنع الخصوصية</a:t>
            </a:r>
            <a:endParaRPr lang="ar-SA" sz="1300" dirty="0"/>
          </a:p>
        </p:txBody>
      </p:sp>
      <p:sp>
        <p:nvSpPr>
          <p:cNvPr id="42" name="Text 40"/>
          <p:cNvSpPr txBox="1"/>
          <p:nvPr/>
        </p:nvSpPr>
        <p:spPr>
          <a:xfrm>
            <a:off x="9159088" y="5623560"/>
            <a:ext cx="2255368" cy="384048"/>
          </a:xfrm>
          <a:prstGeom prst="rect">
            <a:avLst/>
          </a:prstGeom>
          <a:noFill/>
          <a:ln/>
        </p:spPr>
        <p:txBody>
          <a:bodyPr wrap="square" lIns="0" tIns="0" rIns="0" bIns="0" rtlCol="0" anchor="ctr"/>
          <a:lstStyle/>
          <a:p>
            <a:pPr algn="r" marL="342900" indent="-342900">
              <a:buSzPct val="100000"/>
              <a:buChar char="■"/>
            </a:pPr>
            <a:r>
              <a:rPr lang="ar-SA" altLang="en-US" sz="1300" dirty="0">
                <a:solidFill>
                  <a:srgbClr val="1F2224"/>
                </a:solidFill>
              </a:rPr>
              <a:t>يخلق علاقة بصرية</a:t>
            </a:r>
            <a:endParaRPr lang="ar-SA" sz="1300" dirty="0"/>
          </a:p>
        </p:txBody>
      </p:sp>
      <p:sp>
        <p:nvSpPr>
          <p:cNvPr id="43" name="Text 41"/>
          <p:cNvSpPr txBox="1"/>
          <p:nvPr/>
        </p:nvSpPr>
        <p:spPr>
          <a:xfrm>
            <a:off x="6812280" y="5623560"/>
            <a:ext cx="2255368" cy="384048"/>
          </a:xfrm>
          <a:prstGeom prst="rect">
            <a:avLst/>
          </a:prstGeom>
          <a:noFill/>
          <a:ln/>
        </p:spPr>
        <p:txBody>
          <a:bodyPr wrap="square" lIns="0" tIns="0" rIns="0" bIns="0" rtlCol="0" anchor="ctr"/>
          <a:lstStyle/>
          <a:p>
            <a:pPr algn="r" marL="342900" indent="-342900">
              <a:buSzPct val="100000"/>
              <a:buChar char="■"/>
            </a:pPr>
            <a:r>
              <a:rPr lang="ar-SA" altLang="en-US" sz="1300" dirty="0">
                <a:solidFill>
                  <a:srgbClr val="1F2224"/>
                </a:solidFill>
              </a:rPr>
              <a:t>يحدد اتجاه الحركة</a:t>
            </a:r>
            <a:endParaRPr lang="ar-SA"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10-A — VERTICAL ELEMENTS DEFINING SPACE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تشكيلات المستويات الرأسية</a:t>
            </a:r>
            <a:endParaRPr lang="ar-SA" sz="3200" dirty="0"/>
          </a:p>
        </p:txBody>
      </p:sp>
      <p:sp>
        <p:nvSpPr>
          <p:cNvPr id="4" name="Vertical linear elements"/>
          <p:cNvSpPr/>
          <p:nvPr/>
        </p:nvSpPr>
        <p:spPr>
          <a:xfrm>
            <a:off x="9148877" y="1554480"/>
            <a:ext cx="2494178" cy="2240280"/>
          </a:xfrm>
          <a:prstGeom prst="roundRect">
            <a:avLst>
              <a:gd name="adj" fmla="val 3265"/>
            </a:avLst>
          </a:prstGeom>
          <a:solidFill>
            <a:schemeClr val="bg2"/>
          </a:solidFill>
          <a:ln/>
          <a:effectLst>
            <a:outerShdw sx="100000" sy="100000" kx="0" ky="0" algn="bl" rotWithShape="0" blurRad="101600" dist="25400" dir="5400000">
              <a:srgbClr val="000000">
                <a:alpha val="12000"/>
              </a:srgbClr>
            </a:outerShdw>
          </a:effectLst>
        </p:spPr>
      </p:sp>
      <p:sp>
        <p:nvSpPr>
          <p:cNvPr id="5" name="defined field"/>
          <p:cNvSpPr/>
          <p:nvPr/>
        </p:nvSpPr>
        <p:spPr>
          <a:xfrm>
            <a:off x="9915906" y="1737360"/>
            <a:ext cx="960120" cy="960120"/>
          </a:xfrm>
          <a:prstGeom prst="rect">
            <a:avLst/>
          </a:prstGeom>
          <a:solidFill>
            <a:srgbClr val="C2593A">
              <a:alpha val="25000"/>
            </a:srgbClr>
          </a:solidFill>
          <a:ln w="6350">
            <a:solidFill>
              <a:srgbClr val="8A9A9B"/>
            </a:solidFill>
            <a:prstDash val="dash"/>
          </a:ln>
        </p:spPr>
      </p:sp>
      <p:sp>
        <p:nvSpPr>
          <p:cNvPr id="6" name="plane 0"/>
          <p:cNvSpPr/>
          <p:nvPr/>
        </p:nvSpPr>
        <p:spPr>
          <a:xfrm>
            <a:off x="9851898" y="1673352"/>
            <a:ext cx="128016" cy="128016"/>
          </a:xfrm>
          <a:prstGeom prst="rect">
            <a:avLst/>
          </a:prstGeom>
          <a:solidFill>
            <a:srgbClr val="1F2224"/>
          </a:solidFill>
          <a:ln/>
        </p:spPr>
      </p:sp>
      <p:sp>
        <p:nvSpPr>
          <p:cNvPr id="7" name="plane 1"/>
          <p:cNvSpPr/>
          <p:nvPr/>
        </p:nvSpPr>
        <p:spPr>
          <a:xfrm>
            <a:off x="10812018" y="1673352"/>
            <a:ext cx="128016" cy="128016"/>
          </a:xfrm>
          <a:prstGeom prst="rect">
            <a:avLst/>
          </a:prstGeom>
          <a:solidFill>
            <a:srgbClr val="1F2224"/>
          </a:solidFill>
          <a:ln/>
        </p:spPr>
      </p:sp>
      <p:sp>
        <p:nvSpPr>
          <p:cNvPr id="8" name="plane 2"/>
          <p:cNvSpPr/>
          <p:nvPr/>
        </p:nvSpPr>
        <p:spPr>
          <a:xfrm>
            <a:off x="9851898" y="2633472"/>
            <a:ext cx="128016" cy="128016"/>
          </a:xfrm>
          <a:prstGeom prst="rect">
            <a:avLst/>
          </a:prstGeom>
          <a:solidFill>
            <a:srgbClr val="1F2224"/>
          </a:solidFill>
          <a:ln/>
        </p:spPr>
      </p:sp>
      <p:sp>
        <p:nvSpPr>
          <p:cNvPr id="9" name="plane 3"/>
          <p:cNvSpPr/>
          <p:nvPr/>
        </p:nvSpPr>
        <p:spPr>
          <a:xfrm>
            <a:off x="10812018" y="2633472"/>
            <a:ext cx="128016" cy="128016"/>
          </a:xfrm>
          <a:prstGeom prst="rect">
            <a:avLst/>
          </a:prstGeom>
          <a:solidFill>
            <a:srgbClr val="1F2224"/>
          </a:solidFill>
          <a:ln/>
        </p:spPr>
      </p:sp>
      <p:sp>
        <p:nvSpPr>
          <p:cNvPr id="10" name="Text 8"/>
          <p:cNvSpPr txBox="1"/>
          <p:nvPr/>
        </p:nvSpPr>
        <p:spPr>
          <a:xfrm>
            <a:off x="9286037" y="2816352"/>
            <a:ext cx="2219858" cy="256032"/>
          </a:xfrm>
          <a:prstGeom prst="rect">
            <a:avLst/>
          </a:prstGeom>
          <a:noFill/>
          <a:ln/>
        </p:spPr>
        <p:txBody>
          <a:bodyPr wrap="square" lIns="0" tIns="0" rIns="0" bIns="0" rtlCol="0" anchor="t"/>
          <a:lstStyle/>
          <a:p>
            <a:pPr algn="ctr" indent="0" marL="0">
              <a:buNone/>
            </a:pPr>
            <a:r>
              <a:rPr lang="en-US" sz="1100" b="1" dirty="0">
                <a:solidFill>
                  <a:srgbClr val="5B6770"/>
                </a:solidFill>
              </a:rPr>
              <a:t>Vertical linear elements</a:t>
            </a:r>
            <a:endParaRPr lang="en-US" sz="1100" dirty="0"/>
          </a:p>
        </p:txBody>
      </p:sp>
      <p:sp>
        <p:nvSpPr>
          <p:cNvPr id="11" name="Text 9"/>
          <p:cNvSpPr txBox="1"/>
          <p:nvPr/>
        </p:nvSpPr>
        <p:spPr>
          <a:xfrm>
            <a:off x="9286037" y="3063240"/>
            <a:ext cx="2219858" cy="292608"/>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عناصر خطية رأسية</a:t>
            </a:r>
            <a:endParaRPr lang="ar-SA" sz="1400" dirty="0"/>
          </a:p>
        </p:txBody>
      </p:sp>
      <p:sp>
        <p:nvSpPr>
          <p:cNvPr id="12" name="Text 10"/>
          <p:cNvSpPr txBox="1"/>
          <p:nvPr/>
        </p:nvSpPr>
        <p:spPr>
          <a:xfrm>
            <a:off x="9286037" y="3355848"/>
            <a:ext cx="2219858" cy="411480"/>
          </a:xfrm>
          <a:prstGeom prst="rect">
            <a:avLst/>
          </a:prstGeom>
          <a:noFill/>
          <a:ln/>
        </p:spPr>
        <p:txBody>
          <a:bodyPr wrap="square" lIns="0" tIns="0" rIns="0" bIns="0" rtlCol="0" anchor="t"/>
          <a:lstStyle/>
          <a:p>
            <a:pPr rtl="1" algn="ctr" indent="0" marL="0">
              <a:buNone/>
            </a:pPr>
            <a:r>
              <a:rPr lang="ar-SA" altLang="en-US" sz="1200" dirty="0">
                <a:solidFill>
                  <a:srgbClr val="3A4146"/>
                </a:solidFill>
              </a:rPr>
              <a:t>تحدد حواف حجم الفراغ.</a:t>
            </a:r>
            <a:endParaRPr lang="ar-SA" sz="1200" dirty="0"/>
          </a:p>
        </p:txBody>
      </p:sp>
      <p:sp>
        <p:nvSpPr>
          <p:cNvPr id="13" name="Single vertical plane"/>
          <p:cNvSpPr/>
          <p:nvPr/>
        </p:nvSpPr>
        <p:spPr>
          <a:xfrm>
            <a:off x="6426098" y="1554480"/>
            <a:ext cx="2494178" cy="2240280"/>
          </a:xfrm>
          <a:prstGeom prst="roundRect">
            <a:avLst>
              <a:gd name="adj" fmla="val 3265"/>
            </a:avLst>
          </a:prstGeom>
          <a:solidFill>
            <a:schemeClr val="bg2"/>
          </a:solidFill>
          <a:ln/>
          <a:effectLst>
            <a:outerShdw sx="100000" sy="100000" kx="0" ky="0" algn="bl" rotWithShape="0" blurRad="101600" dist="25400" dir="5400000">
              <a:srgbClr val="000000">
                <a:alpha val="12000"/>
              </a:srgbClr>
            </a:outerShdw>
          </a:effectLst>
        </p:spPr>
      </p:sp>
      <p:sp>
        <p:nvSpPr>
          <p:cNvPr id="14" name="defined field"/>
          <p:cNvSpPr/>
          <p:nvPr/>
        </p:nvSpPr>
        <p:spPr>
          <a:xfrm>
            <a:off x="7193128" y="1737360"/>
            <a:ext cx="960120" cy="960120"/>
          </a:xfrm>
          <a:prstGeom prst="rect">
            <a:avLst/>
          </a:prstGeom>
          <a:solidFill>
            <a:srgbClr val="C2593A">
              <a:alpha val="25000"/>
            </a:srgbClr>
          </a:solidFill>
          <a:ln w="6350">
            <a:solidFill>
              <a:srgbClr val="8A9A9B"/>
            </a:solidFill>
            <a:prstDash val="dash"/>
          </a:ln>
        </p:spPr>
      </p:sp>
      <p:sp>
        <p:nvSpPr>
          <p:cNvPr id="15" name="plane 0"/>
          <p:cNvSpPr/>
          <p:nvPr/>
        </p:nvSpPr>
        <p:spPr>
          <a:xfrm>
            <a:off x="7193128" y="1645920"/>
            <a:ext cx="960120" cy="91440"/>
          </a:xfrm>
          <a:prstGeom prst="rect">
            <a:avLst/>
          </a:prstGeom>
          <a:solidFill>
            <a:srgbClr val="1F2224"/>
          </a:solidFill>
          <a:ln/>
        </p:spPr>
      </p:sp>
      <p:sp>
        <p:nvSpPr>
          <p:cNvPr id="16" name="Text 14"/>
          <p:cNvSpPr txBox="1"/>
          <p:nvPr/>
        </p:nvSpPr>
        <p:spPr>
          <a:xfrm>
            <a:off x="6563258" y="2816352"/>
            <a:ext cx="2219858" cy="256032"/>
          </a:xfrm>
          <a:prstGeom prst="rect">
            <a:avLst/>
          </a:prstGeom>
          <a:noFill/>
          <a:ln/>
        </p:spPr>
        <p:txBody>
          <a:bodyPr wrap="square" lIns="0" tIns="0" rIns="0" bIns="0" rtlCol="0" anchor="t"/>
          <a:lstStyle/>
          <a:p>
            <a:pPr algn="ctr" indent="0" marL="0">
              <a:buNone/>
            </a:pPr>
            <a:r>
              <a:rPr lang="en-US" sz="1100" b="1" dirty="0">
                <a:solidFill>
                  <a:srgbClr val="5B6770"/>
                </a:solidFill>
              </a:rPr>
              <a:t>Single vertical plane</a:t>
            </a:r>
            <a:endParaRPr lang="en-US" sz="1100" dirty="0"/>
          </a:p>
        </p:txBody>
      </p:sp>
      <p:sp>
        <p:nvSpPr>
          <p:cNvPr id="17" name="Text 15"/>
          <p:cNvSpPr txBox="1"/>
          <p:nvPr/>
        </p:nvSpPr>
        <p:spPr>
          <a:xfrm>
            <a:off x="6563258" y="3063240"/>
            <a:ext cx="2219858" cy="292608"/>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مستوى رأسي منفرد</a:t>
            </a:r>
            <a:endParaRPr lang="ar-SA" sz="1400" dirty="0"/>
          </a:p>
        </p:txBody>
      </p:sp>
      <p:sp>
        <p:nvSpPr>
          <p:cNvPr id="18" name="Text 16"/>
          <p:cNvSpPr txBox="1"/>
          <p:nvPr/>
        </p:nvSpPr>
        <p:spPr>
          <a:xfrm>
            <a:off x="6563258" y="3355848"/>
            <a:ext cx="2219858" cy="411480"/>
          </a:xfrm>
          <a:prstGeom prst="rect">
            <a:avLst/>
          </a:prstGeom>
          <a:noFill/>
          <a:ln/>
        </p:spPr>
        <p:txBody>
          <a:bodyPr wrap="square" lIns="0" tIns="0" rIns="0" bIns="0" rtlCol="0" anchor="t"/>
          <a:lstStyle/>
          <a:p>
            <a:pPr rtl="1" algn="ctr" indent="0" marL="0">
              <a:buNone/>
            </a:pPr>
            <a:r>
              <a:rPr lang="ar-SA" altLang="en-US" sz="1200" dirty="0">
                <a:solidFill>
                  <a:srgbClr val="3A4146"/>
                </a:solidFill>
              </a:rPr>
              <a:t>يُبرز الفراغ الذي يواجهه.</a:t>
            </a:r>
            <a:endParaRPr lang="ar-SA" sz="1200" dirty="0"/>
          </a:p>
        </p:txBody>
      </p:sp>
      <p:sp>
        <p:nvSpPr>
          <p:cNvPr id="19" name="L-shaped plane"/>
          <p:cNvSpPr/>
          <p:nvPr/>
        </p:nvSpPr>
        <p:spPr>
          <a:xfrm>
            <a:off x="3703320" y="1554480"/>
            <a:ext cx="2494178" cy="2240280"/>
          </a:xfrm>
          <a:prstGeom prst="roundRect">
            <a:avLst>
              <a:gd name="adj" fmla="val 3265"/>
            </a:avLst>
          </a:prstGeom>
          <a:solidFill>
            <a:schemeClr val="bg2"/>
          </a:solidFill>
          <a:ln/>
          <a:effectLst>
            <a:outerShdw sx="100000" sy="100000" kx="0" ky="0" algn="bl" rotWithShape="0" blurRad="101600" dist="25400" dir="5400000">
              <a:srgbClr val="000000">
                <a:alpha val="12000"/>
              </a:srgbClr>
            </a:outerShdw>
          </a:effectLst>
        </p:spPr>
      </p:sp>
      <p:sp>
        <p:nvSpPr>
          <p:cNvPr id="20" name="defined field"/>
          <p:cNvSpPr/>
          <p:nvPr/>
        </p:nvSpPr>
        <p:spPr>
          <a:xfrm>
            <a:off x="4470349" y="1737360"/>
            <a:ext cx="960120" cy="960120"/>
          </a:xfrm>
          <a:prstGeom prst="rect">
            <a:avLst/>
          </a:prstGeom>
          <a:solidFill>
            <a:srgbClr val="C2593A">
              <a:alpha val="25000"/>
            </a:srgbClr>
          </a:solidFill>
          <a:ln w="6350">
            <a:solidFill>
              <a:srgbClr val="8A9A9B"/>
            </a:solidFill>
            <a:prstDash val="dash"/>
          </a:ln>
        </p:spPr>
      </p:sp>
      <p:sp>
        <p:nvSpPr>
          <p:cNvPr id="21" name="plane 0"/>
          <p:cNvSpPr/>
          <p:nvPr/>
        </p:nvSpPr>
        <p:spPr>
          <a:xfrm>
            <a:off x="4378909" y="1645920"/>
            <a:ext cx="1051560" cy="91440"/>
          </a:xfrm>
          <a:prstGeom prst="rect">
            <a:avLst/>
          </a:prstGeom>
          <a:solidFill>
            <a:srgbClr val="1F2224"/>
          </a:solidFill>
          <a:ln/>
        </p:spPr>
      </p:sp>
      <p:sp>
        <p:nvSpPr>
          <p:cNvPr id="22" name="plane 1"/>
          <p:cNvSpPr/>
          <p:nvPr/>
        </p:nvSpPr>
        <p:spPr>
          <a:xfrm>
            <a:off x="4378909" y="1737360"/>
            <a:ext cx="91440" cy="960120"/>
          </a:xfrm>
          <a:prstGeom prst="rect">
            <a:avLst/>
          </a:prstGeom>
          <a:solidFill>
            <a:srgbClr val="1F2224"/>
          </a:solidFill>
          <a:ln/>
        </p:spPr>
      </p:sp>
      <p:sp>
        <p:nvSpPr>
          <p:cNvPr id="23" name="Text 21"/>
          <p:cNvSpPr txBox="1"/>
          <p:nvPr/>
        </p:nvSpPr>
        <p:spPr>
          <a:xfrm>
            <a:off x="3840480" y="2816352"/>
            <a:ext cx="2219858" cy="256032"/>
          </a:xfrm>
          <a:prstGeom prst="rect">
            <a:avLst/>
          </a:prstGeom>
          <a:noFill/>
          <a:ln/>
        </p:spPr>
        <p:txBody>
          <a:bodyPr wrap="square" lIns="0" tIns="0" rIns="0" bIns="0" rtlCol="0" anchor="t"/>
          <a:lstStyle/>
          <a:p>
            <a:pPr algn="ctr" indent="0" marL="0">
              <a:buNone/>
            </a:pPr>
            <a:r>
              <a:rPr lang="en-US" sz="1100" b="1" dirty="0">
                <a:solidFill>
                  <a:srgbClr val="5B6770"/>
                </a:solidFill>
              </a:rPr>
              <a:t>L-shaped plane</a:t>
            </a:r>
            <a:endParaRPr lang="en-US" sz="1100" dirty="0"/>
          </a:p>
        </p:txBody>
      </p:sp>
      <p:sp>
        <p:nvSpPr>
          <p:cNvPr id="24" name="Text 22"/>
          <p:cNvSpPr txBox="1"/>
          <p:nvPr/>
        </p:nvSpPr>
        <p:spPr>
          <a:xfrm>
            <a:off x="3840480" y="3063240"/>
            <a:ext cx="2219858" cy="292608"/>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مستوى على شكل L</a:t>
            </a:r>
            <a:endParaRPr lang="ar-SA" sz="1400" dirty="0"/>
          </a:p>
        </p:txBody>
      </p:sp>
      <p:sp>
        <p:nvSpPr>
          <p:cNvPr id="25" name="Text 23"/>
          <p:cNvSpPr txBox="1"/>
          <p:nvPr/>
        </p:nvSpPr>
        <p:spPr>
          <a:xfrm>
            <a:off x="3840480" y="3355848"/>
            <a:ext cx="2219858" cy="411480"/>
          </a:xfrm>
          <a:prstGeom prst="rect">
            <a:avLst/>
          </a:prstGeom>
          <a:noFill/>
          <a:ln/>
        </p:spPr>
        <p:txBody>
          <a:bodyPr wrap="square" lIns="0" tIns="0" rIns="0" bIns="0" rtlCol="0" anchor="t"/>
          <a:lstStyle/>
          <a:p>
            <a:pPr rtl="1" algn="ctr" indent="0" marL="0">
              <a:buNone/>
            </a:pPr>
            <a:r>
              <a:rPr lang="ar-SA" altLang="en-US" sz="1200" dirty="0">
                <a:solidFill>
                  <a:srgbClr val="3A4146"/>
                </a:solidFill>
              </a:rPr>
              <a:t>يولّد فراغًا من الزاوية نحو الخارج قطريًا.</a:t>
            </a:r>
            <a:endParaRPr lang="ar-SA" sz="1200" dirty="0"/>
          </a:p>
        </p:txBody>
      </p:sp>
      <p:sp>
        <p:nvSpPr>
          <p:cNvPr id="26" name="Parallel planes"/>
          <p:cNvSpPr/>
          <p:nvPr/>
        </p:nvSpPr>
        <p:spPr>
          <a:xfrm>
            <a:off x="9148877" y="4023360"/>
            <a:ext cx="2494178" cy="2240280"/>
          </a:xfrm>
          <a:prstGeom prst="roundRect">
            <a:avLst>
              <a:gd name="adj" fmla="val 3265"/>
            </a:avLst>
          </a:prstGeom>
          <a:solidFill>
            <a:schemeClr val="bg2"/>
          </a:solidFill>
          <a:ln/>
          <a:effectLst>
            <a:outerShdw sx="100000" sy="100000" kx="0" ky="0" algn="bl" rotWithShape="0" blurRad="101600" dist="25400" dir="5400000">
              <a:srgbClr val="000000">
                <a:alpha val="12000"/>
              </a:srgbClr>
            </a:outerShdw>
          </a:effectLst>
        </p:spPr>
      </p:sp>
      <p:sp>
        <p:nvSpPr>
          <p:cNvPr id="27" name="defined field"/>
          <p:cNvSpPr/>
          <p:nvPr/>
        </p:nvSpPr>
        <p:spPr>
          <a:xfrm>
            <a:off x="9915906" y="4206240"/>
            <a:ext cx="960120" cy="960120"/>
          </a:xfrm>
          <a:prstGeom prst="rect">
            <a:avLst/>
          </a:prstGeom>
          <a:solidFill>
            <a:srgbClr val="C2593A">
              <a:alpha val="25000"/>
            </a:srgbClr>
          </a:solidFill>
          <a:ln w="6350">
            <a:solidFill>
              <a:srgbClr val="8A9A9B"/>
            </a:solidFill>
            <a:prstDash val="dash"/>
          </a:ln>
        </p:spPr>
      </p:sp>
      <p:sp>
        <p:nvSpPr>
          <p:cNvPr id="28" name="plane 0"/>
          <p:cNvSpPr/>
          <p:nvPr/>
        </p:nvSpPr>
        <p:spPr>
          <a:xfrm>
            <a:off x="9915906" y="4114800"/>
            <a:ext cx="960120" cy="91440"/>
          </a:xfrm>
          <a:prstGeom prst="rect">
            <a:avLst/>
          </a:prstGeom>
          <a:solidFill>
            <a:srgbClr val="1F2224"/>
          </a:solidFill>
          <a:ln/>
        </p:spPr>
      </p:sp>
      <p:sp>
        <p:nvSpPr>
          <p:cNvPr id="29" name="plane 1"/>
          <p:cNvSpPr/>
          <p:nvPr/>
        </p:nvSpPr>
        <p:spPr>
          <a:xfrm>
            <a:off x="9915906" y="5166360"/>
            <a:ext cx="960120" cy="91440"/>
          </a:xfrm>
          <a:prstGeom prst="rect">
            <a:avLst/>
          </a:prstGeom>
          <a:solidFill>
            <a:srgbClr val="1F2224"/>
          </a:solidFill>
          <a:ln/>
        </p:spPr>
      </p:sp>
      <p:sp>
        <p:nvSpPr>
          <p:cNvPr id="30" name="Text 28"/>
          <p:cNvSpPr txBox="1"/>
          <p:nvPr/>
        </p:nvSpPr>
        <p:spPr>
          <a:xfrm>
            <a:off x="9286037" y="5285232"/>
            <a:ext cx="2219858" cy="256032"/>
          </a:xfrm>
          <a:prstGeom prst="rect">
            <a:avLst/>
          </a:prstGeom>
          <a:noFill/>
          <a:ln/>
        </p:spPr>
        <p:txBody>
          <a:bodyPr wrap="square" lIns="0" tIns="0" rIns="0" bIns="0" rtlCol="0" anchor="t"/>
          <a:lstStyle/>
          <a:p>
            <a:pPr algn="ctr" indent="0" marL="0">
              <a:buNone/>
            </a:pPr>
            <a:r>
              <a:rPr lang="en-US" sz="1100" b="1" dirty="0">
                <a:solidFill>
                  <a:srgbClr val="5B6770"/>
                </a:solidFill>
              </a:rPr>
              <a:t>Parallel planes</a:t>
            </a:r>
            <a:endParaRPr lang="en-US" sz="1100" dirty="0"/>
          </a:p>
        </p:txBody>
      </p:sp>
      <p:sp>
        <p:nvSpPr>
          <p:cNvPr id="31" name="Text 29"/>
          <p:cNvSpPr txBox="1"/>
          <p:nvPr/>
        </p:nvSpPr>
        <p:spPr>
          <a:xfrm>
            <a:off x="9286037" y="5532120"/>
            <a:ext cx="2219858" cy="292608"/>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مستويان متوازيان</a:t>
            </a:r>
            <a:endParaRPr lang="ar-SA" sz="1400" dirty="0"/>
          </a:p>
        </p:txBody>
      </p:sp>
      <p:sp>
        <p:nvSpPr>
          <p:cNvPr id="32" name="Text 30"/>
          <p:cNvSpPr txBox="1"/>
          <p:nvPr/>
        </p:nvSpPr>
        <p:spPr>
          <a:xfrm>
            <a:off x="9286037" y="5824728"/>
            <a:ext cx="2219858" cy="411480"/>
          </a:xfrm>
          <a:prstGeom prst="rect">
            <a:avLst/>
          </a:prstGeom>
          <a:noFill/>
          <a:ln/>
        </p:spPr>
        <p:txBody>
          <a:bodyPr wrap="square" lIns="0" tIns="0" rIns="0" bIns="0" rtlCol="0" anchor="t"/>
          <a:lstStyle/>
          <a:p>
            <a:pPr rtl="1" algn="ctr" indent="0" marL="0">
              <a:buNone/>
            </a:pPr>
            <a:r>
              <a:rPr lang="ar-SA" altLang="en-US" sz="1200" dirty="0">
                <a:solidFill>
                  <a:srgbClr val="3A4146"/>
                </a:solidFill>
              </a:rPr>
              <a:t>فراغ محوري موجّه نحو الطرفين المفتوحين.</a:t>
            </a:r>
            <a:endParaRPr lang="ar-SA" sz="1200" dirty="0"/>
          </a:p>
        </p:txBody>
      </p:sp>
      <p:sp>
        <p:nvSpPr>
          <p:cNvPr id="33" name="U-shaped plane"/>
          <p:cNvSpPr/>
          <p:nvPr/>
        </p:nvSpPr>
        <p:spPr>
          <a:xfrm>
            <a:off x="6426098" y="4023360"/>
            <a:ext cx="2494178" cy="2240280"/>
          </a:xfrm>
          <a:prstGeom prst="roundRect">
            <a:avLst>
              <a:gd name="adj" fmla="val 3265"/>
            </a:avLst>
          </a:prstGeom>
          <a:solidFill>
            <a:schemeClr val="bg2"/>
          </a:solidFill>
          <a:ln/>
          <a:effectLst>
            <a:outerShdw sx="100000" sy="100000" kx="0" ky="0" algn="bl" rotWithShape="0" blurRad="101600" dist="25400" dir="5400000">
              <a:srgbClr val="000000">
                <a:alpha val="12000"/>
              </a:srgbClr>
            </a:outerShdw>
          </a:effectLst>
        </p:spPr>
      </p:sp>
      <p:sp>
        <p:nvSpPr>
          <p:cNvPr id="34" name="defined field"/>
          <p:cNvSpPr/>
          <p:nvPr/>
        </p:nvSpPr>
        <p:spPr>
          <a:xfrm>
            <a:off x="7193128" y="4206240"/>
            <a:ext cx="960120" cy="960120"/>
          </a:xfrm>
          <a:prstGeom prst="rect">
            <a:avLst/>
          </a:prstGeom>
          <a:solidFill>
            <a:srgbClr val="C2593A">
              <a:alpha val="25000"/>
            </a:srgbClr>
          </a:solidFill>
          <a:ln w="6350">
            <a:solidFill>
              <a:srgbClr val="8A9A9B"/>
            </a:solidFill>
            <a:prstDash val="dash"/>
          </a:ln>
        </p:spPr>
      </p:sp>
      <p:sp>
        <p:nvSpPr>
          <p:cNvPr id="35" name="plane 0"/>
          <p:cNvSpPr/>
          <p:nvPr/>
        </p:nvSpPr>
        <p:spPr>
          <a:xfrm>
            <a:off x="7101688" y="4114800"/>
            <a:ext cx="1051560" cy="91440"/>
          </a:xfrm>
          <a:prstGeom prst="rect">
            <a:avLst/>
          </a:prstGeom>
          <a:solidFill>
            <a:srgbClr val="1F2224"/>
          </a:solidFill>
          <a:ln/>
        </p:spPr>
      </p:sp>
      <p:sp>
        <p:nvSpPr>
          <p:cNvPr id="36" name="plane 1"/>
          <p:cNvSpPr/>
          <p:nvPr/>
        </p:nvSpPr>
        <p:spPr>
          <a:xfrm>
            <a:off x="7101688" y="4206240"/>
            <a:ext cx="91440" cy="960120"/>
          </a:xfrm>
          <a:prstGeom prst="rect">
            <a:avLst/>
          </a:prstGeom>
          <a:solidFill>
            <a:srgbClr val="1F2224"/>
          </a:solidFill>
          <a:ln/>
        </p:spPr>
      </p:sp>
      <p:sp>
        <p:nvSpPr>
          <p:cNvPr id="37" name="plane 2"/>
          <p:cNvSpPr/>
          <p:nvPr/>
        </p:nvSpPr>
        <p:spPr>
          <a:xfrm>
            <a:off x="7101688" y="5166360"/>
            <a:ext cx="1051560" cy="91440"/>
          </a:xfrm>
          <a:prstGeom prst="rect">
            <a:avLst/>
          </a:prstGeom>
          <a:solidFill>
            <a:srgbClr val="1F2224"/>
          </a:solidFill>
          <a:ln/>
        </p:spPr>
      </p:sp>
      <p:sp>
        <p:nvSpPr>
          <p:cNvPr id="38" name="Text 36"/>
          <p:cNvSpPr txBox="1"/>
          <p:nvPr/>
        </p:nvSpPr>
        <p:spPr>
          <a:xfrm>
            <a:off x="6563258" y="5285232"/>
            <a:ext cx="2219858" cy="256032"/>
          </a:xfrm>
          <a:prstGeom prst="rect">
            <a:avLst/>
          </a:prstGeom>
          <a:noFill/>
          <a:ln/>
        </p:spPr>
        <p:txBody>
          <a:bodyPr wrap="square" lIns="0" tIns="0" rIns="0" bIns="0" rtlCol="0" anchor="t"/>
          <a:lstStyle/>
          <a:p>
            <a:pPr algn="ctr" indent="0" marL="0">
              <a:buNone/>
            </a:pPr>
            <a:r>
              <a:rPr lang="en-US" sz="1100" b="1" dirty="0">
                <a:solidFill>
                  <a:srgbClr val="5B6770"/>
                </a:solidFill>
              </a:rPr>
              <a:t>U-shaped plane</a:t>
            </a:r>
            <a:endParaRPr lang="en-US" sz="1100" dirty="0"/>
          </a:p>
        </p:txBody>
      </p:sp>
      <p:sp>
        <p:nvSpPr>
          <p:cNvPr id="39" name="Text 37"/>
          <p:cNvSpPr txBox="1"/>
          <p:nvPr/>
        </p:nvSpPr>
        <p:spPr>
          <a:xfrm>
            <a:off x="6563258" y="5532120"/>
            <a:ext cx="2219858" cy="292608"/>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مستوى على شكل U</a:t>
            </a:r>
            <a:endParaRPr lang="ar-SA" sz="1400" dirty="0"/>
          </a:p>
        </p:txBody>
      </p:sp>
      <p:sp>
        <p:nvSpPr>
          <p:cNvPr id="40" name="Text 38"/>
          <p:cNvSpPr txBox="1"/>
          <p:nvPr/>
        </p:nvSpPr>
        <p:spPr>
          <a:xfrm>
            <a:off x="6563258" y="5824728"/>
            <a:ext cx="2219858" cy="411480"/>
          </a:xfrm>
          <a:prstGeom prst="rect">
            <a:avLst/>
          </a:prstGeom>
          <a:noFill/>
          <a:ln/>
        </p:spPr>
        <p:txBody>
          <a:bodyPr wrap="square" lIns="0" tIns="0" rIns="0" bIns="0" rtlCol="0" anchor="t"/>
          <a:lstStyle/>
          <a:p>
            <a:pPr rtl="1" algn="ctr" indent="0" marL="0">
              <a:buNone/>
            </a:pPr>
            <a:r>
              <a:rPr lang="ar-SA" altLang="en-US" sz="1200" dirty="0">
                <a:solidFill>
                  <a:srgbClr val="3A4146"/>
                </a:solidFill>
              </a:rPr>
              <a:t>فراغ موجّه نحو الطرف المفتوح.</a:t>
            </a:r>
            <a:endParaRPr lang="ar-SA" sz="1200" dirty="0"/>
          </a:p>
        </p:txBody>
      </p:sp>
      <p:sp>
        <p:nvSpPr>
          <p:cNvPr id="41" name="Closure — four planes"/>
          <p:cNvSpPr/>
          <p:nvPr/>
        </p:nvSpPr>
        <p:spPr>
          <a:xfrm>
            <a:off x="3703320" y="4023360"/>
            <a:ext cx="2494178" cy="2240280"/>
          </a:xfrm>
          <a:prstGeom prst="roundRect">
            <a:avLst>
              <a:gd name="adj" fmla="val 3265"/>
            </a:avLst>
          </a:prstGeom>
          <a:solidFill>
            <a:schemeClr val="bg2"/>
          </a:solidFill>
          <a:ln/>
          <a:effectLst>
            <a:outerShdw sx="100000" sy="100000" kx="0" ky="0" algn="bl" rotWithShape="0" blurRad="101600" dist="25400" dir="5400000">
              <a:srgbClr val="000000">
                <a:alpha val="12000"/>
              </a:srgbClr>
            </a:outerShdw>
          </a:effectLst>
        </p:spPr>
      </p:sp>
      <p:sp>
        <p:nvSpPr>
          <p:cNvPr id="42" name="defined field"/>
          <p:cNvSpPr/>
          <p:nvPr/>
        </p:nvSpPr>
        <p:spPr>
          <a:xfrm>
            <a:off x="4470349" y="4206240"/>
            <a:ext cx="960120" cy="960120"/>
          </a:xfrm>
          <a:prstGeom prst="rect">
            <a:avLst/>
          </a:prstGeom>
          <a:solidFill>
            <a:srgbClr val="C2593A">
              <a:alpha val="25000"/>
            </a:srgbClr>
          </a:solidFill>
          <a:ln w="6350">
            <a:solidFill>
              <a:srgbClr val="8A9A9B"/>
            </a:solidFill>
            <a:prstDash val="dash"/>
          </a:ln>
        </p:spPr>
      </p:sp>
      <p:sp>
        <p:nvSpPr>
          <p:cNvPr id="43" name="plane 0"/>
          <p:cNvSpPr/>
          <p:nvPr/>
        </p:nvSpPr>
        <p:spPr>
          <a:xfrm>
            <a:off x="4378909" y="4114800"/>
            <a:ext cx="1143000" cy="91440"/>
          </a:xfrm>
          <a:prstGeom prst="rect">
            <a:avLst/>
          </a:prstGeom>
          <a:solidFill>
            <a:srgbClr val="1F2224"/>
          </a:solidFill>
          <a:ln/>
        </p:spPr>
      </p:sp>
      <p:sp>
        <p:nvSpPr>
          <p:cNvPr id="44" name="plane 1"/>
          <p:cNvSpPr/>
          <p:nvPr/>
        </p:nvSpPr>
        <p:spPr>
          <a:xfrm>
            <a:off x="4378909" y="4206240"/>
            <a:ext cx="91440" cy="960120"/>
          </a:xfrm>
          <a:prstGeom prst="rect">
            <a:avLst/>
          </a:prstGeom>
          <a:solidFill>
            <a:srgbClr val="1F2224"/>
          </a:solidFill>
          <a:ln/>
        </p:spPr>
      </p:sp>
      <p:sp>
        <p:nvSpPr>
          <p:cNvPr id="45" name="plane 2"/>
          <p:cNvSpPr/>
          <p:nvPr/>
        </p:nvSpPr>
        <p:spPr>
          <a:xfrm>
            <a:off x="4378909" y="5166360"/>
            <a:ext cx="1143000" cy="91440"/>
          </a:xfrm>
          <a:prstGeom prst="rect">
            <a:avLst/>
          </a:prstGeom>
          <a:solidFill>
            <a:srgbClr val="1F2224"/>
          </a:solidFill>
          <a:ln/>
        </p:spPr>
      </p:sp>
      <p:sp>
        <p:nvSpPr>
          <p:cNvPr id="46" name="plane 3"/>
          <p:cNvSpPr/>
          <p:nvPr/>
        </p:nvSpPr>
        <p:spPr>
          <a:xfrm>
            <a:off x="5430469" y="4206240"/>
            <a:ext cx="91440" cy="960120"/>
          </a:xfrm>
          <a:prstGeom prst="rect">
            <a:avLst/>
          </a:prstGeom>
          <a:solidFill>
            <a:srgbClr val="1F2224"/>
          </a:solidFill>
          <a:ln/>
        </p:spPr>
      </p:sp>
      <p:sp>
        <p:nvSpPr>
          <p:cNvPr id="47" name="Text 45"/>
          <p:cNvSpPr txBox="1"/>
          <p:nvPr/>
        </p:nvSpPr>
        <p:spPr>
          <a:xfrm>
            <a:off x="3840480" y="5285232"/>
            <a:ext cx="2219858" cy="256032"/>
          </a:xfrm>
          <a:prstGeom prst="rect">
            <a:avLst/>
          </a:prstGeom>
          <a:noFill/>
          <a:ln/>
        </p:spPr>
        <p:txBody>
          <a:bodyPr wrap="square" lIns="0" tIns="0" rIns="0" bIns="0" rtlCol="0" anchor="t"/>
          <a:lstStyle/>
          <a:p>
            <a:pPr algn="ctr" indent="0" marL="0">
              <a:buNone/>
            </a:pPr>
            <a:r>
              <a:rPr lang="en-US" sz="1100" b="1" dirty="0">
                <a:solidFill>
                  <a:srgbClr val="5B6770"/>
                </a:solidFill>
              </a:rPr>
              <a:t>Closure — four planes</a:t>
            </a:r>
            <a:endParaRPr lang="en-US" sz="1100" dirty="0"/>
          </a:p>
        </p:txBody>
      </p:sp>
      <p:sp>
        <p:nvSpPr>
          <p:cNvPr id="48" name="Text 46"/>
          <p:cNvSpPr txBox="1"/>
          <p:nvPr/>
        </p:nvSpPr>
        <p:spPr>
          <a:xfrm>
            <a:off x="3840480" y="5532120"/>
            <a:ext cx="2219858" cy="292608"/>
          </a:xfrm>
          <a:prstGeom prst="rect">
            <a:avLst/>
          </a:prstGeom>
          <a:noFill/>
          <a:ln/>
        </p:spPr>
        <p:txBody>
          <a:bodyPr wrap="square" lIns="0" tIns="0" rIns="0" bIns="0" rtlCol="0" anchor="t"/>
          <a:lstStyle/>
          <a:p>
            <a:pPr rtl="1" algn="ctr" indent="0" marL="0">
              <a:buNone/>
            </a:pPr>
            <a:r>
              <a:rPr lang="ar-SA" altLang="en-US" sz="1400" b="1" dirty="0">
                <a:solidFill>
                  <a:srgbClr val="1F2224"/>
                </a:solidFill>
              </a:rPr>
              <a:t>الإغلاق الكامل</a:t>
            </a:r>
            <a:endParaRPr lang="ar-SA" sz="1400" dirty="0"/>
          </a:p>
        </p:txBody>
      </p:sp>
      <p:sp>
        <p:nvSpPr>
          <p:cNvPr id="49" name="Text 47"/>
          <p:cNvSpPr txBox="1"/>
          <p:nvPr/>
        </p:nvSpPr>
        <p:spPr>
          <a:xfrm>
            <a:off x="3840480" y="5824728"/>
            <a:ext cx="2219858" cy="411480"/>
          </a:xfrm>
          <a:prstGeom prst="rect">
            <a:avLst/>
          </a:prstGeom>
          <a:noFill/>
          <a:ln/>
        </p:spPr>
        <p:txBody>
          <a:bodyPr wrap="square" lIns="0" tIns="0" rIns="0" bIns="0" rtlCol="0" anchor="t"/>
          <a:lstStyle/>
          <a:p>
            <a:pPr rtl="1" algn="ctr" indent="0" marL="0">
              <a:buNone/>
            </a:pPr>
            <a:r>
              <a:rPr lang="ar-SA" altLang="en-US" sz="1200" dirty="0">
                <a:solidFill>
                  <a:srgbClr val="3A4146"/>
                </a:solidFill>
              </a:rPr>
              <a:t>فراغ منطوٍ تحدده المستويات من كل الجهات.</a:t>
            </a:r>
            <a:endParaRPr lang="ar-SA" sz="1200" dirty="0"/>
          </a:p>
        </p:txBody>
      </p:sp>
      <p:pic>
        <p:nvPicPr>
          <p:cNvPr id="50" name="photo stone_wall" descr="stone_wall">    </p:cNvPr>
          <p:cNvPicPr>
            <a:picLocks noChangeAspect="1"/>
          </p:cNvPicPr>
          <p:nvPr/>
        </p:nvPicPr>
        <p:blipFill>
          <a:blip r:embed="rId1"/>
          <a:stretch>
            <a:fillRect/>
          </a:stretch>
        </p:blipFill>
        <p:spPr>
          <a:xfrm>
            <a:off x="548640" y="1554480"/>
            <a:ext cx="2880360" cy="1261872"/>
          </a:xfrm>
          <a:prstGeom prst="rect">
            <a:avLst/>
          </a:prstGeom>
        </p:spPr>
      </p:pic>
      <p:sp>
        <p:nvSpPr>
          <p:cNvPr id="51" name="Text 48"/>
          <p:cNvSpPr txBox="1"/>
          <p:nvPr/>
        </p:nvSpPr>
        <p:spPr>
          <a:xfrm>
            <a:off x="548640" y="2852928"/>
            <a:ext cx="2880360" cy="256032"/>
          </a:xfrm>
          <a:prstGeom prst="rect">
            <a:avLst/>
          </a:prstGeom>
          <a:noFill/>
          <a:ln/>
        </p:spPr>
        <p:txBody>
          <a:bodyPr wrap="square" lIns="0" tIns="0" rIns="0" bIns="0" rtlCol="0" anchor="t"/>
          <a:lstStyle/>
          <a:p>
            <a:pPr algn="r" indent="0" marL="0">
              <a:buNone/>
            </a:pPr>
            <a:r>
              <a:rPr lang="en-US" sz="1000" i="1" dirty="0">
                <a:solidFill>
                  <a:srgbClr val="5B6770"/>
                </a:solidFill>
              </a:rPr>
              <a:t>Single plane</a:t>
            </a:r>
            <a:endParaRPr lang="en-US" sz="1000" dirty="0"/>
          </a:p>
        </p:txBody>
      </p:sp>
      <p:pic>
        <p:nvPicPr>
          <p:cNvPr id="52" name="photo l_pavilion" descr="l_pavilion">    </p:cNvPr>
          <p:cNvPicPr>
            <a:picLocks noChangeAspect="1"/>
          </p:cNvPicPr>
          <p:nvPr/>
        </p:nvPicPr>
        <p:blipFill>
          <a:blip r:embed="rId2"/>
          <a:stretch>
            <a:fillRect/>
          </a:stretch>
        </p:blipFill>
        <p:spPr>
          <a:xfrm>
            <a:off x="548640" y="3200400"/>
            <a:ext cx="2880360" cy="1261872"/>
          </a:xfrm>
          <a:prstGeom prst="rect">
            <a:avLst/>
          </a:prstGeom>
        </p:spPr>
      </p:pic>
      <p:sp>
        <p:nvSpPr>
          <p:cNvPr id="53" name="Text 49"/>
          <p:cNvSpPr txBox="1"/>
          <p:nvPr/>
        </p:nvSpPr>
        <p:spPr>
          <a:xfrm>
            <a:off x="548640" y="4498848"/>
            <a:ext cx="2880360" cy="256032"/>
          </a:xfrm>
          <a:prstGeom prst="rect">
            <a:avLst/>
          </a:prstGeom>
          <a:noFill/>
          <a:ln/>
        </p:spPr>
        <p:txBody>
          <a:bodyPr wrap="square" lIns="0" tIns="0" rIns="0" bIns="0" rtlCol="0" anchor="t"/>
          <a:lstStyle/>
          <a:p>
            <a:pPr algn="r" indent="0" marL="0">
              <a:buNone/>
            </a:pPr>
            <a:r>
              <a:rPr lang="en-US" sz="1000" i="1" dirty="0">
                <a:solidFill>
                  <a:srgbClr val="5B6770"/>
                </a:solidFill>
              </a:rPr>
              <a:t>L-shaped plane</a:t>
            </a:r>
            <a:endParaRPr lang="en-US" sz="1000" dirty="0"/>
          </a:p>
        </p:txBody>
      </p:sp>
      <p:pic>
        <p:nvPicPr>
          <p:cNvPr id="54" name="photo corridor" descr="corridor">    </p:cNvPr>
          <p:cNvPicPr>
            <a:picLocks noChangeAspect="1"/>
          </p:cNvPicPr>
          <p:nvPr/>
        </p:nvPicPr>
        <p:blipFill>
          <a:blip r:embed="rId3"/>
          <a:stretch>
            <a:fillRect/>
          </a:stretch>
        </p:blipFill>
        <p:spPr>
          <a:xfrm>
            <a:off x="548640" y="4846320"/>
            <a:ext cx="2880360" cy="1261872"/>
          </a:xfrm>
          <a:prstGeom prst="rect">
            <a:avLst/>
          </a:prstGeom>
        </p:spPr>
      </p:pic>
      <p:sp>
        <p:nvSpPr>
          <p:cNvPr id="55" name="Text 50"/>
          <p:cNvSpPr txBox="1"/>
          <p:nvPr/>
        </p:nvSpPr>
        <p:spPr>
          <a:xfrm>
            <a:off x="548640" y="6144768"/>
            <a:ext cx="2880360" cy="256032"/>
          </a:xfrm>
          <a:prstGeom prst="rect">
            <a:avLst/>
          </a:prstGeom>
          <a:noFill/>
          <a:ln/>
        </p:spPr>
        <p:txBody>
          <a:bodyPr wrap="square" lIns="0" tIns="0" rIns="0" bIns="0" rtlCol="0" anchor="t"/>
          <a:lstStyle/>
          <a:p>
            <a:pPr algn="r" indent="0" marL="0">
              <a:buNone/>
            </a:pPr>
            <a:r>
              <a:rPr lang="en-US" sz="1000" i="1" dirty="0">
                <a:solidFill>
                  <a:srgbClr val="5B6770"/>
                </a:solidFill>
              </a:rPr>
              <a:t>Parallel planes</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11 — CEILING / OVERHEAD PLANE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السقف — المستوى العلوي</a:t>
            </a:r>
            <a:endParaRPr lang="ar-SA" sz="3200" dirty="0"/>
          </a:p>
        </p:txBody>
      </p:sp>
      <p:sp>
        <p:nvSpPr>
          <p:cNvPr id="4" name="floor section"/>
          <p:cNvSpPr/>
          <p:nvPr/>
        </p:nvSpPr>
        <p:spPr>
          <a:xfrm>
            <a:off x="548640" y="5120640"/>
            <a:ext cx="5669280" cy="109728"/>
          </a:xfrm>
          <a:prstGeom prst="rect">
            <a:avLst/>
          </a:prstGeom>
          <a:solidFill>
            <a:srgbClr val="1F2224"/>
          </a:solidFill>
          <a:ln/>
        </p:spPr>
      </p:sp>
      <p:sp>
        <p:nvSpPr>
          <p:cNvPr id="5" name="slab section"/>
          <p:cNvSpPr/>
          <p:nvPr/>
        </p:nvSpPr>
        <p:spPr>
          <a:xfrm>
            <a:off x="548640" y="1353312"/>
            <a:ext cx="5669280" cy="109728"/>
          </a:xfrm>
          <a:prstGeom prst="rect">
            <a:avLst/>
          </a:prstGeom>
          <a:solidFill>
            <a:srgbClr val="1F2224"/>
          </a:solidFill>
          <a:ln/>
        </p:spPr>
      </p:sp>
      <p:sp>
        <p:nvSpPr>
          <p:cNvPr id="6" name="wall section a"/>
          <p:cNvSpPr/>
          <p:nvPr/>
        </p:nvSpPr>
        <p:spPr>
          <a:xfrm>
            <a:off x="548640" y="1353312"/>
            <a:ext cx="109728" cy="3877056"/>
          </a:xfrm>
          <a:prstGeom prst="rect">
            <a:avLst/>
          </a:prstGeom>
          <a:solidFill>
            <a:srgbClr val="1F2224"/>
          </a:solidFill>
          <a:ln/>
        </p:spPr>
      </p:sp>
      <p:sp>
        <p:nvSpPr>
          <p:cNvPr id="7" name="wall section b"/>
          <p:cNvSpPr/>
          <p:nvPr/>
        </p:nvSpPr>
        <p:spPr>
          <a:xfrm>
            <a:off x="6108192" y="1353312"/>
            <a:ext cx="109728" cy="3877056"/>
          </a:xfrm>
          <a:prstGeom prst="rect">
            <a:avLst/>
          </a:prstGeom>
          <a:solidFill>
            <a:srgbClr val="1F2224"/>
          </a:solidFill>
          <a:ln/>
        </p:spPr>
      </p:sp>
      <p:sp>
        <p:nvSpPr>
          <p:cNvPr id="8" name="lowered ceiling"/>
          <p:cNvSpPr/>
          <p:nvPr/>
        </p:nvSpPr>
        <p:spPr>
          <a:xfrm>
            <a:off x="3666744" y="2263140"/>
            <a:ext cx="2441448" cy="164592"/>
          </a:xfrm>
          <a:prstGeom prst="rect">
            <a:avLst/>
          </a:prstGeom>
          <a:solidFill>
            <a:srgbClr val="C2593A"/>
          </a:solidFill>
          <a:ln/>
        </p:spPr>
      </p:sp>
      <p:sp>
        <p:nvSpPr>
          <p:cNvPr id="9" name="drop edge"/>
          <p:cNvSpPr/>
          <p:nvPr/>
        </p:nvSpPr>
        <p:spPr>
          <a:xfrm>
            <a:off x="3666744" y="1463040"/>
            <a:ext cx="54864" cy="800100"/>
          </a:xfrm>
          <a:prstGeom prst="rect">
            <a:avLst/>
          </a:prstGeom>
          <a:solidFill>
            <a:srgbClr val="C2593A"/>
          </a:solidFill>
          <a:ln/>
        </p:spPr>
      </p:sp>
      <p:sp>
        <p:nvSpPr>
          <p:cNvPr id="10" name="light cone"/>
          <p:cNvSpPr/>
          <p:nvPr/>
        </p:nvSpPr>
        <p:spPr>
          <a:xfrm>
            <a:off x="4091026" y="2427732"/>
            <a:ext cx="1645920" cy="1869948"/>
          </a:xfrm>
          <a:custGeom>
            <a:avLst/>
            <a:gdLst/>
            <a:ahLst/>
            <a:cxnLst/>
            <a:rect l="l" t="t" r="r" b="b"/>
            <a:pathLst>
              <a:path w="1645920" h="1869948">
                <a:moveTo>
                  <a:pt x="731520" y="0"/>
                </a:moveTo>
                <a:lnTo>
                  <a:pt x="914400" y="0"/>
                </a:lnTo>
                <a:lnTo>
                  <a:pt x="1645920" y="1869948"/>
                </a:lnTo>
                <a:lnTo>
                  <a:pt x="0" y="1869948"/>
                </a:lnTo>
                <a:close/>
              </a:path>
            </a:pathLst>
          </a:custGeom>
          <a:solidFill>
            <a:srgbClr val="D9A441">
              <a:alpha val="45000"/>
            </a:srgbClr>
          </a:solidFill>
          <a:ln/>
        </p:spPr>
      </p:sp>
      <p:sp>
        <p:nvSpPr>
          <p:cNvPr id="11" name="table top"/>
          <p:cNvSpPr/>
          <p:nvPr/>
        </p:nvSpPr>
        <p:spPr>
          <a:xfrm>
            <a:off x="4273906" y="4297680"/>
            <a:ext cx="1280160" cy="91440"/>
          </a:xfrm>
          <a:prstGeom prst="rect">
            <a:avLst/>
          </a:prstGeom>
          <a:solidFill>
            <a:srgbClr val="3A4146"/>
          </a:solidFill>
          <a:ln/>
        </p:spPr>
      </p:sp>
      <p:sp>
        <p:nvSpPr>
          <p:cNvPr id="12" name="table leg"/>
          <p:cNvSpPr/>
          <p:nvPr/>
        </p:nvSpPr>
        <p:spPr>
          <a:xfrm>
            <a:off x="4868266" y="4389120"/>
            <a:ext cx="91440" cy="731520"/>
          </a:xfrm>
          <a:prstGeom prst="rect">
            <a:avLst/>
          </a:prstGeom>
          <a:solidFill>
            <a:srgbClr val="3A4146"/>
          </a:solidFill>
          <a:ln/>
        </p:spPr>
      </p:sp>
      <p:sp>
        <p:nvSpPr>
          <p:cNvPr id="13" name="figure a head"/>
          <p:cNvSpPr/>
          <p:nvPr/>
        </p:nvSpPr>
        <p:spPr>
          <a:xfrm>
            <a:off x="1611058" y="3177540"/>
            <a:ext cx="252603" cy="252603"/>
          </a:xfrm>
          <a:prstGeom prst="ellipse">
            <a:avLst/>
          </a:prstGeom>
          <a:solidFill>
            <a:srgbClr val="3A4146"/>
          </a:solidFill>
          <a:ln/>
        </p:spPr>
      </p:sp>
      <p:sp>
        <p:nvSpPr>
          <p:cNvPr id="14" name="figure a torso"/>
          <p:cNvSpPr/>
          <p:nvPr/>
        </p:nvSpPr>
        <p:spPr>
          <a:xfrm>
            <a:off x="1562481" y="3455403"/>
            <a:ext cx="349758" cy="816102"/>
          </a:xfrm>
          <a:prstGeom prst="roundRect">
            <a:avLst>
              <a:gd name="adj" fmla="val 13072"/>
            </a:avLst>
          </a:prstGeom>
          <a:solidFill>
            <a:srgbClr val="3A4146"/>
          </a:solidFill>
          <a:ln/>
        </p:spPr>
      </p:sp>
      <p:sp>
        <p:nvSpPr>
          <p:cNvPr id="15" name="figure a leg L"/>
          <p:cNvSpPr/>
          <p:nvPr/>
        </p:nvSpPr>
        <p:spPr>
          <a:xfrm>
            <a:off x="1659636" y="4304538"/>
            <a:ext cx="0" cy="816102"/>
          </a:xfrm>
          <a:prstGeom prst="line">
            <a:avLst/>
          </a:prstGeom>
          <a:noFill/>
          <a:ln w="38100">
            <a:solidFill>
              <a:srgbClr val="3A4146"/>
            </a:solidFill>
            <a:prstDash val="solid"/>
          </a:ln>
        </p:spPr>
      </p:sp>
      <p:sp>
        <p:nvSpPr>
          <p:cNvPr id="16" name="figure a leg R"/>
          <p:cNvSpPr/>
          <p:nvPr/>
        </p:nvSpPr>
        <p:spPr>
          <a:xfrm>
            <a:off x="1815084" y="4304538"/>
            <a:ext cx="0" cy="816102"/>
          </a:xfrm>
          <a:prstGeom prst="line">
            <a:avLst/>
          </a:prstGeom>
          <a:noFill/>
          <a:ln w="38100">
            <a:solidFill>
              <a:srgbClr val="3A4146"/>
            </a:solidFill>
            <a:prstDash val="solid"/>
          </a:ln>
        </p:spPr>
      </p:sp>
      <p:sp>
        <p:nvSpPr>
          <p:cNvPr id="17" name="figure b head"/>
          <p:cNvSpPr/>
          <p:nvPr/>
        </p:nvSpPr>
        <p:spPr>
          <a:xfrm>
            <a:off x="2616899" y="3177540"/>
            <a:ext cx="252603" cy="252603"/>
          </a:xfrm>
          <a:prstGeom prst="ellipse">
            <a:avLst/>
          </a:prstGeom>
          <a:solidFill>
            <a:srgbClr val="8A9A9B"/>
          </a:solidFill>
          <a:ln/>
        </p:spPr>
      </p:sp>
      <p:sp>
        <p:nvSpPr>
          <p:cNvPr id="18" name="figure b torso"/>
          <p:cNvSpPr/>
          <p:nvPr/>
        </p:nvSpPr>
        <p:spPr>
          <a:xfrm>
            <a:off x="2568321" y="3455403"/>
            <a:ext cx="349758" cy="816102"/>
          </a:xfrm>
          <a:prstGeom prst="roundRect">
            <a:avLst>
              <a:gd name="adj" fmla="val 13072"/>
            </a:avLst>
          </a:prstGeom>
          <a:solidFill>
            <a:srgbClr val="8A9A9B"/>
          </a:solidFill>
          <a:ln/>
        </p:spPr>
      </p:sp>
      <p:sp>
        <p:nvSpPr>
          <p:cNvPr id="19" name="figure b leg L"/>
          <p:cNvSpPr/>
          <p:nvPr/>
        </p:nvSpPr>
        <p:spPr>
          <a:xfrm>
            <a:off x="2665476" y="4304538"/>
            <a:ext cx="0" cy="816102"/>
          </a:xfrm>
          <a:prstGeom prst="line">
            <a:avLst/>
          </a:prstGeom>
          <a:noFill/>
          <a:ln w="38100">
            <a:solidFill>
              <a:srgbClr val="8A9A9B"/>
            </a:solidFill>
            <a:prstDash val="solid"/>
          </a:ln>
        </p:spPr>
      </p:sp>
      <p:sp>
        <p:nvSpPr>
          <p:cNvPr id="20" name="figure b leg R"/>
          <p:cNvSpPr/>
          <p:nvPr/>
        </p:nvSpPr>
        <p:spPr>
          <a:xfrm>
            <a:off x="2820924" y="4304538"/>
            <a:ext cx="0" cy="816102"/>
          </a:xfrm>
          <a:prstGeom prst="line">
            <a:avLst/>
          </a:prstGeom>
          <a:noFill/>
          <a:ln w="38100">
            <a:solidFill>
              <a:srgbClr val="8A9A9B"/>
            </a:solidFill>
            <a:prstDash val="solid"/>
          </a:ln>
        </p:spPr>
      </p:sp>
      <p:sp>
        <p:nvSpPr>
          <p:cNvPr id="21" name="Text 19"/>
          <p:cNvSpPr txBox="1"/>
          <p:nvPr/>
        </p:nvSpPr>
        <p:spPr>
          <a:xfrm>
            <a:off x="731520" y="1508760"/>
            <a:ext cx="731520" cy="274320"/>
          </a:xfrm>
          <a:prstGeom prst="rect">
            <a:avLst/>
          </a:prstGeom>
          <a:noFill/>
          <a:ln/>
        </p:spPr>
        <p:txBody>
          <a:bodyPr wrap="square" lIns="0" tIns="0" rIns="0" bIns="0" rtlCol="0" anchor="t"/>
          <a:lstStyle/>
          <a:p>
            <a:pPr algn="l" indent="0" marL="0">
              <a:buNone/>
            </a:pPr>
            <a:r>
              <a:rPr lang="en-US" sz="1100" b="1" dirty="0">
                <a:solidFill>
                  <a:srgbClr val="5B6770"/>
                </a:solidFill>
              </a:rPr>
              <a:t>3.2 m</a:t>
            </a:r>
            <a:endParaRPr lang="en-US" sz="1100" dirty="0"/>
          </a:p>
        </p:txBody>
      </p:sp>
      <p:sp>
        <p:nvSpPr>
          <p:cNvPr id="22" name="Text 20"/>
          <p:cNvSpPr txBox="1"/>
          <p:nvPr/>
        </p:nvSpPr>
        <p:spPr>
          <a:xfrm>
            <a:off x="3803904" y="2464308"/>
            <a:ext cx="731520" cy="274320"/>
          </a:xfrm>
          <a:prstGeom prst="rect">
            <a:avLst/>
          </a:prstGeom>
          <a:noFill/>
          <a:ln/>
        </p:spPr>
        <p:txBody>
          <a:bodyPr wrap="square" lIns="0" tIns="0" rIns="0" bIns="0" rtlCol="0" anchor="t"/>
          <a:lstStyle/>
          <a:p>
            <a:pPr algn="l" indent="0" marL="0">
              <a:buNone/>
            </a:pPr>
            <a:r>
              <a:rPr lang="en-US" sz="1100" b="1" dirty="0">
                <a:solidFill>
                  <a:srgbClr val="C2593A"/>
                </a:solidFill>
              </a:rPr>
              <a:t>2.5 m</a:t>
            </a:r>
            <a:endParaRPr lang="en-US" sz="1100" dirty="0"/>
          </a:p>
        </p:txBody>
      </p:sp>
      <p:sp>
        <p:nvSpPr>
          <p:cNvPr id="23" name="Text 21"/>
          <p:cNvSpPr txBox="1"/>
          <p:nvPr/>
        </p:nvSpPr>
        <p:spPr>
          <a:xfrm>
            <a:off x="548640" y="5303520"/>
            <a:ext cx="2834640" cy="320040"/>
          </a:xfrm>
          <a:prstGeom prst="rect">
            <a:avLst/>
          </a:prstGeom>
          <a:noFill/>
          <a:ln/>
        </p:spPr>
        <p:txBody>
          <a:bodyPr wrap="square" lIns="0" tIns="0" rIns="0" bIns="0" rtlCol="0" anchor="t"/>
          <a:lstStyle/>
          <a:p>
            <a:pPr rtl="1" algn="ctr" indent="0" marL="0">
              <a:buNone/>
            </a:pPr>
            <a:r>
              <a:rPr lang="ar-SA" altLang="en-US" sz="1200" b="1" dirty="0">
                <a:solidFill>
                  <a:srgbClr val="5B6770"/>
                </a:solidFill>
              </a:rPr>
              <a:t>سقف مرتفع: اتساع ورسمية</a:t>
            </a:r>
            <a:endParaRPr lang="ar-SA" sz="1200" dirty="0"/>
          </a:p>
        </p:txBody>
      </p:sp>
      <p:sp>
        <p:nvSpPr>
          <p:cNvPr id="24" name="Text 22"/>
          <p:cNvSpPr txBox="1"/>
          <p:nvPr/>
        </p:nvSpPr>
        <p:spPr>
          <a:xfrm>
            <a:off x="3383280" y="5303520"/>
            <a:ext cx="2834640" cy="320040"/>
          </a:xfrm>
          <a:prstGeom prst="rect">
            <a:avLst/>
          </a:prstGeom>
          <a:noFill/>
          <a:ln/>
        </p:spPr>
        <p:txBody>
          <a:bodyPr wrap="square" lIns="0" tIns="0" rIns="0" bIns="0" rtlCol="0" anchor="t"/>
          <a:lstStyle/>
          <a:p>
            <a:pPr rtl="1" algn="ctr" indent="0" marL="0">
              <a:buNone/>
            </a:pPr>
            <a:r>
              <a:rPr lang="ar-SA" altLang="en-US" sz="1200" b="1" dirty="0">
                <a:solidFill>
                  <a:srgbClr val="C2593A"/>
                </a:solidFill>
              </a:rPr>
              <a:t>سقف منخفض: احتواء وتحديد</a:t>
            </a:r>
            <a:endParaRPr lang="ar-SA" sz="1200" dirty="0"/>
          </a:p>
        </p:txBody>
      </p:sp>
      <p:sp>
        <p:nvSpPr>
          <p:cNvPr id="25" name="Text 23"/>
          <p:cNvSpPr txBox="1"/>
          <p:nvPr/>
        </p:nvSpPr>
        <p:spPr>
          <a:xfrm>
            <a:off x="6675120" y="1508760"/>
            <a:ext cx="4967935" cy="640080"/>
          </a:xfrm>
          <a:prstGeom prst="rect">
            <a:avLst/>
          </a:prstGeom>
          <a:noFill/>
          <a:ln/>
        </p:spPr>
        <p:txBody>
          <a:bodyPr wrap="square" lIns="0" tIns="0" rIns="0" bIns="0" rtlCol="0" anchor="t"/>
          <a:lstStyle/>
          <a:p>
            <a:pPr rtl="1" algn="r" indent="0" marL="0">
              <a:buNone/>
            </a:pPr>
            <a:r>
              <a:rPr lang="ar-SA" altLang="en-US" sz="1500" dirty="0">
                <a:solidFill>
                  <a:srgbClr val="3A4146"/>
                </a:solidFill>
              </a:rPr>
              <a:t>هنا تظهر أهمية التصميم الداخلي بوضوح؛ فالسقف يستطيع أن:</a:t>
            </a:r>
            <a:endParaRPr lang="ar-SA" sz="1500" dirty="0"/>
          </a:p>
        </p:txBody>
      </p:sp>
      <p:sp>
        <p:nvSpPr>
          <p:cNvPr id="26" name="ceiling role 1 circle"/>
          <p:cNvSpPr/>
          <p:nvPr/>
        </p:nvSpPr>
        <p:spPr>
          <a:xfrm>
            <a:off x="11140135" y="2240280"/>
            <a:ext cx="475488" cy="475488"/>
          </a:xfrm>
          <a:prstGeom prst="ellipse">
            <a:avLst/>
          </a:prstGeom>
          <a:solidFill>
            <a:srgbClr val="D9A441"/>
          </a:solidFill>
          <a:ln/>
        </p:spPr>
      </p:sp>
      <p:pic>
        <p:nvPicPr>
          <p:cNvPr id="27" name="ceiling role 1 icon" descr="ceiling role 1">    </p:cNvPr>
          <p:cNvPicPr>
            <a:picLocks noChangeAspect="1"/>
          </p:cNvPicPr>
          <p:nvPr/>
        </p:nvPicPr>
        <p:blipFill>
          <a:blip r:embed="rId1"/>
          <a:stretch>
            <a:fillRect/>
          </a:stretch>
        </p:blipFill>
        <p:spPr>
          <a:xfrm>
            <a:off x="11259007" y="2359152"/>
            <a:ext cx="237744" cy="237744"/>
          </a:xfrm>
          <a:prstGeom prst="rect">
            <a:avLst/>
          </a:prstGeom>
        </p:spPr>
      </p:pic>
      <p:sp>
        <p:nvSpPr>
          <p:cNvPr id="28" name="Text 25"/>
          <p:cNvSpPr txBox="1"/>
          <p:nvPr/>
        </p:nvSpPr>
        <p:spPr>
          <a:xfrm>
            <a:off x="6675120" y="2258568"/>
            <a:ext cx="4282135" cy="438912"/>
          </a:xfrm>
          <a:prstGeom prst="rect">
            <a:avLst/>
          </a:prstGeom>
          <a:noFill/>
          <a:ln/>
        </p:spPr>
        <p:txBody>
          <a:bodyPr wrap="square" lIns="0" tIns="0" rIns="0" bIns="0" rtlCol="0" anchor="ctr"/>
          <a:lstStyle/>
          <a:p>
            <a:pPr rtl="1" algn="r" indent="0" marL="0">
              <a:buNone/>
            </a:pPr>
            <a:r>
              <a:rPr lang="ar-SA" altLang="en-US" sz="1500" dirty="0">
                <a:solidFill>
                  <a:srgbClr val="1F2224"/>
                </a:solidFill>
              </a:rPr>
              <a:t>يحدد منطقة معينة</a:t>
            </a:r>
            <a:endParaRPr lang="ar-SA" sz="1500" dirty="0"/>
          </a:p>
        </p:txBody>
      </p:sp>
      <p:sp>
        <p:nvSpPr>
          <p:cNvPr id="29" name="ceiling role 2 circle"/>
          <p:cNvSpPr/>
          <p:nvPr/>
        </p:nvSpPr>
        <p:spPr>
          <a:xfrm>
            <a:off x="11140135" y="2862072"/>
            <a:ext cx="475488" cy="475488"/>
          </a:xfrm>
          <a:prstGeom prst="ellipse">
            <a:avLst/>
          </a:prstGeom>
          <a:solidFill>
            <a:srgbClr val="D9A441"/>
          </a:solidFill>
          <a:ln/>
        </p:spPr>
      </p:sp>
      <p:pic>
        <p:nvPicPr>
          <p:cNvPr id="30" name="ceiling role 2 icon" descr="ceiling role 2">    </p:cNvPr>
          <p:cNvPicPr>
            <a:picLocks noChangeAspect="1"/>
          </p:cNvPicPr>
          <p:nvPr/>
        </p:nvPicPr>
        <p:blipFill>
          <a:blip r:embed="rId2"/>
          <a:stretch>
            <a:fillRect/>
          </a:stretch>
        </p:blipFill>
        <p:spPr>
          <a:xfrm>
            <a:off x="11259007" y="2980944"/>
            <a:ext cx="237744" cy="237744"/>
          </a:xfrm>
          <a:prstGeom prst="rect">
            <a:avLst/>
          </a:prstGeom>
        </p:spPr>
      </p:pic>
      <p:sp>
        <p:nvSpPr>
          <p:cNvPr id="31" name="Text 27"/>
          <p:cNvSpPr txBox="1"/>
          <p:nvPr/>
        </p:nvSpPr>
        <p:spPr>
          <a:xfrm>
            <a:off x="6675120" y="2880360"/>
            <a:ext cx="4282135" cy="438912"/>
          </a:xfrm>
          <a:prstGeom prst="rect">
            <a:avLst/>
          </a:prstGeom>
          <a:noFill/>
          <a:ln/>
        </p:spPr>
        <p:txBody>
          <a:bodyPr wrap="square" lIns="0" tIns="0" rIns="0" bIns="0" rtlCol="0" anchor="ctr"/>
          <a:lstStyle/>
          <a:p>
            <a:pPr rtl="1" algn="r" indent="0" marL="0">
              <a:buNone/>
            </a:pPr>
            <a:r>
              <a:rPr lang="ar-SA" altLang="en-US" sz="1500" dirty="0">
                <a:solidFill>
                  <a:srgbClr val="1F2224"/>
                </a:solidFill>
              </a:rPr>
              <a:t>يغير الإحساس بالارتفاع</a:t>
            </a:r>
            <a:endParaRPr lang="ar-SA" sz="1500" dirty="0"/>
          </a:p>
        </p:txBody>
      </p:sp>
      <p:sp>
        <p:nvSpPr>
          <p:cNvPr id="32" name="ceiling role 3 circle"/>
          <p:cNvSpPr/>
          <p:nvPr/>
        </p:nvSpPr>
        <p:spPr>
          <a:xfrm>
            <a:off x="11140135" y="3483864"/>
            <a:ext cx="475488" cy="475488"/>
          </a:xfrm>
          <a:prstGeom prst="ellipse">
            <a:avLst/>
          </a:prstGeom>
          <a:solidFill>
            <a:srgbClr val="D9A441"/>
          </a:solidFill>
          <a:ln/>
        </p:spPr>
      </p:sp>
      <p:pic>
        <p:nvPicPr>
          <p:cNvPr id="33" name="ceiling role 3 icon" descr="ceiling role 3">    </p:cNvPr>
          <p:cNvPicPr>
            <a:picLocks noChangeAspect="1"/>
          </p:cNvPicPr>
          <p:nvPr/>
        </p:nvPicPr>
        <p:blipFill>
          <a:blip r:embed="rId3"/>
          <a:stretch>
            <a:fillRect/>
          </a:stretch>
        </p:blipFill>
        <p:spPr>
          <a:xfrm>
            <a:off x="11259007" y="3602736"/>
            <a:ext cx="237744" cy="237744"/>
          </a:xfrm>
          <a:prstGeom prst="rect">
            <a:avLst/>
          </a:prstGeom>
        </p:spPr>
      </p:pic>
      <p:sp>
        <p:nvSpPr>
          <p:cNvPr id="34" name="Text 29"/>
          <p:cNvSpPr txBox="1"/>
          <p:nvPr/>
        </p:nvSpPr>
        <p:spPr>
          <a:xfrm>
            <a:off x="6675120" y="3502152"/>
            <a:ext cx="4282135" cy="438912"/>
          </a:xfrm>
          <a:prstGeom prst="rect">
            <a:avLst/>
          </a:prstGeom>
          <a:noFill/>
          <a:ln/>
        </p:spPr>
        <p:txBody>
          <a:bodyPr wrap="square" lIns="0" tIns="0" rIns="0" bIns="0" rtlCol="0" anchor="ctr"/>
          <a:lstStyle/>
          <a:p>
            <a:pPr rtl="1" algn="r" indent="0" marL="0">
              <a:buNone/>
            </a:pPr>
            <a:r>
              <a:rPr lang="ar-SA" altLang="en-US" sz="1500" dirty="0">
                <a:solidFill>
                  <a:srgbClr val="1F2224"/>
                </a:solidFill>
              </a:rPr>
              <a:t>يؤثر على الضوء</a:t>
            </a:r>
            <a:endParaRPr lang="ar-SA" sz="1500" dirty="0"/>
          </a:p>
        </p:txBody>
      </p:sp>
      <p:sp>
        <p:nvSpPr>
          <p:cNvPr id="35" name="ceiling role 4 circle"/>
          <p:cNvSpPr/>
          <p:nvPr/>
        </p:nvSpPr>
        <p:spPr>
          <a:xfrm>
            <a:off x="11140135" y="4105656"/>
            <a:ext cx="475488" cy="475488"/>
          </a:xfrm>
          <a:prstGeom prst="ellipse">
            <a:avLst/>
          </a:prstGeom>
          <a:solidFill>
            <a:srgbClr val="D9A441"/>
          </a:solidFill>
          <a:ln/>
        </p:spPr>
      </p:sp>
      <p:pic>
        <p:nvPicPr>
          <p:cNvPr id="36" name="ceiling role 4 icon" descr="ceiling role 4">    </p:cNvPr>
          <p:cNvPicPr>
            <a:picLocks noChangeAspect="1"/>
          </p:cNvPicPr>
          <p:nvPr/>
        </p:nvPicPr>
        <p:blipFill>
          <a:blip r:embed="rId4"/>
          <a:stretch>
            <a:fillRect/>
          </a:stretch>
        </p:blipFill>
        <p:spPr>
          <a:xfrm>
            <a:off x="11259007" y="4224528"/>
            <a:ext cx="237744" cy="237744"/>
          </a:xfrm>
          <a:prstGeom prst="rect">
            <a:avLst/>
          </a:prstGeom>
        </p:spPr>
      </p:pic>
      <p:sp>
        <p:nvSpPr>
          <p:cNvPr id="37" name="Text 31"/>
          <p:cNvSpPr txBox="1"/>
          <p:nvPr/>
        </p:nvSpPr>
        <p:spPr>
          <a:xfrm>
            <a:off x="6675120" y="4123944"/>
            <a:ext cx="4282135" cy="438912"/>
          </a:xfrm>
          <a:prstGeom prst="rect">
            <a:avLst/>
          </a:prstGeom>
          <a:noFill/>
          <a:ln/>
        </p:spPr>
        <p:txBody>
          <a:bodyPr wrap="square" lIns="0" tIns="0" rIns="0" bIns="0" rtlCol="0" anchor="ctr"/>
          <a:lstStyle/>
          <a:p>
            <a:pPr rtl="1" algn="r" indent="0" marL="0">
              <a:buNone/>
            </a:pPr>
            <a:r>
              <a:rPr lang="ar-SA" altLang="en-US" sz="1500" dirty="0">
                <a:solidFill>
                  <a:srgbClr val="1F2224"/>
                </a:solidFill>
              </a:rPr>
              <a:t>يؤثر على الصوت</a:t>
            </a:r>
            <a:endParaRPr lang="ar-SA" sz="1500" dirty="0"/>
          </a:p>
        </p:txBody>
      </p:sp>
      <p:sp>
        <p:nvSpPr>
          <p:cNvPr id="38" name="ceiling role 5 circle"/>
          <p:cNvSpPr/>
          <p:nvPr/>
        </p:nvSpPr>
        <p:spPr>
          <a:xfrm>
            <a:off x="11140135" y="4727448"/>
            <a:ext cx="475488" cy="475488"/>
          </a:xfrm>
          <a:prstGeom prst="ellipse">
            <a:avLst/>
          </a:prstGeom>
          <a:solidFill>
            <a:srgbClr val="D9A441"/>
          </a:solidFill>
          <a:ln/>
        </p:spPr>
      </p:sp>
      <p:pic>
        <p:nvPicPr>
          <p:cNvPr id="39" name="ceiling role 5 icon" descr="ceiling role 5">    </p:cNvPr>
          <p:cNvPicPr>
            <a:picLocks noChangeAspect="1"/>
          </p:cNvPicPr>
          <p:nvPr/>
        </p:nvPicPr>
        <p:blipFill>
          <a:blip r:embed="rId5"/>
          <a:stretch>
            <a:fillRect/>
          </a:stretch>
        </p:blipFill>
        <p:spPr>
          <a:xfrm>
            <a:off x="11259007" y="4846320"/>
            <a:ext cx="237744" cy="237744"/>
          </a:xfrm>
          <a:prstGeom prst="rect">
            <a:avLst/>
          </a:prstGeom>
        </p:spPr>
      </p:pic>
      <p:sp>
        <p:nvSpPr>
          <p:cNvPr id="40" name="Text 33"/>
          <p:cNvSpPr txBox="1"/>
          <p:nvPr/>
        </p:nvSpPr>
        <p:spPr>
          <a:xfrm>
            <a:off x="6675120" y="4745736"/>
            <a:ext cx="4282135" cy="438912"/>
          </a:xfrm>
          <a:prstGeom prst="rect">
            <a:avLst/>
          </a:prstGeom>
          <a:noFill/>
          <a:ln/>
        </p:spPr>
        <p:txBody>
          <a:bodyPr wrap="square" lIns="0" tIns="0" rIns="0" bIns="0" rtlCol="0" anchor="ctr"/>
          <a:lstStyle/>
          <a:p>
            <a:pPr rtl="1" algn="r" indent="0" marL="0">
              <a:buNone/>
            </a:pPr>
            <a:r>
              <a:rPr lang="ar-SA" altLang="en-US" sz="1500" dirty="0">
                <a:solidFill>
                  <a:srgbClr val="1F2224"/>
                </a:solidFill>
              </a:rPr>
              <a:t>يوجه الانتباه</a:t>
            </a:r>
            <a:endParaRPr lang="ar-SA" sz="1500" dirty="0"/>
          </a:p>
        </p:txBody>
      </p:sp>
      <p:sp>
        <p:nvSpPr>
          <p:cNvPr id="41" name="ceiling role 6 circle"/>
          <p:cNvSpPr/>
          <p:nvPr/>
        </p:nvSpPr>
        <p:spPr>
          <a:xfrm>
            <a:off x="11140135" y="5349240"/>
            <a:ext cx="475488" cy="475488"/>
          </a:xfrm>
          <a:prstGeom prst="ellipse">
            <a:avLst/>
          </a:prstGeom>
          <a:solidFill>
            <a:srgbClr val="D9A441"/>
          </a:solidFill>
          <a:ln/>
        </p:spPr>
      </p:sp>
      <p:pic>
        <p:nvPicPr>
          <p:cNvPr id="42" name="ceiling role 6 icon" descr="ceiling role 6">    </p:cNvPr>
          <p:cNvPicPr>
            <a:picLocks noChangeAspect="1"/>
          </p:cNvPicPr>
          <p:nvPr/>
        </p:nvPicPr>
        <p:blipFill>
          <a:blip r:embed="rId6"/>
          <a:stretch>
            <a:fillRect/>
          </a:stretch>
        </p:blipFill>
        <p:spPr>
          <a:xfrm>
            <a:off x="11259007" y="5468112"/>
            <a:ext cx="237744" cy="237744"/>
          </a:xfrm>
          <a:prstGeom prst="rect">
            <a:avLst/>
          </a:prstGeom>
        </p:spPr>
      </p:pic>
      <p:sp>
        <p:nvSpPr>
          <p:cNvPr id="43" name="Text 35"/>
          <p:cNvSpPr txBox="1"/>
          <p:nvPr/>
        </p:nvSpPr>
        <p:spPr>
          <a:xfrm>
            <a:off x="6675120" y="5367528"/>
            <a:ext cx="4282135" cy="438912"/>
          </a:xfrm>
          <a:prstGeom prst="rect">
            <a:avLst/>
          </a:prstGeom>
          <a:noFill/>
          <a:ln/>
        </p:spPr>
        <p:txBody>
          <a:bodyPr wrap="square" lIns="0" tIns="0" rIns="0" bIns="0" rtlCol="0" anchor="ctr"/>
          <a:lstStyle/>
          <a:p>
            <a:pPr rtl="1" algn="r" indent="0" marL="0">
              <a:buNone/>
            </a:pPr>
            <a:r>
              <a:rPr lang="ar-SA" altLang="en-US" sz="1500" dirty="0">
                <a:solidFill>
                  <a:srgbClr val="1F2224"/>
                </a:solidFill>
              </a:rPr>
              <a:t>يفرق بين مناطق مختلفة داخل الفراغ</a:t>
            </a:r>
            <a:endParaRPr lang="ar-SA"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11-A — OVERHEAD PLANE: PRINCIPLES</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المستوى العلوي: مبادئ وأمثلة</a:t>
            </a:r>
            <a:endParaRPr lang="ar-SA" sz="3200" dirty="0"/>
          </a:p>
        </p:txBody>
      </p:sp>
      <p:sp>
        <p:nvSpPr>
          <p:cNvPr id="4" name="overhead point 1 circle"/>
          <p:cNvSpPr/>
          <p:nvPr/>
        </p:nvSpPr>
        <p:spPr>
          <a:xfrm>
            <a:off x="11094415" y="1673352"/>
            <a:ext cx="548640" cy="548640"/>
          </a:xfrm>
          <a:prstGeom prst="ellipse">
            <a:avLst/>
          </a:prstGeom>
          <a:solidFill>
            <a:srgbClr val="D9A441"/>
          </a:solidFill>
          <a:ln/>
        </p:spPr>
      </p:sp>
      <p:pic>
        <p:nvPicPr>
          <p:cNvPr id="5" name="overhead point 1 icon" descr="overhead point 1">    </p:cNvPr>
          <p:cNvPicPr>
            <a:picLocks noChangeAspect="1"/>
          </p:cNvPicPr>
          <p:nvPr/>
        </p:nvPicPr>
        <p:blipFill>
          <a:blip r:embed="rId1"/>
          <a:stretch>
            <a:fillRect/>
          </a:stretch>
        </p:blipFill>
        <p:spPr>
          <a:xfrm>
            <a:off x="11231575" y="1810512"/>
            <a:ext cx="274320" cy="274320"/>
          </a:xfrm>
          <a:prstGeom prst="rect">
            <a:avLst/>
          </a:prstGeom>
        </p:spPr>
      </p:pic>
      <p:sp>
        <p:nvSpPr>
          <p:cNvPr id="6" name="Text 3"/>
          <p:cNvSpPr txBox="1"/>
          <p:nvPr/>
        </p:nvSpPr>
        <p:spPr>
          <a:xfrm>
            <a:off x="6309360" y="1600200"/>
            <a:ext cx="4602175" cy="731520"/>
          </a:xfrm>
          <a:prstGeom prst="rect">
            <a:avLst/>
          </a:prstGeom>
          <a:noFill/>
          <a:ln/>
        </p:spPr>
        <p:txBody>
          <a:bodyPr wrap="square" lIns="0" tIns="0" rIns="0" bIns="0" rtlCol="0" anchor="ctr"/>
          <a:lstStyle/>
          <a:p>
            <a:pPr rtl="1" algn="r" indent="0" marL="0">
              <a:buNone/>
            </a:pPr>
            <a:r>
              <a:rPr lang="ar-SA" altLang="en-US" sz="1500" dirty="0">
                <a:solidFill>
                  <a:srgbClr val="1F2224"/>
                </a:solidFill>
              </a:rPr>
              <a:t>يشبه مظلة الشجرة؛ يمنح إحساسًا بالاحتواء.</a:t>
            </a:r>
            <a:endParaRPr lang="ar-SA" sz="1500" dirty="0"/>
          </a:p>
        </p:txBody>
      </p:sp>
      <p:sp>
        <p:nvSpPr>
          <p:cNvPr id="7" name="overhead point 2 circle"/>
          <p:cNvSpPr/>
          <p:nvPr/>
        </p:nvSpPr>
        <p:spPr>
          <a:xfrm>
            <a:off x="11094415" y="2569464"/>
            <a:ext cx="548640" cy="548640"/>
          </a:xfrm>
          <a:prstGeom prst="ellipse">
            <a:avLst/>
          </a:prstGeom>
          <a:solidFill>
            <a:srgbClr val="D9A441"/>
          </a:solidFill>
          <a:ln/>
        </p:spPr>
      </p:sp>
      <p:pic>
        <p:nvPicPr>
          <p:cNvPr id="8" name="overhead point 2 icon" descr="overhead point 2">    </p:cNvPr>
          <p:cNvPicPr>
            <a:picLocks noChangeAspect="1"/>
          </p:cNvPicPr>
          <p:nvPr/>
        </p:nvPicPr>
        <p:blipFill>
          <a:blip r:embed="rId2"/>
          <a:stretch>
            <a:fillRect/>
          </a:stretch>
        </p:blipFill>
        <p:spPr>
          <a:xfrm>
            <a:off x="11231575" y="2706624"/>
            <a:ext cx="274320" cy="274320"/>
          </a:xfrm>
          <a:prstGeom prst="rect">
            <a:avLst/>
          </a:prstGeom>
        </p:spPr>
      </p:pic>
      <p:sp>
        <p:nvSpPr>
          <p:cNvPr id="9" name="Text 5"/>
          <p:cNvSpPr txBox="1"/>
          <p:nvPr/>
        </p:nvSpPr>
        <p:spPr>
          <a:xfrm>
            <a:off x="6309360" y="2496312"/>
            <a:ext cx="4602175" cy="731520"/>
          </a:xfrm>
          <a:prstGeom prst="rect">
            <a:avLst/>
          </a:prstGeom>
          <a:noFill/>
          <a:ln/>
        </p:spPr>
        <p:txBody>
          <a:bodyPr wrap="square" lIns="0" tIns="0" rIns="0" bIns="0" rtlCol="0" anchor="ctr"/>
          <a:lstStyle/>
          <a:p>
            <a:pPr rtl="1" algn="r" indent="0" marL="0">
              <a:buNone/>
            </a:pPr>
            <a:r>
              <a:rPr lang="ar-SA" altLang="en-US" sz="1500" dirty="0">
                <a:solidFill>
                  <a:srgbClr val="1F2224"/>
                </a:solidFill>
              </a:rPr>
              <a:t>يحدد مجالًا فراغيًا بينه وبين الأرضية.</a:t>
            </a:r>
            <a:endParaRPr lang="ar-SA" sz="1500" dirty="0"/>
          </a:p>
        </p:txBody>
      </p:sp>
      <p:sp>
        <p:nvSpPr>
          <p:cNvPr id="10" name="overhead point 3 circle"/>
          <p:cNvSpPr/>
          <p:nvPr/>
        </p:nvSpPr>
        <p:spPr>
          <a:xfrm>
            <a:off x="11094415" y="3465576"/>
            <a:ext cx="548640" cy="548640"/>
          </a:xfrm>
          <a:prstGeom prst="ellipse">
            <a:avLst/>
          </a:prstGeom>
          <a:solidFill>
            <a:srgbClr val="D9A441"/>
          </a:solidFill>
          <a:ln/>
        </p:spPr>
      </p:sp>
      <p:pic>
        <p:nvPicPr>
          <p:cNvPr id="11" name="overhead point 3 icon" descr="overhead point 3">    </p:cNvPr>
          <p:cNvPicPr>
            <a:picLocks noChangeAspect="1"/>
          </p:cNvPicPr>
          <p:nvPr/>
        </p:nvPicPr>
        <p:blipFill>
          <a:blip r:embed="rId3"/>
          <a:stretch>
            <a:fillRect/>
          </a:stretch>
        </p:blipFill>
        <p:spPr>
          <a:xfrm>
            <a:off x="11231575" y="3602736"/>
            <a:ext cx="274320" cy="274320"/>
          </a:xfrm>
          <a:prstGeom prst="rect">
            <a:avLst/>
          </a:prstGeom>
        </p:spPr>
      </p:pic>
      <p:sp>
        <p:nvSpPr>
          <p:cNvPr id="12" name="Text 7"/>
          <p:cNvSpPr txBox="1"/>
          <p:nvPr/>
        </p:nvSpPr>
        <p:spPr>
          <a:xfrm>
            <a:off x="6309360" y="3392424"/>
            <a:ext cx="4602175" cy="731520"/>
          </a:xfrm>
          <a:prstGeom prst="rect">
            <a:avLst/>
          </a:prstGeom>
          <a:noFill/>
          <a:ln/>
        </p:spPr>
        <p:txBody>
          <a:bodyPr wrap="square" lIns="0" tIns="0" rIns="0" bIns="0" rtlCol="0" anchor="ctr"/>
          <a:lstStyle/>
          <a:p>
            <a:pPr rtl="1" algn="r" indent="0" marL="0">
              <a:buNone/>
            </a:pPr>
            <a:r>
              <a:rPr lang="ar-SA" altLang="en-US" sz="1500" dirty="0">
                <a:solidFill>
                  <a:srgbClr val="1F2224"/>
                </a:solidFill>
              </a:rPr>
              <a:t>حوافه ترسم حدود هذا المجال.</a:t>
            </a:r>
            <a:endParaRPr lang="ar-SA" sz="1500" dirty="0"/>
          </a:p>
        </p:txBody>
      </p:sp>
      <p:sp>
        <p:nvSpPr>
          <p:cNvPr id="13" name="overhead point 4 circle"/>
          <p:cNvSpPr/>
          <p:nvPr/>
        </p:nvSpPr>
        <p:spPr>
          <a:xfrm>
            <a:off x="11094415" y="4361688"/>
            <a:ext cx="548640" cy="548640"/>
          </a:xfrm>
          <a:prstGeom prst="ellipse">
            <a:avLst/>
          </a:prstGeom>
          <a:solidFill>
            <a:srgbClr val="D9A441"/>
          </a:solidFill>
          <a:ln/>
        </p:spPr>
      </p:sp>
      <p:pic>
        <p:nvPicPr>
          <p:cNvPr id="14" name="overhead point 4 icon" descr="overhead point 4">    </p:cNvPr>
          <p:cNvPicPr>
            <a:picLocks noChangeAspect="1"/>
          </p:cNvPicPr>
          <p:nvPr/>
        </p:nvPicPr>
        <p:blipFill>
          <a:blip r:embed="rId4"/>
          <a:stretch>
            <a:fillRect/>
          </a:stretch>
        </p:blipFill>
        <p:spPr>
          <a:xfrm>
            <a:off x="11231575" y="4498848"/>
            <a:ext cx="274320" cy="274320"/>
          </a:xfrm>
          <a:prstGeom prst="rect">
            <a:avLst/>
          </a:prstGeom>
        </p:spPr>
      </p:pic>
      <p:sp>
        <p:nvSpPr>
          <p:cNvPr id="15" name="Text 9"/>
          <p:cNvSpPr txBox="1"/>
          <p:nvPr/>
        </p:nvSpPr>
        <p:spPr>
          <a:xfrm>
            <a:off x="6309360" y="4288536"/>
            <a:ext cx="4602175" cy="731520"/>
          </a:xfrm>
          <a:prstGeom prst="rect">
            <a:avLst/>
          </a:prstGeom>
          <a:noFill/>
          <a:ln/>
        </p:spPr>
        <p:txBody>
          <a:bodyPr wrap="square" lIns="0" tIns="0" rIns="0" bIns="0" rtlCol="0" anchor="ctr"/>
          <a:lstStyle/>
          <a:p>
            <a:pPr rtl="1" algn="r" indent="0" marL="0">
              <a:buNone/>
            </a:pPr>
            <a:r>
              <a:rPr lang="ar-SA" altLang="en-US" sz="1500" dirty="0">
                <a:solidFill>
                  <a:srgbClr val="1F2224"/>
                </a:solidFill>
              </a:rPr>
              <a:t>العناصر الرأسية وحواف السقف والأرضيات المرتفعة والمنخفضة تعزز حدود الحجم.</a:t>
            </a:r>
            <a:endParaRPr lang="ar-SA" sz="1500" dirty="0"/>
          </a:p>
        </p:txBody>
      </p:sp>
      <p:sp>
        <p:nvSpPr>
          <p:cNvPr id="16" name="overhead point 5 circle"/>
          <p:cNvSpPr/>
          <p:nvPr/>
        </p:nvSpPr>
        <p:spPr>
          <a:xfrm>
            <a:off x="11094415" y="5257800"/>
            <a:ext cx="548640" cy="548640"/>
          </a:xfrm>
          <a:prstGeom prst="ellipse">
            <a:avLst/>
          </a:prstGeom>
          <a:solidFill>
            <a:srgbClr val="D9A441"/>
          </a:solidFill>
          <a:ln/>
        </p:spPr>
      </p:sp>
      <p:pic>
        <p:nvPicPr>
          <p:cNvPr id="17" name="overhead point 5 icon" descr="overhead point 5">    </p:cNvPr>
          <p:cNvPicPr>
            <a:picLocks noChangeAspect="1"/>
          </p:cNvPicPr>
          <p:nvPr/>
        </p:nvPicPr>
        <p:blipFill>
          <a:blip r:embed="rId5"/>
          <a:stretch>
            <a:fillRect/>
          </a:stretch>
        </p:blipFill>
        <p:spPr>
          <a:xfrm>
            <a:off x="11231575" y="5394960"/>
            <a:ext cx="274320" cy="274320"/>
          </a:xfrm>
          <a:prstGeom prst="rect">
            <a:avLst/>
          </a:prstGeom>
        </p:spPr>
      </p:pic>
      <p:sp>
        <p:nvSpPr>
          <p:cNvPr id="18" name="Text 11"/>
          <p:cNvSpPr txBox="1"/>
          <p:nvPr/>
        </p:nvSpPr>
        <p:spPr>
          <a:xfrm>
            <a:off x="6309360" y="5184648"/>
            <a:ext cx="4602175" cy="731520"/>
          </a:xfrm>
          <a:prstGeom prst="rect">
            <a:avLst/>
          </a:prstGeom>
          <a:noFill/>
          <a:ln/>
        </p:spPr>
        <p:txBody>
          <a:bodyPr wrap="square" lIns="0" tIns="0" rIns="0" bIns="0" rtlCol="0" anchor="ctr"/>
          <a:lstStyle/>
          <a:p>
            <a:pPr rtl="1" algn="r" indent="0" marL="0">
              <a:buNone/>
            </a:pPr>
            <a:r>
              <a:rPr lang="ar-SA" altLang="en-US" sz="1500" dirty="0">
                <a:solidFill>
                  <a:srgbClr val="1F2224"/>
                </a:solidFill>
              </a:rPr>
              <a:t>سقف المبنى يوفر الحماية ويحدد هيئته العامة، ويعكس المواد والنظام الإنشائي.</a:t>
            </a:r>
            <a:endParaRPr lang="ar-SA" sz="1500" dirty="0"/>
          </a:p>
        </p:txBody>
      </p:sp>
      <p:pic>
        <p:nvPicPr>
          <p:cNvPr id="19" name="photo valencia" descr="valencia">    </p:cNvPr>
          <p:cNvPicPr>
            <a:picLocks noChangeAspect="1"/>
          </p:cNvPicPr>
          <p:nvPr/>
        </p:nvPicPr>
        <p:blipFill>
          <a:blip r:embed="rId6"/>
          <a:stretch>
            <a:fillRect/>
          </a:stretch>
        </p:blipFill>
        <p:spPr>
          <a:xfrm>
            <a:off x="548640" y="1600200"/>
            <a:ext cx="5394960" cy="2514600"/>
          </a:xfrm>
          <a:prstGeom prst="rect">
            <a:avLst/>
          </a:prstGeom>
        </p:spPr>
      </p:pic>
      <p:sp>
        <p:nvSpPr>
          <p:cNvPr id="20" name="Text 12"/>
          <p:cNvSpPr txBox="1"/>
          <p:nvPr/>
        </p:nvSpPr>
        <p:spPr>
          <a:xfrm>
            <a:off x="548640" y="4142232"/>
            <a:ext cx="5394960" cy="256032"/>
          </a:xfrm>
          <a:prstGeom prst="rect">
            <a:avLst/>
          </a:prstGeom>
          <a:noFill/>
          <a:ln/>
        </p:spPr>
        <p:txBody>
          <a:bodyPr wrap="square" lIns="0" tIns="0" rIns="0" bIns="0" rtlCol="0" anchor="t"/>
          <a:lstStyle/>
          <a:p>
            <a:pPr algn="r" indent="0" marL="0">
              <a:buNone/>
            </a:pPr>
            <a:r>
              <a:rPr lang="en-US" sz="1000" i="1" dirty="0">
                <a:solidFill>
                  <a:srgbClr val="5B6770"/>
                </a:solidFill>
              </a:rPr>
              <a:t>Valencia Opera House, Spain</a:t>
            </a:r>
            <a:endParaRPr lang="en-US" sz="1000" dirty="0"/>
          </a:p>
        </p:txBody>
      </p:sp>
      <p:pic>
        <p:nvPicPr>
          <p:cNvPr id="21" name="photo salamanca" descr="salamanca">    </p:cNvPr>
          <p:cNvPicPr>
            <a:picLocks noChangeAspect="1"/>
          </p:cNvPicPr>
          <p:nvPr/>
        </p:nvPicPr>
        <p:blipFill>
          <a:blip r:embed="rId7"/>
          <a:stretch>
            <a:fillRect/>
          </a:stretch>
        </p:blipFill>
        <p:spPr>
          <a:xfrm>
            <a:off x="3337560" y="4526280"/>
            <a:ext cx="2606040" cy="1417320"/>
          </a:xfrm>
          <a:prstGeom prst="rect">
            <a:avLst/>
          </a:prstGeom>
        </p:spPr>
      </p:pic>
      <p:sp>
        <p:nvSpPr>
          <p:cNvPr id="22" name="Text 13"/>
          <p:cNvSpPr txBox="1"/>
          <p:nvPr/>
        </p:nvSpPr>
        <p:spPr>
          <a:xfrm>
            <a:off x="3337560" y="5961888"/>
            <a:ext cx="2606040" cy="256032"/>
          </a:xfrm>
          <a:prstGeom prst="rect">
            <a:avLst/>
          </a:prstGeom>
          <a:noFill/>
          <a:ln/>
        </p:spPr>
        <p:txBody>
          <a:bodyPr wrap="square" lIns="0" tIns="0" rIns="0" bIns="0" rtlCol="0" anchor="t"/>
          <a:lstStyle/>
          <a:p>
            <a:pPr algn="r" indent="0" marL="0">
              <a:buNone/>
            </a:pPr>
            <a:r>
              <a:rPr lang="en-US" sz="1000" i="1" dirty="0">
                <a:solidFill>
                  <a:srgbClr val="5B6770"/>
                </a:solidFill>
              </a:rPr>
              <a:t>Salamanca House, New Zealand</a:t>
            </a:r>
            <a:endParaRPr lang="en-US" sz="1000" dirty="0"/>
          </a:p>
        </p:txBody>
      </p:sp>
      <p:pic>
        <p:nvPicPr>
          <p:cNvPr id="23" name="photo munich" descr="munich">    </p:cNvPr>
          <p:cNvPicPr>
            <a:picLocks noChangeAspect="1"/>
          </p:cNvPicPr>
          <p:nvPr/>
        </p:nvPicPr>
        <p:blipFill>
          <a:blip r:embed="rId8"/>
          <a:stretch>
            <a:fillRect/>
          </a:stretch>
        </p:blipFill>
        <p:spPr>
          <a:xfrm>
            <a:off x="548640" y="4526280"/>
            <a:ext cx="2606040" cy="1417320"/>
          </a:xfrm>
          <a:prstGeom prst="rect">
            <a:avLst/>
          </a:prstGeom>
        </p:spPr>
      </p:pic>
      <p:sp>
        <p:nvSpPr>
          <p:cNvPr id="24" name="Text 14"/>
          <p:cNvSpPr txBox="1"/>
          <p:nvPr/>
        </p:nvSpPr>
        <p:spPr>
          <a:xfrm>
            <a:off x="548640" y="5961888"/>
            <a:ext cx="2606040" cy="256032"/>
          </a:xfrm>
          <a:prstGeom prst="rect">
            <a:avLst/>
          </a:prstGeom>
          <a:noFill/>
          <a:ln/>
        </p:spPr>
        <p:txBody>
          <a:bodyPr wrap="square" lIns="0" tIns="0" rIns="0" bIns="0" rtlCol="0" anchor="t"/>
          <a:lstStyle/>
          <a:p>
            <a:pPr algn="r" indent="0" marL="0">
              <a:buNone/>
            </a:pPr>
            <a:r>
              <a:rPr lang="en-US" sz="1000" i="1" dirty="0">
                <a:solidFill>
                  <a:srgbClr val="5B6770"/>
                </a:solidFill>
              </a:rPr>
              <a:t>Munich Olympic Stadium</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12 — FLOOR + WALL + CEILING</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من العلاقة بين المستويات يتكوّن الفراغ</a:t>
            </a:r>
            <a:endParaRPr lang="ar-SA" sz="3200" dirty="0"/>
          </a:p>
        </p:txBody>
      </p:sp>
      <p:sp>
        <p:nvSpPr>
          <p:cNvPr id="4" name="BASE"/>
          <p:cNvSpPr/>
          <p:nvPr/>
        </p:nvSpPr>
        <p:spPr>
          <a:xfrm>
            <a:off x="9494215" y="1920240"/>
            <a:ext cx="2148840" cy="1463040"/>
          </a:xfrm>
          <a:prstGeom prst="roundRect">
            <a:avLst>
              <a:gd name="adj" fmla="val 6250"/>
            </a:avLst>
          </a:prstGeom>
          <a:solidFill>
            <a:srgbClr val="C2593A"/>
          </a:solidFill>
          <a:ln/>
        </p:spPr>
      </p:sp>
      <p:sp>
        <p:nvSpPr>
          <p:cNvPr id="5" name="Text 3"/>
          <p:cNvSpPr txBox="1"/>
          <p:nvPr/>
        </p:nvSpPr>
        <p:spPr>
          <a:xfrm>
            <a:off x="9494215" y="2240280"/>
            <a:ext cx="2148840" cy="457200"/>
          </a:xfrm>
          <a:prstGeom prst="rect">
            <a:avLst/>
          </a:prstGeom>
          <a:noFill/>
          <a:ln/>
        </p:spPr>
        <p:txBody>
          <a:bodyPr wrap="square" lIns="0" tIns="0" rIns="0" bIns="0" rtlCol="0" anchor="t"/>
          <a:lstStyle/>
          <a:p>
            <a:pPr algn="ctr" indent="0" marL="0">
              <a:buNone/>
            </a:pPr>
            <a:r>
              <a:rPr lang="en-US" sz="2200" b="1" spc="200" kern="0" dirty="0">
                <a:solidFill>
                  <a:srgbClr val="FFFFFF"/>
                </a:solidFill>
              </a:rPr>
              <a:t>BASE</a:t>
            </a:r>
            <a:endParaRPr lang="en-US" sz="2200" dirty="0"/>
          </a:p>
        </p:txBody>
      </p:sp>
      <p:sp>
        <p:nvSpPr>
          <p:cNvPr id="6" name="Text 4"/>
          <p:cNvSpPr txBox="1"/>
          <p:nvPr/>
        </p:nvSpPr>
        <p:spPr>
          <a:xfrm>
            <a:off x="9494215" y="2743200"/>
            <a:ext cx="2148840" cy="411480"/>
          </a:xfrm>
          <a:prstGeom prst="rect">
            <a:avLst/>
          </a:prstGeom>
          <a:noFill/>
          <a:ln/>
        </p:spPr>
        <p:txBody>
          <a:bodyPr wrap="square" lIns="0" tIns="0" rIns="0" bIns="0" rtlCol="0" anchor="t"/>
          <a:lstStyle/>
          <a:p>
            <a:pPr rtl="1" algn="ctr" indent="0" marL="0">
              <a:buNone/>
            </a:pPr>
            <a:r>
              <a:rPr lang="ar-SA" altLang="en-US" sz="1800" dirty="0">
                <a:solidFill>
                  <a:srgbClr val="FFFFFF"/>
                </a:solidFill>
              </a:rPr>
              <a:t>الأرضية</a:t>
            </a:r>
            <a:endParaRPr lang="ar-SA" sz="1800" dirty="0"/>
          </a:p>
        </p:txBody>
      </p:sp>
      <p:sp>
        <p:nvSpPr>
          <p:cNvPr id="7" name="Text 5"/>
          <p:cNvSpPr txBox="1"/>
          <p:nvPr/>
        </p:nvSpPr>
        <p:spPr>
          <a:xfrm>
            <a:off x="8808415" y="2331720"/>
            <a:ext cx="685800" cy="640080"/>
          </a:xfrm>
          <a:prstGeom prst="rect">
            <a:avLst/>
          </a:prstGeom>
          <a:noFill/>
          <a:ln/>
        </p:spPr>
        <p:txBody>
          <a:bodyPr wrap="square" lIns="0" tIns="0" rIns="0" bIns="0" rtlCol="0" anchor="ctr"/>
          <a:lstStyle/>
          <a:p>
            <a:pPr algn="ctr" indent="0" marL="0">
              <a:buNone/>
            </a:pPr>
            <a:r>
              <a:rPr lang="en-US" sz="3400" b="1" dirty="0">
                <a:solidFill>
                  <a:srgbClr val="8A9A9B"/>
                </a:solidFill>
              </a:rPr>
              <a:t>+</a:t>
            </a:r>
            <a:endParaRPr lang="en-US" sz="3400" dirty="0"/>
          </a:p>
        </p:txBody>
      </p:sp>
      <p:sp>
        <p:nvSpPr>
          <p:cNvPr id="8" name="VERTICAL"/>
          <p:cNvSpPr/>
          <p:nvPr/>
        </p:nvSpPr>
        <p:spPr>
          <a:xfrm>
            <a:off x="6659575" y="1920240"/>
            <a:ext cx="2148840" cy="1463040"/>
          </a:xfrm>
          <a:prstGeom prst="roundRect">
            <a:avLst>
              <a:gd name="adj" fmla="val 6250"/>
            </a:avLst>
          </a:prstGeom>
          <a:solidFill>
            <a:srgbClr val="2F6B6A"/>
          </a:solidFill>
          <a:ln/>
        </p:spPr>
      </p:sp>
      <p:sp>
        <p:nvSpPr>
          <p:cNvPr id="9" name="Text 7"/>
          <p:cNvSpPr txBox="1"/>
          <p:nvPr/>
        </p:nvSpPr>
        <p:spPr>
          <a:xfrm>
            <a:off x="6659575" y="2240280"/>
            <a:ext cx="2148840" cy="457200"/>
          </a:xfrm>
          <a:prstGeom prst="rect">
            <a:avLst/>
          </a:prstGeom>
          <a:noFill/>
          <a:ln/>
        </p:spPr>
        <p:txBody>
          <a:bodyPr wrap="square" lIns="0" tIns="0" rIns="0" bIns="0" rtlCol="0" anchor="t"/>
          <a:lstStyle/>
          <a:p>
            <a:pPr algn="ctr" indent="0" marL="0">
              <a:buNone/>
            </a:pPr>
            <a:r>
              <a:rPr lang="en-US" sz="2200" b="1" spc="200" kern="0" dirty="0">
                <a:solidFill>
                  <a:srgbClr val="FFFFFF"/>
                </a:solidFill>
              </a:rPr>
              <a:t>VERTICAL</a:t>
            </a:r>
            <a:endParaRPr lang="en-US" sz="2200" dirty="0"/>
          </a:p>
        </p:txBody>
      </p:sp>
      <p:sp>
        <p:nvSpPr>
          <p:cNvPr id="10" name="Text 8"/>
          <p:cNvSpPr txBox="1"/>
          <p:nvPr/>
        </p:nvSpPr>
        <p:spPr>
          <a:xfrm>
            <a:off x="6659575" y="2743200"/>
            <a:ext cx="2148840" cy="411480"/>
          </a:xfrm>
          <a:prstGeom prst="rect">
            <a:avLst/>
          </a:prstGeom>
          <a:noFill/>
          <a:ln/>
        </p:spPr>
        <p:txBody>
          <a:bodyPr wrap="square" lIns="0" tIns="0" rIns="0" bIns="0" rtlCol="0" anchor="t"/>
          <a:lstStyle/>
          <a:p>
            <a:pPr rtl="1" algn="ctr" indent="0" marL="0">
              <a:buNone/>
            </a:pPr>
            <a:r>
              <a:rPr lang="ar-SA" altLang="en-US" sz="1800" dirty="0">
                <a:solidFill>
                  <a:srgbClr val="FFFFFF"/>
                </a:solidFill>
              </a:rPr>
              <a:t>الجدران</a:t>
            </a:r>
            <a:endParaRPr lang="ar-SA" sz="1800" dirty="0"/>
          </a:p>
        </p:txBody>
      </p:sp>
      <p:sp>
        <p:nvSpPr>
          <p:cNvPr id="11" name="Text 9"/>
          <p:cNvSpPr txBox="1"/>
          <p:nvPr/>
        </p:nvSpPr>
        <p:spPr>
          <a:xfrm>
            <a:off x="5973775" y="2331720"/>
            <a:ext cx="685800" cy="640080"/>
          </a:xfrm>
          <a:prstGeom prst="rect">
            <a:avLst/>
          </a:prstGeom>
          <a:noFill/>
          <a:ln/>
        </p:spPr>
        <p:txBody>
          <a:bodyPr wrap="square" lIns="0" tIns="0" rIns="0" bIns="0" rtlCol="0" anchor="ctr"/>
          <a:lstStyle/>
          <a:p>
            <a:pPr algn="ctr" indent="0" marL="0">
              <a:buNone/>
            </a:pPr>
            <a:r>
              <a:rPr lang="en-US" sz="3400" b="1" dirty="0">
                <a:solidFill>
                  <a:srgbClr val="8A9A9B"/>
                </a:solidFill>
              </a:rPr>
              <a:t>+</a:t>
            </a:r>
            <a:endParaRPr lang="en-US" sz="3400" dirty="0"/>
          </a:p>
        </p:txBody>
      </p:sp>
      <p:sp>
        <p:nvSpPr>
          <p:cNvPr id="12" name="OVERHEAD"/>
          <p:cNvSpPr/>
          <p:nvPr/>
        </p:nvSpPr>
        <p:spPr>
          <a:xfrm>
            <a:off x="3824935" y="1920240"/>
            <a:ext cx="2148840" cy="1463040"/>
          </a:xfrm>
          <a:prstGeom prst="roundRect">
            <a:avLst>
              <a:gd name="adj" fmla="val 6250"/>
            </a:avLst>
          </a:prstGeom>
          <a:solidFill>
            <a:srgbClr val="D9A441"/>
          </a:solidFill>
          <a:ln/>
        </p:spPr>
      </p:sp>
      <p:sp>
        <p:nvSpPr>
          <p:cNvPr id="13" name="Text 11"/>
          <p:cNvSpPr txBox="1"/>
          <p:nvPr/>
        </p:nvSpPr>
        <p:spPr>
          <a:xfrm>
            <a:off x="3824935" y="2240280"/>
            <a:ext cx="2148840" cy="457200"/>
          </a:xfrm>
          <a:prstGeom prst="rect">
            <a:avLst/>
          </a:prstGeom>
          <a:noFill/>
          <a:ln/>
        </p:spPr>
        <p:txBody>
          <a:bodyPr wrap="square" lIns="0" tIns="0" rIns="0" bIns="0" rtlCol="0" anchor="t"/>
          <a:lstStyle/>
          <a:p>
            <a:pPr algn="ctr" indent="0" marL="0">
              <a:buNone/>
            </a:pPr>
            <a:r>
              <a:rPr lang="en-US" sz="2200" b="1" spc="200" kern="0" dirty="0">
                <a:solidFill>
                  <a:srgbClr val="FFFFFF"/>
                </a:solidFill>
              </a:rPr>
              <a:t>OVERHEAD</a:t>
            </a:r>
            <a:endParaRPr lang="en-US" sz="2200" dirty="0"/>
          </a:p>
        </p:txBody>
      </p:sp>
      <p:sp>
        <p:nvSpPr>
          <p:cNvPr id="14" name="Text 12"/>
          <p:cNvSpPr txBox="1"/>
          <p:nvPr/>
        </p:nvSpPr>
        <p:spPr>
          <a:xfrm>
            <a:off x="3824935" y="2743200"/>
            <a:ext cx="2148840" cy="411480"/>
          </a:xfrm>
          <a:prstGeom prst="rect">
            <a:avLst/>
          </a:prstGeom>
          <a:noFill/>
          <a:ln/>
        </p:spPr>
        <p:txBody>
          <a:bodyPr wrap="square" lIns="0" tIns="0" rIns="0" bIns="0" rtlCol="0" anchor="t"/>
          <a:lstStyle/>
          <a:p>
            <a:pPr rtl="1" algn="ctr" indent="0" marL="0">
              <a:buNone/>
            </a:pPr>
            <a:r>
              <a:rPr lang="ar-SA" altLang="en-US" sz="1800" dirty="0">
                <a:solidFill>
                  <a:srgbClr val="FFFFFF"/>
                </a:solidFill>
              </a:rPr>
              <a:t>السقف</a:t>
            </a:r>
            <a:endParaRPr lang="ar-SA" sz="1800" dirty="0"/>
          </a:p>
        </p:txBody>
      </p:sp>
      <p:sp>
        <p:nvSpPr>
          <p:cNvPr id="15" name="Text 13"/>
          <p:cNvSpPr txBox="1"/>
          <p:nvPr/>
        </p:nvSpPr>
        <p:spPr>
          <a:xfrm>
            <a:off x="3139135" y="2331720"/>
            <a:ext cx="685800" cy="640080"/>
          </a:xfrm>
          <a:prstGeom prst="rect">
            <a:avLst/>
          </a:prstGeom>
          <a:noFill/>
          <a:ln/>
        </p:spPr>
        <p:txBody>
          <a:bodyPr wrap="square" lIns="0" tIns="0" rIns="0" bIns="0" rtlCol="0" anchor="ctr"/>
          <a:lstStyle/>
          <a:p>
            <a:pPr algn="ctr" indent="0" marL="0">
              <a:buNone/>
            </a:pPr>
            <a:r>
              <a:rPr lang="en-US" sz="3400" b="1" dirty="0">
                <a:solidFill>
                  <a:srgbClr val="8A9A9B"/>
                </a:solidFill>
              </a:rPr>
              <a:t>=</a:t>
            </a:r>
            <a:endParaRPr lang="en-US" sz="3400" dirty="0"/>
          </a:p>
        </p:txBody>
      </p:sp>
      <p:sp>
        <p:nvSpPr>
          <p:cNvPr id="16" name="SPACE"/>
          <p:cNvSpPr/>
          <p:nvPr/>
        </p:nvSpPr>
        <p:spPr>
          <a:xfrm>
            <a:off x="548640" y="1920240"/>
            <a:ext cx="2590495" cy="1463040"/>
          </a:xfrm>
          <a:prstGeom prst="roundRect">
            <a:avLst>
              <a:gd name="adj" fmla="val 6250"/>
            </a:avLst>
          </a:prstGeom>
          <a:solidFill>
            <a:schemeClr val="tx1"/>
          </a:solidFill>
          <a:ln/>
        </p:spPr>
      </p:sp>
      <p:sp>
        <p:nvSpPr>
          <p:cNvPr id="17" name="Text 15"/>
          <p:cNvSpPr txBox="1"/>
          <p:nvPr/>
        </p:nvSpPr>
        <p:spPr>
          <a:xfrm>
            <a:off x="548640" y="2194560"/>
            <a:ext cx="2590495" cy="548640"/>
          </a:xfrm>
          <a:prstGeom prst="rect">
            <a:avLst/>
          </a:prstGeom>
          <a:noFill/>
          <a:ln/>
        </p:spPr>
        <p:txBody>
          <a:bodyPr wrap="square" lIns="0" tIns="0" rIns="0" bIns="0" rtlCol="0" anchor="t"/>
          <a:lstStyle/>
          <a:p>
            <a:pPr algn="ctr" indent="0" marL="0">
              <a:buNone/>
            </a:pPr>
            <a:r>
              <a:rPr lang="en-US" sz="3000" b="1" spc="400" kern="0" dirty="0">
                <a:solidFill>
                  <a:srgbClr val="FFFFFF"/>
                </a:solidFill>
              </a:rPr>
              <a:t>SPACE</a:t>
            </a:r>
            <a:endParaRPr lang="en-US" sz="3000" dirty="0"/>
          </a:p>
        </p:txBody>
      </p:sp>
      <p:sp>
        <p:nvSpPr>
          <p:cNvPr id="18" name="Text 16"/>
          <p:cNvSpPr txBox="1"/>
          <p:nvPr/>
        </p:nvSpPr>
        <p:spPr>
          <a:xfrm>
            <a:off x="548640" y="2743200"/>
            <a:ext cx="2590495" cy="411480"/>
          </a:xfrm>
          <a:prstGeom prst="rect">
            <a:avLst/>
          </a:prstGeom>
          <a:noFill/>
          <a:ln/>
        </p:spPr>
        <p:txBody>
          <a:bodyPr wrap="square" lIns="0" tIns="0" rIns="0" bIns="0" rtlCol="0" anchor="t"/>
          <a:lstStyle/>
          <a:p>
            <a:pPr rtl="1" algn="ctr" indent="0" marL="0">
              <a:buNone/>
            </a:pPr>
            <a:r>
              <a:rPr lang="ar-SA" altLang="en-US" sz="1800" dirty="0">
                <a:solidFill>
                  <a:srgbClr val="D9A441"/>
                </a:solidFill>
              </a:rPr>
              <a:t>الفراغ</a:t>
            </a:r>
            <a:endParaRPr lang="ar-SA" sz="1800" dirty="0"/>
          </a:p>
        </p:txBody>
      </p:sp>
      <p:sp>
        <p:nvSpPr>
          <p:cNvPr id="19" name="base side A"/>
          <p:cNvSpPr/>
          <p:nvPr/>
        </p:nvSpPr>
        <p:spPr>
          <a:xfrm>
            <a:off x="1725989" y="5140757"/>
            <a:ext cx="1108651" cy="665683"/>
          </a:xfrm>
          <a:custGeom>
            <a:avLst/>
            <a:gdLst/>
            <a:ahLst/>
            <a:cxnLst/>
            <a:rect l="l" t="t" r="r" b="b"/>
            <a:pathLst>
              <a:path w="1108651" h="665683">
                <a:moveTo>
                  <a:pt x="0" y="25603"/>
                </a:moveTo>
                <a:lnTo>
                  <a:pt x="1108651" y="665683"/>
                </a:lnTo>
                <a:lnTo>
                  <a:pt x="1108651" y="640080"/>
                </a:lnTo>
                <a:lnTo>
                  <a:pt x="0" y="0"/>
                </a:lnTo>
                <a:close/>
              </a:path>
            </a:pathLst>
          </a:custGeom>
          <a:solidFill>
            <a:srgbClr val="9E4429"/>
          </a:solidFill>
          <a:ln w="6350">
            <a:solidFill>
              <a:srgbClr val="1F2224"/>
            </a:solidFill>
            <a:prstDash val="solid"/>
          </a:ln>
        </p:spPr>
      </p:sp>
      <p:sp>
        <p:nvSpPr>
          <p:cNvPr id="20" name="base side B"/>
          <p:cNvSpPr/>
          <p:nvPr/>
        </p:nvSpPr>
        <p:spPr>
          <a:xfrm>
            <a:off x="2834640" y="5140757"/>
            <a:ext cx="1108651" cy="665683"/>
          </a:xfrm>
          <a:custGeom>
            <a:avLst/>
            <a:gdLst/>
            <a:ahLst/>
            <a:cxnLst/>
            <a:rect l="l" t="t" r="r" b="b"/>
            <a:pathLst>
              <a:path w="1108651" h="665683">
                <a:moveTo>
                  <a:pt x="1108651" y="25603"/>
                </a:moveTo>
                <a:lnTo>
                  <a:pt x="0" y="665683"/>
                </a:lnTo>
                <a:lnTo>
                  <a:pt x="0" y="640080"/>
                </a:lnTo>
                <a:lnTo>
                  <a:pt x="1108651" y="0"/>
                </a:lnTo>
                <a:close/>
              </a:path>
            </a:pathLst>
          </a:custGeom>
          <a:solidFill>
            <a:srgbClr val="B04F33"/>
          </a:solidFill>
          <a:ln w="6350">
            <a:solidFill>
              <a:srgbClr val="1F2224"/>
            </a:solidFill>
            <a:prstDash val="solid"/>
          </a:ln>
        </p:spPr>
      </p:sp>
      <p:sp>
        <p:nvSpPr>
          <p:cNvPr id="21" name="base top"/>
          <p:cNvSpPr/>
          <p:nvPr/>
        </p:nvSpPr>
        <p:spPr>
          <a:xfrm>
            <a:off x="1725989" y="4500677"/>
            <a:ext cx="2217302" cy="1280160"/>
          </a:xfrm>
          <a:custGeom>
            <a:avLst/>
            <a:gdLst/>
            <a:ahLst/>
            <a:cxnLst/>
            <a:rect l="l" t="t" r="r" b="b"/>
            <a:pathLst>
              <a:path w="2217302" h="1280160">
                <a:moveTo>
                  <a:pt x="1108651" y="0"/>
                </a:moveTo>
                <a:lnTo>
                  <a:pt x="2217302" y="640080"/>
                </a:lnTo>
                <a:lnTo>
                  <a:pt x="1108651" y="1280160"/>
                </a:lnTo>
                <a:lnTo>
                  <a:pt x="0" y="640080"/>
                </a:lnTo>
                <a:close/>
              </a:path>
            </a:pathLst>
          </a:custGeom>
          <a:solidFill>
            <a:srgbClr val="C2593A"/>
          </a:solidFill>
          <a:ln w="6350">
            <a:solidFill>
              <a:srgbClr val="1F2224"/>
            </a:solidFill>
            <a:prstDash val="solid"/>
          </a:ln>
        </p:spPr>
      </p:sp>
      <p:sp>
        <p:nvSpPr>
          <p:cNvPr id="22" name="wall a"/>
          <p:cNvSpPr/>
          <p:nvPr/>
        </p:nvSpPr>
        <p:spPr>
          <a:xfrm>
            <a:off x="2834640" y="3758184"/>
            <a:ext cx="1108651" cy="1382573"/>
          </a:xfrm>
          <a:custGeom>
            <a:avLst/>
            <a:gdLst/>
            <a:ahLst/>
            <a:cxnLst/>
            <a:rect l="l" t="t" r="r" b="b"/>
            <a:pathLst>
              <a:path w="1108651" h="1382573">
                <a:moveTo>
                  <a:pt x="0" y="742493"/>
                </a:moveTo>
                <a:lnTo>
                  <a:pt x="1108651" y="1382573"/>
                </a:lnTo>
                <a:lnTo>
                  <a:pt x="1108651" y="640080"/>
                </a:lnTo>
                <a:lnTo>
                  <a:pt x="0" y="0"/>
                </a:lnTo>
                <a:close/>
              </a:path>
            </a:pathLst>
          </a:custGeom>
          <a:solidFill>
            <a:srgbClr val="2F6B6A"/>
          </a:solidFill>
          <a:ln w="6350">
            <a:solidFill>
              <a:srgbClr val="1F2224"/>
            </a:solidFill>
            <a:prstDash val="solid"/>
          </a:ln>
        </p:spPr>
      </p:sp>
      <p:sp>
        <p:nvSpPr>
          <p:cNvPr id="23" name="wall b"/>
          <p:cNvSpPr/>
          <p:nvPr/>
        </p:nvSpPr>
        <p:spPr>
          <a:xfrm>
            <a:off x="1725989" y="3758184"/>
            <a:ext cx="1108651" cy="1382573"/>
          </a:xfrm>
          <a:custGeom>
            <a:avLst/>
            <a:gdLst/>
            <a:ahLst/>
            <a:cxnLst/>
            <a:rect l="l" t="t" r="r" b="b"/>
            <a:pathLst>
              <a:path w="1108651" h="1382573">
                <a:moveTo>
                  <a:pt x="1108651" y="742493"/>
                </a:moveTo>
                <a:lnTo>
                  <a:pt x="0" y="1382573"/>
                </a:lnTo>
                <a:lnTo>
                  <a:pt x="0" y="640080"/>
                </a:lnTo>
                <a:lnTo>
                  <a:pt x="1108651" y="0"/>
                </a:lnTo>
                <a:close/>
              </a:path>
            </a:pathLst>
          </a:custGeom>
          <a:solidFill>
            <a:srgbClr val="4D8786"/>
          </a:solidFill>
          <a:ln w="6350">
            <a:solidFill>
              <a:srgbClr val="1F2224"/>
            </a:solidFill>
            <a:prstDash val="solid"/>
          </a:ln>
        </p:spPr>
      </p:sp>
      <p:sp>
        <p:nvSpPr>
          <p:cNvPr id="24" name="ceiling"/>
          <p:cNvSpPr/>
          <p:nvPr/>
        </p:nvSpPr>
        <p:spPr>
          <a:xfrm>
            <a:off x="2479872" y="3758184"/>
            <a:ext cx="1463419" cy="844906"/>
          </a:xfrm>
          <a:custGeom>
            <a:avLst/>
            <a:gdLst/>
            <a:ahLst/>
            <a:cxnLst/>
            <a:rect l="l" t="t" r="r" b="b"/>
            <a:pathLst>
              <a:path w="1463419" h="844906">
                <a:moveTo>
                  <a:pt x="354768" y="0"/>
                </a:moveTo>
                <a:lnTo>
                  <a:pt x="1463419" y="640080"/>
                </a:lnTo>
                <a:lnTo>
                  <a:pt x="1108651" y="844906"/>
                </a:lnTo>
                <a:lnTo>
                  <a:pt x="0" y="204826"/>
                </a:lnTo>
                <a:close/>
              </a:path>
            </a:pathLst>
          </a:custGeom>
          <a:solidFill>
            <a:srgbClr val="D9A441"/>
          </a:solidFill>
          <a:ln w="6350">
            <a:solidFill>
              <a:srgbClr val="1F2224"/>
            </a:solidFill>
            <a:prstDash val="solid"/>
          </a:ln>
        </p:spPr>
      </p:sp>
      <p:sp>
        <p:nvSpPr>
          <p:cNvPr id="25" name="designer note"/>
          <p:cNvSpPr/>
          <p:nvPr/>
        </p:nvSpPr>
        <p:spPr>
          <a:xfrm>
            <a:off x="5669280" y="3794760"/>
            <a:ext cx="5973775" cy="2331720"/>
          </a:xfrm>
          <a:prstGeom prst="roundRect">
            <a:avLst>
              <a:gd name="adj" fmla="val 3137"/>
            </a:avLst>
          </a:prstGeom>
          <a:solidFill>
            <a:schemeClr val="bg2"/>
          </a:solidFill>
          <a:ln/>
          <a:effectLst>
            <a:outerShdw sx="100000" sy="100000" kx="0" ky="0" algn="bl" rotWithShape="0" blurRad="101600" dist="25400" dir="5400000">
              <a:srgbClr val="000000">
                <a:alpha val="12000"/>
              </a:srgbClr>
            </a:outerShdw>
          </a:effectLst>
        </p:spPr>
      </p:sp>
      <p:sp>
        <p:nvSpPr>
          <p:cNvPr id="26" name="relationship circle"/>
          <p:cNvSpPr/>
          <p:nvPr/>
        </p:nvSpPr>
        <p:spPr>
          <a:xfrm>
            <a:off x="10774375" y="4023360"/>
            <a:ext cx="594360" cy="594360"/>
          </a:xfrm>
          <a:prstGeom prst="ellipse">
            <a:avLst/>
          </a:prstGeom>
          <a:solidFill>
            <a:srgbClr val="C2593A"/>
          </a:solidFill>
          <a:ln/>
        </p:spPr>
      </p:sp>
      <p:pic>
        <p:nvPicPr>
          <p:cNvPr id="27" name="relationship icon" descr="relationship">    </p:cNvPr>
          <p:cNvPicPr>
            <a:picLocks noChangeAspect="1"/>
          </p:cNvPicPr>
          <p:nvPr/>
        </p:nvPicPr>
        <p:blipFill>
          <a:blip r:embed="rId1"/>
          <a:stretch>
            <a:fillRect/>
          </a:stretch>
        </p:blipFill>
        <p:spPr>
          <a:xfrm>
            <a:off x="10922965" y="4171950"/>
            <a:ext cx="297180" cy="297180"/>
          </a:xfrm>
          <a:prstGeom prst="rect">
            <a:avLst/>
          </a:prstGeom>
        </p:spPr>
      </p:pic>
      <p:sp>
        <p:nvSpPr>
          <p:cNvPr id="28" name="Text 25"/>
          <p:cNvSpPr txBox="1"/>
          <p:nvPr/>
        </p:nvSpPr>
        <p:spPr>
          <a:xfrm>
            <a:off x="5943600" y="4069080"/>
            <a:ext cx="4693615" cy="548640"/>
          </a:xfrm>
          <a:prstGeom prst="rect">
            <a:avLst/>
          </a:prstGeom>
          <a:noFill/>
          <a:ln/>
        </p:spPr>
        <p:txBody>
          <a:bodyPr wrap="square" lIns="0" tIns="0" rIns="0" bIns="0" rtlCol="0" anchor="t"/>
          <a:lstStyle/>
          <a:p>
            <a:pPr rtl="1" algn="r" indent="0" marL="0">
              <a:buNone/>
            </a:pPr>
            <a:r>
              <a:rPr lang="ar-SA" altLang="en-US" sz="1600" dirty="0">
                <a:solidFill>
                  <a:srgbClr val="3A4146"/>
                </a:solidFill>
              </a:rPr>
              <a:t>المصمم الداخلي لا يتعامل مع هذه العناصر كأشياء منفصلة؛</a:t>
            </a:r>
            <a:endParaRPr lang="ar-SA" sz="1600" dirty="0"/>
          </a:p>
        </p:txBody>
      </p:sp>
      <p:sp>
        <p:nvSpPr>
          <p:cNvPr id="29" name="Text 26"/>
          <p:cNvSpPr txBox="1"/>
          <p:nvPr/>
        </p:nvSpPr>
        <p:spPr>
          <a:xfrm>
            <a:off x="5943600" y="4663440"/>
            <a:ext cx="5425135" cy="1097280"/>
          </a:xfrm>
          <a:prstGeom prst="rect">
            <a:avLst/>
          </a:prstGeom>
          <a:noFill/>
          <a:ln/>
        </p:spPr>
        <p:txBody>
          <a:bodyPr wrap="square" lIns="0" tIns="0" rIns="0" bIns="0" rtlCol="0" anchor="t"/>
          <a:lstStyle/>
          <a:p>
            <a:pPr rtl="1" algn="r" indent="0" marL="0">
              <a:buNone/>
            </a:pPr>
            <a:r>
              <a:rPr lang="ar-SA" altLang="en-US" sz="2100" b="1" dirty="0">
                <a:solidFill>
                  <a:srgbClr val="1F2224"/>
                </a:solidFill>
              </a:rPr>
              <a:t>بل يتعامل مع العلاقة بينها لصناعة تجربة فراغية متكاملة.</a:t>
            </a:r>
            <a:endParaRPr lang="ar-SA" sz="2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13 — OPENINGS</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الفتحات</a:t>
            </a:r>
            <a:endParaRPr lang="ar-SA" sz="3200" dirty="0"/>
          </a:p>
        </p:txBody>
      </p:sp>
      <p:sp>
        <p:nvSpPr>
          <p:cNvPr id="4" name="Text 2"/>
          <p:cNvSpPr txBox="1"/>
          <p:nvPr/>
        </p:nvSpPr>
        <p:spPr>
          <a:xfrm>
            <a:off x="548640" y="1463040"/>
            <a:ext cx="11094415" cy="640080"/>
          </a:xfrm>
          <a:prstGeom prst="rect">
            <a:avLst/>
          </a:prstGeom>
          <a:noFill/>
          <a:ln/>
        </p:spPr>
        <p:txBody>
          <a:bodyPr wrap="square" lIns="0" tIns="0" rIns="0" bIns="0" rtlCol="0" anchor="t"/>
          <a:lstStyle/>
          <a:p>
            <a:pPr rtl="1" algn="r" indent="0" marL="0">
              <a:buNone/>
            </a:pPr>
            <a:r>
              <a:rPr lang="ar-SA" altLang="en-US" sz="1500" dirty="0">
                <a:solidFill>
                  <a:srgbClr val="3A4146"/>
                </a:solidFill>
              </a:rPr>
              <a:t>بعد أن حددنا الفراغ بالجدران نحتاج إلى فتحات: الأبواب · النوافذ · الفتحات. وموقع الفتحة في المستوى يغيّر طبيعة الفراغ:</a:t>
            </a:r>
            <a:endParaRPr lang="ar-SA" sz="1500" dirty="0"/>
          </a:p>
        </p:txBody>
      </p:sp>
      <p:sp>
        <p:nvSpPr>
          <p:cNvPr id="5" name="opening Within Plane"/>
          <p:cNvSpPr/>
          <p:nvPr/>
        </p:nvSpPr>
        <p:spPr>
          <a:xfrm>
            <a:off x="9311335" y="2240280"/>
            <a:ext cx="2331720" cy="2514600"/>
          </a:xfrm>
          <a:prstGeom prst="roundRect">
            <a:avLst>
              <a:gd name="adj" fmla="val 3137"/>
            </a:avLst>
          </a:prstGeom>
          <a:solidFill>
            <a:schemeClr val="bg2"/>
          </a:solidFill>
          <a:ln/>
          <a:effectLst>
            <a:outerShdw sx="100000" sy="100000" kx="0" ky="0" algn="bl" rotWithShape="0" blurRad="101600" dist="25400" dir="5400000">
              <a:srgbClr val="000000">
                <a:alpha val="12000"/>
              </a:srgbClr>
            </a:outerShdw>
          </a:effectLst>
        </p:spPr>
      </p:sp>
      <p:sp>
        <p:nvSpPr>
          <p:cNvPr id="6" name="wall elevation"/>
          <p:cNvSpPr/>
          <p:nvPr/>
        </p:nvSpPr>
        <p:spPr>
          <a:xfrm>
            <a:off x="9631375" y="2514600"/>
            <a:ext cx="1691640" cy="1005840"/>
          </a:xfrm>
          <a:prstGeom prst="rect">
            <a:avLst/>
          </a:prstGeom>
          <a:solidFill>
            <a:srgbClr val="B9C4C4"/>
          </a:solidFill>
          <a:ln w="9525">
            <a:solidFill>
              <a:srgbClr val="1F2224"/>
            </a:solidFill>
            <a:prstDash val="solid"/>
          </a:ln>
        </p:spPr>
      </p:sp>
      <p:sp>
        <p:nvSpPr>
          <p:cNvPr id="7" name="opening"/>
          <p:cNvSpPr/>
          <p:nvPr/>
        </p:nvSpPr>
        <p:spPr>
          <a:xfrm>
            <a:off x="10138867" y="2766060"/>
            <a:ext cx="676656" cy="502920"/>
          </a:xfrm>
          <a:prstGeom prst="rect">
            <a:avLst/>
          </a:prstGeom>
          <a:solidFill>
            <a:srgbClr val="D9A441"/>
          </a:solidFill>
          <a:ln w="9525">
            <a:solidFill>
              <a:srgbClr val="1F2224"/>
            </a:solidFill>
            <a:prstDash val="solid"/>
          </a:ln>
        </p:spPr>
      </p:sp>
      <p:sp>
        <p:nvSpPr>
          <p:cNvPr id="8" name="Text 6"/>
          <p:cNvSpPr txBox="1"/>
          <p:nvPr/>
        </p:nvSpPr>
        <p:spPr>
          <a:xfrm>
            <a:off x="9311335" y="3611880"/>
            <a:ext cx="2331720" cy="320040"/>
          </a:xfrm>
          <a:prstGeom prst="rect">
            <a:avLst/>
          </a:prstGeom>
          <a:noFill/>
          <a:ln/>
        </p:spPr>
        <p:txBody>
          <a:bodyPr wrap="square" lIns="0" tIns="0" rIns="0" bIns="0" rtlCol="0" anchor="t"/>
          <a:lstStyle/>
          <a:p>
            <a:pPr algn="ctr" indent="0" marL="0">
              <a:buNone/>
            </a:pPr>
            <a:r>
              <a:rPr lang="en-US" sz="1300" b="1" dirty="0">
                <a:solidFill>
                  <a:srgbClr val="5B6770"/>
                </a:solidFill>
              </a:rPr>
              <a:t>Within Plane</a:t>
            </a:r>
            <a:endParaRPr lang="en-US" sz="1300" dirty="0"/>
          </a:p>
        </p:txBody>
      </p:sp>
      <p:sp>
        <p:nvSpPr>
          <p:cNvPr id="9" name="Text 7"/>
          <p:cNvSpPr txBox="1"/>
          <p:nvPr/>
        </p:nvSpPr>
        <p:spPr>
          <a:xfrm>
            <a:off x="9311335" y="3904488"/>
            <a:ext cx="2331720" cy="320040"/>
          </a:xfrm>
          <a:prstGeom prst="rect">
            <a:avLst/>
          </a:prstGeom>
          <a:noFill/>
          <a:ln/>
        </p:spPr>
        <p:txBody>
          <a:bodyPr wrap="square" lIns="0" tIns="0" rIns="0" bIns="0" rtlCol="0" anchor="t"/>
          <a:lstStyle/>
          <a:p>
            <a:pPr rtl="1" algn="ctr" indent="0" marL="0">
              <a:buNone/>
            </a:pPr>
            <a:r>
              <a:rPr lang="ar-SA" altLang="en-US" sz="1500" b="1" dirty="0">
                <a:solidFill>
                  <a:srgbClr val="1F2224"/>
                </a:solidFill>
              </a:rPr>
              <a:t>داخل المستوى</a:t>
            </a:r>
            <a:endParaRPr lang="ar-SA" sz="1500" dirty="0"/>
          </a:p>
        </p:txBody>
      </p:sp>
      <p:sp>
        <p:nvSpPr>
          <p:cNvPr id="10" name="Text 8"/>
          <p:cNvSpPr txBox="1"/>
          <p:nvPr/>
        </p:nvSpPr>
        <p:spPr>
          <a:xfrm>
            <a:off x="9448495" y="4224528"/>
            <a:ext cx="2057400" cy="502920"/>
          </a:xfrm>
          <a:prstGeom prst="rect">
            <a:avLst/>
          </a:prstGeom>
          <a:noFill/>
          <a:ln/>
        </p:spPr>
        <p:txBody>
          <a:bodyPr wrap="square" lIns="0" tIns="0" rIns="0" bIns="0" rtlCol="0" anchor="t"/>
          <a:lstStyle/>
          <a:p>
            <a:pPr rtl="1" algn="ctr" indent="0" marL="0">
              <a:buNone/>
            </a:pPr>
            <a:r>
              <a:rPr lang="ar-SA" altLang="en-US" sz="1200" dirty="0">
                <a:solidFill>
                  <a:srgbClr val="3A4146"/>
                </a:solidFill>
              </a:rPr>
              <a:t>تبدو الفتحة محاطة بالجدار وتحافظ على وضوحه.</a:t>
            </a:r>
            <a:endParaRPr lang="ar-SA" sz="1200" dirty="0"/>
          </a:p>
        </p:txBody>
      </p:sp>
      <p:sp>
        <p:nvSpPr>
          <p:cNvPr id="11" name="opening At Corner"/>
          <p:cNvSpPr/>
          <p:nvPr/>
        </p:nvSpPr>
        <p:spPr>
          <a:xfrm>
            <a:off x="6705295" y="2240280"/>
            <a:ext cx="2331720" cy="2514600"/>
          </a:xfrm>
          <a:prstGeom prst="roundRect">
            <a:avLst>
              <a:gd name="adj" fmla="val 3137"/>
            </a:avLst>
          </a:prstGeom>
          <a:solidFill>
            <a:schemeClr val="bg2"/>
          </a:solidFill>
          <a:ln/>
          <a:effectLst>
            <a:outerShdw sx="100000" sy="100000" kx="0" ky="0" algn="bl" rotWithShape="0" blurRad="101600" dist="25400" dir="5400000">
              <a:srgbClr val="000000">
                <a:alpha val="12000"/>
              </a:srgbClr>
            </a:outerShdw>
          </a:effectLst>
        </p:spPr>
      </p:sp>
      <p:sp>
        <p:nvSpPr>
          <p:cNvPr id="12" name="wall elevation"/>
          <p:cNvSpPr/>
          <p:nvPr/>
        </p:nvSpPr>
        <p:spPr>
          <a:xfrm>
            <a:off x="7025335" y="2514600"/>
            <a:ext cx="1691640" cy="1005840"/>
          </a:xfrm>
          <a:prstGeom prst="rect">
            <a:avLst/>
          </a:prstGeom>
          <a:solidFill>
            <a:srgbClr val="B9C4C4"/>
          </a:solidFill>
          <a:ln w="9525">
            <a:solidFill>
              <a:srgbClr val="1F2224"/>
            </a:solidFill>
            <a:prstDash val="solid"/>
          </a:ln>
        </p:spPr>
      </p:sp>
      <p:sp>
        <p:nvSpPr>
          <p:cNvPr id="13" name="opening"/>
          <p:cNvSpPr/>
          <p:nvPr/>
        </p:nvSpPr>
        <p:spPr>
          <a:xfrm>
            <a:off x="8243316" y="2715768"/>
            <a:ext cx="473659" cy="603504"/>
          </a:xfrm>
          <a:prstGeom prst="rect">
            <a:avLst/>
          </a:prstGeom>
          <a:solidFill>
            <a:srgbClr val="D9A441"/>
          </a:solidFill>
          <a:ln w="9525">
            <a:solidFill>
              <a:srgbClr val="1F2224"/>
            </a:solidFill>
            <a:prstDash val="solid"/>
          </a:ln>
        </p:spPr>
      </p:sp>
      <p:sp>
        <p:nvSpPr>
          <p:cNvPr id="14" name="Text 12"/>
          <p:cNvSpPr txBox="1"/>
          <p:nvPr/>
        </p:nvSpPr>
        <p:spPr>
          <a:xfrm>
            <a:off x="6705295" y="3611880"/>
            <a:ext cx="2331720" cy="320040"/>
          </a:xfrm>
          <a:prstGeom prst="rect">
            <a:avLst/>
          </a:prstGeom>
          <a:noFill/>
          <a:ln/>
        </p:spPr>
        <p:txBody>
          <a:bodyPr wrap="square" lIns="0" tIns="0" rIns="0" bIns="0" rtlCol="0" anchor="t"/>
          <a:lstStyle/>
          <a:p>
            <a:pPr algn="ctr" indent="0" marL="0">
              <a:buNone/>
            </a:pPr>
            <a:r>
              <a:rPr lang="en-US" sz="1300" b="1" dirty="0">
                <a:solidFill>
                  <a:srgbClr val="5B6770"/>
                </a:solidFill>
              </a:rPr>
              <a:t>At Corner</a:t>
            </a:r>
            <a:endParaRPr lang="en-US" sz="1300" dirty="0"/>
          </a:p>
        </p:txBody>
      </p:sp>
      <p:sp>
        <p:nvSpPr>
          <p:cNvPr id="15" name="Text 13"/>
          <p:cNvSpPr txBox="1"/>
          <p:nvPr/>
        </p:nvSpPr>
        <p:spPr>
          <a:xfrm>
            <a:off x="6705295" y="3904488"/>
            <a:ext cx="2331720" cy="320040"/>
          </a:xfrm>
          <a:prstGeom prst="rect">
            <a:avLst/>
          </a:prstGeom>
          <a:noFill/>
          <a:ln/>
        </p:spPr>
        <p:txBody>
          <a:bodyPr wrap="square" lIns="0" tIns="0" rIns="0" bIns="0" rtlCol="0" anchor="t"/>
          <a:lstStyle/>
          <a:p>
            <a:pPr rtl="1" algn="ctr" indent="0" marL="0">
              <a:buNone/>
            </a:pPr>
            <a:r>
              <a:rPr lang="ar-SA" altLang="en-US" sz="1500" b="1" dirty="0">
                <a:solidFill>
                  <a:srgbClr val="1F2224"/>
                </a:solidFill>
              </a:rPr>
              <a:t>عند الزاوية</a:t>
            </a:r>
            <a:endParaRPr lang="ar-SA" sz="1500" dirty="0"/>
          </a:p>
        </p:txBody>
      </p:sp>
      <p:sp>
        <p:nvSpPr>
          <p:cNvPr id="16" name="Text 14"/>
          <p:cNvSpPr txBox="1"/>
          <p:nvPr/>
        </p:nvSpPr>
        <p:spPr>
          <a:xfrm>
            <a:off x="6842455" y="4224528"/>
            <a:ext cx="2057400" cy="502920"/>
          </a:xfrm>
          <a:prstGeom prst="rect">
            <a:avLst/>
          </a:prstGeom>
          <a:noFill/>
          <a:ln/>
        </p:spPr>
        <p:txBody>
          <a:bodyPr wrap="square" lIns="0" tIns="0" rIns="0" bIns="0" rtlCol="0" anchor="t"/>
          <a:lstStyle/>
          <a:p>
            <a:pPr rtl="1" algn="ctr" indent="0" marL="0">
              <a:buNone/>
            </a:pPr>
            <a:r>
              <a:rPr lang="ar-SA" altLang="en-US" sz="1200" dirty="0">
                <a:solidFill>
                  <a:srgbClr val="3A4146"/>
                </a:solidFill>
              </a:rPr>
              <a:t>تُضعف حدود الزاوية وتوجّه الفراغ نحو الخارج.</a:t>
            </a:r>
            <a:endParaRPr lang="ar-SA" sz="1200" dirty="0"/>
          </a:p>
        </p:txBody>
      </p:sp>
      <p:sp>
        <p:nvSpPr>
          <p:cNvPr id="17" name="opening Between Planes"/>
          <p:cNvSpPr/>
          <p:nvPr/>
        </p:nvSpPr>
        <p:spPr>
          <a:xfrm>
            <a:off x="4099255" y="2240280"/>
            <a:ext cx="2331720" cy="2514600"/>
          </a:xfrm>
          <a:prstGeom prst="roundRect">
            <a:avLst>
              <a:gd name="adj" fmla="val 3137"/>
            </a:avLst>
          </a:prstGeom>
          <a:solidFill>
            <a:schemeClr val="bg2"/>
          </a:solidFill>
          <a:ln/>
          <a:effectLst>
            <a:outerShdw sx="100000" sy="100000" kx="0" ky="0" algn="bl" rotWithShape="0" blurRad="101600" dist="25400" dir="5400000">
              <a:srgbClr val="000000">
                <a:alpha val="12000"/>
              </a:srgbClr>
            </a:outerShdw>
          </a:effectLst>
        </p:spPr>
      </p:sp>
      <p:sp>
        <p:nvSpPr>
          <p:cNvPr id="18" name="wall elevation"/>
          <p:cNvSpPr/>
          <p:nvPr/>
        </p:nvSpPr>
        <p:spPr>
          <a:xfrm>
            <a:off x="4419295" y="2514600"/>
            <a:ext cx="1691640" cy="1005840"/>
          </a:xfrm>
          <a:prstGeom prst="rect">
            <a:avLst/>
          </a:prstGeom>
          <a:solidFill>
            <a:srgbClr val="B9C4C4"/>
          </a:solidFill>
          <a:ln w="9525">
            <a:solidFill>
              <a:srgbClr val="1F2224"/>
            </a:solidFill>
            <a:prstDash val="solid"/>
          </a:ln>
        </p:spPr>
      </p:sp>
      <p:sp>
        <p:nvSpPr>
          <p:cNvPr id="19" name="opening"/>
          <p:cNvSpPr/>
          <p:nvPr/>
        </p:nvSpPr>
        <p:spPr>
          <a:xfrm>
            <a:off x="4419295" y="2514600"/>
            <a:ext cx="1691640" cy="181051"/>
          </a:xfrm>
          <a:prstGeom prst="rect">
            <a:avLst/>
          </a:prstGeom>
          <a:solidFill>
            <a:srgbClr val="D9A441"/>
          </a:solidFill>
          <a:ln w="9525">
            <a:solidFill>
              <a:srgbClr val="1F2224"/>
            </a:solidFill>
            <a:prstDash val="solid"/>
          </a:ln>
        </p:spPr>
      </p:sp>
      <p:sp>
        <p:nvSpPr>
          <p:cNvPr id="20" name="Text 18"/>
          <p:cNvSpPr txBox="1"/>
          <p:nvPr/>
        </p:nvSpPr>
        <p:spPr>
          <a:xfrm>
            <a:off x="4099255" y="3611880"/>
            <a:ext cx="2331720" cy="320040"/>
          </a:xfrm>
          <a:prstGeom prst="rect">
            <a:avLst/>
          </a:prstGeom>
          <a:noFill/>
          <a:ln/>
        </p:spPr>
        <p:txBody>
          <a:bodyPr wrap="square" lIns="0" tIns="0" rIns="0" bIns="0" rtlCol="0" anchor="t"/>
          <a:lstStyle/>
          <a:p>
            <a:pPr algn="ctr" indent="0" marL="0">
              <a:buNone/>
            </a:pPr>
            <a:r>
              <a:rPr lang="en-US" sz="1300" b="1" dirty="0">
                <a:solidFill>
                  <a:srgbClr val="5B6770"/>
                </a:solidFill>
              </a:rPr>
              <a:t>Between Planes</a:t>
            </a:r>
            <a:endParaRPr lang="en-US" sz="1300" dirty="0"/>
          </a:p>
        </p:txBody>
      </p:sp>
      <p:sp>
        <p:nvSpPr>
          <p:cNvPr id="21" name="Text 19"/>
          <p:cNvSpPr txBox="1"/>
          <p:nvPr/>
        </p:nvSpPr>
        <p:spPr>
          <a:xfrm>
            <a:off x="4099255" y="3904488"/>
            <a:ext cx="2331720" cy="320040"/>
          </a:xfrm>
          <a:prstGeom prst="rect">
            <a:avLst/>
          </a:prstGeom>
          <a:noFill/>
          <a:ln/>
        </p:spPr>
        <p:txBody>
          <a:bodyPr wrap="square" lIns="0" tIns="0" rIns="0" bIns="0" rtlCol="0" anchor="t"/>
          <a:lstStyle/>
          <a:p>
            <a:pPr rtl="1" algn="ctr" indent="0" marL="0">
              <a:buNone/>
            </a:pPr>
            <a:r>
              <a:rPr lang="ar-SA" altLang="en-US" sz="1500" b="1" dirty="0">
                <a:solidFill>
                  <a:srgbClr val="1F2224"/>
                </a:solidFill>
              </a:rPr>
              <a:t>بين المستويات</a:t>
            </a:r>
            <a:endParaRPr lang="ar-SA" sz="1500" dirty="0"/>
          </a:p>
        </p:txBody>
      </p:sp>
      <p:sp>
        <p:nvSpPr>
          <p:cNvPr id="22" name="Text 20"/>
          <p:cNvSpPr txBox="1"/>
          <p:nvPr/>
        </p:nvSpPr>
        <p:spPr>
          <a:xfrm>
            <a:off x="4236415" y="4224528"/>
            <a:ext cx="2057400" cy="502920"/>
          </a:xfrm>
          <a:prstGeom prst="rect">
            <a:avLst/>
          </a:prstGeom>
          <a:noFill/>
          <a:ln/>
        </p:spPr>
        <p:txBody>
          <a:bodyPr wrap="square" lIns="0" tIns="0" rIns="0" bIns="0" rtlCol="0" anchor="t"/>
          <a:lstStyle/>
          <a:p>
            <a:pPr rtl="1" algn="ctr" indent="0" marL="0">
              <a:buNone/>
            </a:pPr>
            <a:r>
              <a:rPr lang="ar-SA" altLang="en-US" sz="1200" dirty="0">
                <a:solidFill>
                  <a:srgbClr val="3A4146"/>
                </a:solidFill>
              </a:rPr>
              <a:t>تفصل المستويات بصريًا وتُبرز استقلالها.</a:t>
            </a:r>
            <a:endParaRPr lang="ar-SA" sz="1200" dirty="0"/>
          </a:p>
        </p:txBody>
      </p:sp>
      <p:sp>
        <p:nvSpPr>
          <p:cNvPr id="23" name="openings role panel"/>
          <p:cNvSpPr/>
          <p:nvPr/>
        </p:nvSpPr>
        <p:spPr>
          <a:xfrm>
            <a:off x="548640" y="2240280"/>
            <a:ext cx="3184855" cy="3931920"/>
          </a:xfrm>
          <a:prstGeom prst="rect">
            <a:avLst/>
          </a:prstGeom>
          <a:solidFill>
            <a:schemeClr val="tx1"/>
          </a:solidFill>
          <a:ln/>
        </p:spPr>
      </p:sp>
      <p:sp>
        <p:nvSpPr>
          <p:cNvPr id="24" name="Text 22"/>
          <p:cNvSpPr txBox="1"/>
          <p:nvPr/>
        </p:nvSpPr>
        <p:spPr>
          <a:xfrm>
            <a:off x="822960" y="2377440"/>
            <a:ext cx="2636215" cy="640080"/>
          </a:xfrm>
          <a:prstGeom prst="rect">
            <a:avLst/>
          </a:prstGeom>
          <a:noFill/>
          <a:ln/>
        </p:spPr>
        <p:txBody>
          <a:bodyPr wrap="square" lIns="0" tIns="0" rIns="0" bIns="0" rtlCol="0" anchor="t"/>
          <a:lstStyle/>
          <a:p>
            <a:pPr rtl="1" algn="r" indent="0" marL="0">
              <a:buNone/>
            </a:pPr>
            <a:r>
              <a:rPr lang="ar-SA" altLang="en-US" sz="1400" b="1" dirty="0">
                <a:solidFill>
                  <a:srgbClr val="FFFFFF"/>
                </a:solidFill>
              </a:rPr>
              <a:t>النافذة ليست مجرد عنصر في الجدار؛ هي أداة للتحكم في:</a:t>
            </a:r>
            <a:endParaRPr lang="ar-SA" sz="1400" dirty="0"/>
          </a:p>
        </p:txBody>
      </p:sp>
      <p:sp>
        <p:nvSpPr>
          <p:cNvPr id="25" name="Light circle"/>
          <p:cNvSpPr/>
          <p:nvPr/>
        </p:nvSpPr>
        <p:spPr>
          <a:xfrm>
            <a:off x="2548661" y="3154680"/>
            <a:ext cx="640080" cy="640080"/>
          </a:xfrm>
          <a:prstGeom prst="ellipse">
            <a:avLst/>
          </a:prstGeom>
          <a:solidFill>
            <a:srgbClr val="D9A441"/>
          </a:solidFill>
          <a:ln/>
        </p:spPr>
      </p:sp>
      <p:pic>
        <p:nvPicPr>
          <p:cNvPr id="26" name="Light icon" descr="Light">    </p:cNvPr>
          <p:cNvPicPr>
            <a:picLocks noChangeAspect="1"/>
          </p:cNvPicPr>
          <p:nvPr/>
        </p:nvPicPr>
        <p:blipFill>
          <a:blip r:embed="rId1"/>
          <a:stretch>
            <a:fillRect/>
          </a:stretch>
        </p:blipFill>
        <p:spPr>
          <a:xfrm>
            <a:off x="2708681" y="3314700"/>
            <a:ext cx="320040" cy="320040"/>
          </a:xfrm>
          <a:prstGeom prst="rect">
            <a:avLst/>
          </a:prstGeom>
        </p:spPr>
      </p:pic>
      <p:sp>
        <p:nvSpPr>
          <p:cNvPr id="27" name="Text 24"/>
          <p:cNvSpPr txBox="1"/>
          <p:nvPr/>
        </p:nvSpPr>
        <p:spPr>
          <a:xfrm>
            <a:off x="2278228" y="3867912"/>
            <a:ext cx="1180948" cy="274320"/>
          </a:xfrm>
          <a:prstGeom prst="rect">
            <a:avLst/>
          </a:prstGeom>
          <a:noFill/>
          <a:ln/>
        </p:spPr>
        <p:txBody>
          <a:bodyPr wrap="square" lIns="0" tIns="0" rIns="0" bIns="0" rtlCol="0" anchor="t"/>
          <a:lstStyle/>
          <a:p>
            <a:pPr algn="ctr" indent="0" marL="0">
              <a:buNone/>
            </a:pPr>
            <a:r>
              <a:rPr lang="en-US" sz="1300" b="1" dirty="0">
                <a:solidFill>
                  <a:srgbClr val="FFFFFF"/>
                </a:solidFill>
              </a:rPr>
              <a:t>Light</a:t>
            </a:r>
            <a:endParaRPr lang="en-US" sz="1300" dirty="0"/>
          </a:p>
        </p:txBody>
      </p:sp>
      <p:sp>
        <p:nvSpPr>
          <p:cNvPr id="28" name="Text 25"/>
          <p:cNvSpPr txBox="1"/>
          <p:nvPr/>
        </p:nvSpPr>
        <p:spPr>
          <a:xfrm>
            <a:off x="2278228" y="4142232"/>
            <a:ext cx="1180948" cy="274320"/>
          </a:xfrm>
          <a:prstGeom prst="rect">
            <a:avLst/>
          </a:prstGeom>
          <a:noFill/>
          <a:ln/>
        </p:spPr>
        <p:txBody>
          <a:bodyPr wrap="square" lIns="0" tIns="0" rIns="0" bIns="0" rtlCol="0" anchor="t"/>
          <a:lstStyle/>
          <a:p>
            <a:pPr rtl="1" algn="ctr" indent="0" marL="0">
              <a:buNone/>
            </a:pPr>
            <a:r>
              <a:rPr lang="ar-SA" altLang="en-US" sz="1300" dirty="0">
                <a:solidFill>
                  <a:srgbClr val="B9C4C4"/>
                </a:solidFill>
              </a:rPr>
              <a:t>الضوء</a:t>
            </a:r>
            <a:endParaRPr lang="ar-SA" sz="1300" dirty="0"/>
          </a:p>
        </p:txBody>
      </p:sp>
      <p:sp>
        <p:nvSpPr>
          <p:cNvPr id="29" name="View circle"/>
          <p:cNvSpPr/>
          <p:nvPr/>
        </p:nvSpPr>
        <p:spPr>
          <a:xfrm>
            <a:off x="1093394" y="3154680"/>
            <a:ext cx="640080" cy="640080"/>
          </a:xfrm>
          <a:prstGeom prst="ellipse">
            <a:avLst/>
          </a:prstGeom>
          <a:solidFill>
            <a:srgbClr val="D9A441"/>
          </a:solidFill>
          <a:ln/>
        </p:spPr>
      </p:sp>
      <p:pic>
        <p:nvPicPr>
          <p:cNvPr id="30" name="View icon" descr="View">    </p:cNvPr>
          <p:cNvPicPr>
            <a:picLocks noChangeAspect="1"/>
          </p:cNvPicPr>
          <p:nvPr/>
        </p:nvPicPr>
        <p:blipFill>
          <a:blip r:embed="rId2"/>
          <a:stretch>
            <a:fillRect/>
          </a:stretch>
        </p:blipFill>
        <p:spPr>
          <a:xfrm>
            <a:off x="1253414" y="3314700"/>
            <a:ext cx="320040" cy="320040"/>
          </a:xfrm>
          <a:prstGeom prst="rect">
            <a:avLst/>
          </a:prstGeom>
        </p:spPr>
      </p:pic>
      <p:sp>
        <p:nvSpPr>
          <p:cNvPr id="31" name="Text 27"/>
          <p:cNvSpPr txBox="1"/>
          <p:nvPr/>
        </p:nvSpPr>
        <p:spPr>
          <a:xfrm>
            <a:off x="822960" y="3867912"/>
            <a:ext cx="1180948" cy="274320"/>
          </a:xfrm>
          <a:prstGeom prst="rect">
            <a:avLst/>
          </a:prstGeom>
          <a:noFill/>
          <a:ln/>
        </p:spPr>
        <p:txBody>
          <a:bodyPr wrap="square" lIns="0" tIns="0" rIns="0" bIns="0" rtlCol="0" anchor="t"/>
          <a:lstStyle/>
          <a:p>
            <a:pPr algn="ctr" indent="0" marL="0">
              <a:buNone/>
            </a:pPr>
            <a:r>
              <a:rPr lang="en-US" sz="1300" b="1" dirty="0">
                <a:solidFill>
                  <a:srgbClr val="FFFFFF"/>
                </a:solidFill>
              </a:rPr>
              <a:t>View</a:t>
            </a:r>
            <a:endParaRPr lang="en-US" sz="1300" dirty="0"/>
          </a:p>
        </p:txBody>
      </p:sp>
      <p:sp>
        <p:nvSpPr>
          <p:cNvPr id="32" name="Text 28"/>
          <p:cNvSpPr txBox="1"/>
          <p:nvPr/>
        </p:nvSpPr>
        <p:spPr>
          <a:xfrm>
            <a:off x="822960" y="4142232"/>
            <a:ext cx="1180948" cy="274320"/>
          </a:xfrm>
          <a:prstGeom prst="rect">
            <a:avLst/>
          </a:prstGeom>
          <a:noFill/>
          <a:ln/>
        </p:spPr>
        <p:txBody>
          <a:bodyPr wrap="square" lIns="0" tIns="0" rIns="0" bIns="0" rtlCol="0" anchor="t"/>
          <a:lstStyle/>
          <a:p>
            <a:pPr rtl="1" algn="ctr" indent="0" marL="0">
              <a:buNone/>
            </a:pPr>
            <a:r>
              <a:rPr lang="ar-SA" altLang="en-US" sz="1300" dirty="0">
                <a:solidFill>
                  <a:srgbClr val="B9C4C4"/>
                </a:solidFill>
              </a:rPr>
              <a:t>الرؤية</a:t>
            </a:r>
            <a:endParaRPr lang="ar-SA" sz="1300" dirty="0"/>
          </a:p>
        </p:txBody>
      </p:sp>
      <p:sp>
        <p:nvSpPr>
          <p:cNvPr id="33" name="Ventilation circle"/>
          <p:cNvSpPr/>
          <p:nvPr/>
        </p:nvSpPr>
        <p:spPr>
          <a:xfrm>
            <a:off x="2548661" y="4572000"/>
            <a:ext cx="640080" cy="640080"/>
          </a:xfrm>
          <a:prstGeom prst="ellipse">
            <a:avLst/>
          </a:prstGeom>
          <a:solidFill>
            <a:srgbClr val="D9A441"/>
          </a:solidFill>
          <a:ln/>
        </p:spPr>
      </p:sp>
      <p:pic>
        <p:nvPicPr>
          <p:cNvPr id="34" name="Ventilation icon" descr="Ventilation">    </p:cNvPr>
          <p:cNvPicPr>
            <a:picLocks noChangeAspect="1"/>
          </p:cNvPicPr>
          <p:nvPr/>
        </p:nvPicPr>
        <p:blipFill>
          <a:blip r:embed="rId3"/>
          <a:stretch>
            <a:fillRect/>
          </a:stretch>
        </p:blipFill>
        <p:spPr>
          <a:xfrm>
            <a:off x="2708681" y="4732020"/>
            <a:ext cx="320040" cy="320040"/>
          </a:xfrm>
          <a:prstGeom prst="rect">
            <a:avLst/>
          </a:prstGeom>
        </p:spPr>
      </p:pic>
      <p:sp>
        <p:nvSpPr>
          <p:cNvPr id="35" name="Text 30"/>
          <p:cNvSpPr txBox="1"/>
          <p:nvPr/>
        </p:nvSpPr>
        <p:spPr>
          <a:xfrm>
            <a:off x="2278228" y="5285232"/>
            <a:ext cx="1180948" cy="274320"/>
          </a:xfrm>
          <a:prstGeom prst="rect">
            <a:avLst/>
          </a:prstGeom>
          <a:noFill/>
          <a:ln/>
        </p:spPr>
        <p:txBody>
          <a:bodyPr wrap="square" lIns="0" tIns="0" rIns="0" bIns="0" rtlCol="0" anchor="t"/>
          <a:lstStyle/>
          <a:p>
            <a:pPr algn="ctr" indent="0" marL="0">
              <a:buNone/>
            </a:pPr>
            <a:r>
              <a:rPr lang="en-US" sz="1300" b="1" dirty="0">
                <a:solidFill>
                  <a:srgbClr val="FFFFFF"/>
                </a:solidFill>
              </a:rPr>
              <a:t>Ventilation</a:t>
            </a:r>
            <a:endParaRPr lang="en-US" sz="1300" dirty="0"/>
          </a:p>
        </p:txBody>
      </p:sp>
      <p:sp>
        <p:nvSpPr>
          <p:cNvPr id="36" name="Text 31"/>
          <p:cNvSpPr txBox="1"/>
          <p:nvPr/>
        </p:nvSpPr>
        <p:spPr>
          <a:xfrm>
            <a:off x="2278228" y="5559552"/>
            <a:ext cx="1180948" cy="274320"/>
          </a:xfrm>
          <a:prstGeom prst="rect">
            <a:avLst/>
          </a:prstGeom>
          <a:noFill/>
          <a:ln/>
        </p:spPr>
        <p:txBody>
          <a:bodyPr wrap="square" lIns="0" tIns="0" rIns="0" bIns="0" rtlCol="0" anchor="t"/>
          <a:lstStyle/>
          <a:p>
            <a:pPr rtl="1" algn="ctr" indent="0" marL="0">
              <a:buNone/>
            </a:pPr>
            <a:r>
              <a:rPr lang="ar-SA" altLang="en-US" sz="1300" dirty="0">
                <a:solidFill>
                  <a:srgbClr val="B9C4C4"/>
                </a:solidFill>
              </a:rPr>
              <a:t>التهوية</a:t>
            </a:r>
            <a:endParaRPr lang="ar-SA" sz="1300" dirty="0"/>
          </a:p>
        </p:txBody>
      </p:sp>
      <p:sp>
        <p:nvSpPr>
          <p:cNvPr id="37" name="Connection circle"/>
          <p:cNvSpPr/>
          <p:nvPr/>
        </p:nvSpPr>
        <p:spPr>
          <a:xfrm>
            <a:off x="1093394" y="4572000"/>
            <a:ext cx="640080" cy="640080"/>
          </a:xfrm>
          <a:prstGeom prst="ellipse">
            <a:avLst/>
          </a:prstGeom>
          <a:solidFill>
            <a:srgbClr val="D9A441"/>
          </a:solidFill>
          <a:ln/>
        </p:spPr>
      </p:sp>
      <p:pic>
        <p:nvPicPr>
          <p:cNvPr id="38" name="Connection icon" descr="Connection">    </p:cNvPr>
          <p:cNvPicPr>
            <a:picLocks noChangeAspect="1"/>
          </p:cNvPicPr>
          <p:nvPr/>
        </p:nvPicPr>
        <p:blipFill>
          <a:blip r:embed="rId4"/>
          <a:stretch>
            <a:fillRect/>
          </a:stretch>
        </p:blipFill>
        <p:spPr>
          <a:xfrm>
            <a:off x="1253414" y="4732020"/>
            <a:ext cx="320040" cy="320040"/>
          </a:xfrm>
          <a:prstGeom prst="rect">
            <a:avLst/>
          </a:prstGeom>
        </p:spPr>
      </p:pic>
      <p:sp>
        <p:nvSpPr>
          <p:cNvPr id="39" name="Text 33"/>
          <p:cNvSpPr txBox="1"/>
          <p:nvPr/>
        </p:nvSpPr>
        <p:spPr>
          <a:xfrm>
            <a:off x="822960" y="5285232"/>
            <a:ext cx="1180948" cy="274320"/>
          </a:xfrm>
          <a:prstGeom prst="rect">
            <a:avLst/>
          </a:prstGeom>
          <a:noFill/>
          <a:ln/>
        </p:spPr>
        <p:txBody>
          <a:bodyPr wrap="square" lIns="0" tIns="0" rIns="0" bIns="0" rtlCol="0" anchor="t"/>
          <a:lstStyle/>
          <a:p>
            <a:pPr algn="ctr" indent="0" marL="0">
              <a:buNone/>
            </a:pPr>
            <a:r>
              <a:rPr lang="en-US" sz="1300" b="1" dirty="0">
                <a:solidFill>
                  <a:srgbClr val="FFFFFF"/>
                </a:solidFill>
              </a:rPr>
              <a:t>Connection</a:t>
            </a:r>
            <a:endParaRPr lang="en-US" sz="1300" dirty="0"/>
          </a:p>
        </p:txBody>
      </p:sp>
      <p:sp>
        <p:nvSpPr>
          <p:cNvPr id="40" name="Text 34"/>
          <p:cNvSpPr txBox="1"/>
          <p:nvPr/>
        </p:nvSpPr>
        <p:spPr>
          <a:xfrm>
            <a:off x="822960" y="5559552"/>
            <a:ext cx="1180948" cy="274320"/>
          </a:xfrm>
          <a:prstGeom prst="rect">
            <a:avLst/>
          </a:prstGeom>
          <a:noFill/>
          <a:ln/>
        </p:spPr>
        <p:txBody>
          <a:bodyPr wrap="square" lIns="0" tIns="0" rIns="0" bIns="0" rtlCol="0" anchor="t"/>
          <a:lstStyle/>
          <a:p>
            <a:pPr rtl="1" algn="ctr" indent="0" marL="0">
              <a:buNone/>
            </a:pPr>
            <a:r>
              <a:rPr lang="ar-SA" altLang="en-US" sz="1300" dirty="0">
                <a:solidFill>
                  <a:srgbClr val="B9C4C4"/>
                </a:solidFill>
              </a:rPr>
              <a:t>الاتصال</a:t>
            </a:r>
            <a:endParaRPr lang="ar-SA" sz="1300" dirty="0"/>
          </a:p>
        </p:txBody>
      </p:sp>
      <p:sp>
        <p:nvSpPr>
          <p:cNvPr id="41" name="Text 35"/>
          <p:cNvSpPr txBox="1"/>
          <p:nvPr/>
        </p:nvSpPr>
        <p:spPr>
          <a:xfrm>
            <a:off x="4099255" y="4937760"/>
            <a:ext cx="7543800" cy="914400"/>
          </a:xfrm>
          <a:prstGeom prst="rect">
            <a:avLst/>
          </a:prstGeom>
          <a:noFill/>
          <a:ln/>
        </p:spPr>
        <p:txBody>
          <a:bodyPr wrap="square" lIns="0" tIns="0" rIns="0" bIns="0" rtlCol="0" anchor="t"/>
          <a:lstStyle/>
          <a:p>
            <a:pPr rtl="1" algn="r" indent="0" marL="0">
              <a:buNone/>
            </a:pPr>
            <a:r>
              <a:rPr lang="ar-SA" altLang="en-US" sz="1500" b="1" dirty="0">
                <a:solidFill>
                  <a:srgbClr val="2F6B6A"/>
                </a:solidFill>
              </a:rPr>
              <a:t>تحدد الفتحات أنماط الحركة، وتخلق علاقات بصرية بين الفراغات، وتؤثر على الاستمرارية البصرية والفراغية.</a:t>
            </a:r>
            <a:endParaRPr lang="ar-SA"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14 — HUMAN &amp; SPACE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الإنسان والفراغ</a:t>
            </a:r>
            <a:endParaRPr lang="ar-SA" sz="3200" dirty="0"/>
          </a:p>
        </p:txBody>
      </p:sp>
      <p:sp>
        <p:nvSpPr>
          <p:cNvPr id="4" name="Text 2"/>
          <p:cNvSpPr txBox="1"/>
          <p:nvPr/>
        </p:nvSpPr>
        <p:spPr>
          <a:xfrm>
            <a:off x="548640" y="1463040"/>
            <a:ext cx="11094415" cy="411480"/>
          </a:xfrm>
          <a:prstGeom prst="rect">
            <a:avLst/>
          </a:prstGeom>
          <a:noFill/>
          <a:ln/>
        </p:spPr>
        <p:txBody>
          <a:bodyPr wrap="square" lIns="0" tIns="0" rIns="0" bIns="0" rtlCol="0" anchor="t"/>
          <a:lstStyle/>
          <a:p>
            <a:pPr rtl="1" algn="r" indent="0" marL="0">
              <a:buNone/>
            </a:pPr>
            <a:r>
              <a:rPr lang="ar-SA" altLang="en-US" sz="1800" b="1" dirty="0">
                <a:solidFill>
                  <a:srgbClr val="C2593A"/>
                </a:solidFill>
              </a:rPr>
              <a:t>لا نصمم الفراغ ليكون جميلًا في صورة؛ نحن نصممه لكي يُستخدم.</a:t>
            </a:r>
            <a:endParaRPr lang="ar-SA" sz="1800" dirty="0"/>
          </a:p>
        </p:txBody>
      </p:sp>
      <p:sp>
        <p:nvSpPr>
          <p:cNvPr id="5" name="Human Scale"/>
          <p:cNvSpPr/>
          <p:nvPr/>
        </p:nvSpPr>
        <p:spPr>
          <a:xfrm>
            <a:off x="9643628" y="2057400"/>
            <a:ext cx="1999427" cy="1874520"/>
          </a:xfrm>
          <a:prstGeom prst="roundRect">
            <a:avLst>
              <a:gd name="adj" fmla="val 3902"/>
            </a:avLst>
          </a:prstGeom>
          <a:solidFill>
            <a:schemeClr val="bg2"/>
          </a:solidFill>
          <a:ln/>
          <a:effectLst>
            <a:outerShdw sx="100000" sy="100000" kx="0" ky="0" algn="bl" rotWithShape="0" blurRad="101600" dist="25400" dir="5400000">
              <a:srgbClr val="000000">
                <a:alpha val="12000"/>
              </a:srgbClr>
            </a:outerShdw>
          </a:effectLst>
        </p:spPr>
      </p:sp>
      <p:sp>
        <p:nvSpPr>
          <p:cNvPr id="6" name="Human Scale circle"/>
          <p:cNvSpPr/>
          <p:nvPr/>
        </p:nvSpPr>
        <p:spPr>
          <a:xfrm>
            <a:off x="10259294" y="2286000"/>
            <a:ext cx="768096" cy="768096"/>
          </a:xfrm>
          <a:prstGeom prst="ellipse">
            <a:avLst/>
          </a:prstGeom>
          <a:solidFill>
            <a:srgbClr val="2F6B6A"/>
          </a:solidFill>
          <a:ln/>
        </p:spPr>
      </p:sp>
      <p:pic>
        <p:nvPicPr>
          <p:cNvPr id="7" name="Human Scale icon" descr="Human Scale">    </p:cNvPr>
          <p:cNvPicPr>
            <a:picLocks noChangeAspect="1"/>
          </p:cNvPicPr>
          <p:nvPr/>
        </p:nvPicPr>
        <p:blipFill>
          <a:blip r:embed="rId1"/>
          <a:stretch>
            <a:fillRect/>
          </a:stretch>
        </p:blipFill>
        <p:spPr>
          <a:xfrm>
            <a:off x="10451318" y="2478024"/>
            <a:ext cx="384048" cy="384048"/>
          </a:xfrm>
          <a:prstGeom prst="rect">
            <a:avLst/>
          </a:prstGeom>
        </p:spPr>
      </p:pic>
      <p:sp>
        <p:nvSpPr>
          <p:cNvPr id="8" name="Text 5"/>
          <p:cNvSpPr txBox="1"/>
          <p:nvPr/>
        </p:nvSpPr>
        <p:spPr>
          <a:xfrm>
            <a:off x="9643628" y="3154680"/>
            <a:ext cx="1999427" cy="320040"/>
          </a:xfrm>
          <a:prstGeom prst="rect">
            <a:avLst/>
          </a:prstGeom>
          <a:noFill/>
          <a:ln/>
        </p:spPr>
        <p:txBody>
          <a:bodyPr wrap="square" lIns="0" tIns="0" rIns="0" bIns="0" rtlCol="0" anchor="t"/>
          <a:lstStyle/>
          <a:p>
            <a:pPr algn="ctr" indent="0" marL="0">
              <a:buNone/>
            </a:pPr>
            <a:r>
              <a:rPr lang="en-US" sz="1500" b="1" dirty="0">
                <a:solidFill>
                  <a:srgbClr val="1F2224"/>
                </a:solidFill>
              </a:rPr>
              <a:t>Human Scale</a:t>
            </a:r>
            <a:endParaRPr lang="en-US" sz="1500" dirty="0"/>
          </a:p>
        </p:txBody>
      </p:sp>
      <p:sp>
        <p:nvSpPr>
          <p:cNvPr id="9" name="Text 6"/>
          <p:cNvSpPr txBox="1"/>
          <p:nvPr/>
        </p:nvSpPr>
        <p:spPr>
          <a:xfrm>
            <a:off x="9643628" y="3474720"/>
            <a:ext cx="1999427" cy="320040"/>
          </a:xfrm>
          <a:prstGeom prst="rect">
            <a:avLst/>
          </a:prstGeom>
          <a:noFill/>
          <a:ln/>
        </p:spPr>
        <p:txBody>
          <a:bodyPr wrap="square" lIns="0" tIns="0" rIns="0" bIns="0" rtlCol="0" anchor="t"/>
          <a:lstStyle/>
          <a:p>
            <a:pPr rtl="1" algn="ctr" indent="0" marL="0">
              <a:buNone/>
            </a:pPr>
            <a:r>
              <a:rPr lang="ar-SA" altLang="en-US" sz="1400" dirty="0">
                <a:solidFill>
                  <a:srgbClr val="C2593A"/>
                </a:solidFill>
              </a:rPr>
              <a:t>مقياس الإنسان</a:t>
            </a:r>
            <a:endParaRPr lang="ar-SA" sz="1400" dirty="0"/>
          </a:p>
        </p:txBody>
      </p:sp>
      <p:sp>
        <p:nvSpPr>
          <p:cNvPr id="10" name="Movement"/>
          <p:cNvSpPr/>
          <p:nvPr/>
        </p:nvSpPr>
        <p:spPr>
          <a:xfrm>
            <a:off x="7369881" y="2057400"/>
            <a:ext cx="1999427" cy="1874520"/>
          </a:xfrm>
          <a:prstGeom prst="roundRect">
            <a:avLst>
              <a:gd name="adj" fmla="val 3902"/>
            </a:avLst>
          </a:prstGeom>
          <a:solidFill>
            <a:schemeClr val="bg2"/>
          </a:solidFill>
          <a:ln/>
          <a:effectLst>
            <a:outerShdw sx="100000" sy="100000" kx="0" ky="0" algn="bl" rotWithShape="0" blurRad="101600" dist="25400" dir="5400000">
              <a:srgbClr val="000000">
                <a:alpha val="12000"/>
              </a:srgbClr>
            </a:outerShdw>
          </a:effectLst>
        </p:spPr>
      </p:sp>
      <p:sp>
        <p:nvSpPr>
          <p:cNvPr id="11" name="Movement circle"/>
          <p:cNvSpPr/>
          <p:nvPr/>
        </p:nvSpPr>
        <p:spPr>
          <a:xfrm>
            <a:off x="7985547" y="2286000"/>
            <a:ext cx="768096" cy="768096"/>
          </a:xfrm>
          <a:prstGeom prst="ellipse">
            <a:avLst/>
          </a:prstGeom>
          <a:solidFill>
            <a:srgbClr val="2F6B6A"/>
          </a:solidFill>
          <a:ln/>
        </p:spPr>
      </p:sp>
      <p:pic>
        <p:nvPicPr>
          <p:cNvPr id="12" name="Movement icon" descr="Movement">    </p:cNvPr>
          <p:cNvPicPr>
            <a:picLocks noChangeAspect="1"/>
          </p:cNvPicPr>
          <p:nvPr/>
        </p:nvPicPr>
        <p:blipFill>
          <a:blip r:embed="rId2"/>
          <a:stretch>
            <a:fillRect/>
          </a:stretch>
        </p:blipFill>
        <p:spPr>
          <a:xfrm>
            <a:off x="8177571" y="2478024"/>
            <a:ext cx="384048" cy="384048"/>
          </a:xfrm>
          <a:prstGeom prst="rect">
            <a:avLst/>
          </a:prstGeom>
        </p:spPr>
      </p:pic>
      <p:sp>
        <p:nvSpPr>
          <p:cNvPr id="13" name="Text 9"/>
          <p:cNvSpPr txBox="1"/>
          <p:nvPr/>
        </p:nvSpPr>
        <p:spPr>
          <a:xfrm>
            <a:off x="7369881" y="3154680"/>
            <a:ext cx="1999427" cy="320040"/>
          </a:xfrm>
          <a:prstGeom prst="rect">
            <a:avLst/>
          </a:prstGeom>
          <a:noFill/>
          <a:ln/>
        </p:spPr>
        <p:txBody>
          <a:bodyPr wrap="square" lIns="0" tIns="0" rIns="0" bIns="0" rtlCol="0" anchor="t"/>
          <a:lstStyle/>
          <a:p>
            <a:pPr algn="ctr" indent="0" marL="0">
              <a:buNone/>
            </a:pPr>
            <a:r>
              <a:rPr lang="en-US" sz="1500" b="1" dirty="0">
                <a:solidFill>
                  <a:srgbClr val="1F2224"/>
                </a:solidFill>
              </a:rPr>
              <a:t>Movement</a:t>
            </a:r>
            <a:endParaRPr lang="en-US" sz="1500" dirty="0"/>
          </a:p>
        </p:txBody>
      </p:sp>
      <p:sp>
        <p:nvSpPr>
          <p:cNvPr id="14" name="Text 10"/>
          <p:cNvSpPr txBox="1"/>
          <p:nvPr/>
        </p:nvSpPr>
        <p:spPr>
          <a:xfrm>
            <a:off x="7369881" y="3474720"/>
            <a:ext cx="1999427" cy="320040"/>
          </a:xfrm>
          <a:prstGeom prst="rect">
            <a:avLst/>
          </a:prstGeom>
          <a:noFill/>
          <a:ln/>
        </p:spPr>
        <p:txBody>
          <a:bodyPr wrap="square" lIns="0" tIns="0" rIns="0" bIns="0" rtlCol="0" anchor="t"/>
          <a:lstStyle/>
          <a:p>
            <a:pPr rtl="1" algn="ctr" indent="0" marL="0">
              <a:buNone/>
            </a:pPr>
            <a:r>
              <a:rPr lang="ar-SA" altLang="en-US" sz="1400" dirty="0">
                <a:solidFill>
                  <a:srgbClr val="C2593A"/>
                </a:solidFill>
              </a:rPr>
              <a:t>الحركة</a:t>
            </a:r>
            <a:endParaRPr lang="ar-SA" sz="1400" dirty="0"/>
          </a:p>
        </p:txBody>
      </p:sp>
      <p:sp>
        <p:nvSpPr>
          <p:cNvPr id="15" name="Comfort"/>
          <p:cNvSpPr/>
          <p:nvPr/>
        </p:nvSpPr>
        <p:spPr>
          <a:xfrm>
            <a:off x="5096134" y="2057400"/>
            <a:ext cx="1999427" cy="1874520"/>
          </a:xfrm>
          <a:prstGeom prst="roundRect">
            <a:avLst>
              <a:gd name="adj" fmla="val 3902"/>
            </a:avLst>
          </a:prstGeom>
          <a:solidFill>
            <a:schemeClr val="bg2"/>
          </a:solidFill>
          <a:ln/>
          <a:effectLst>
            <a:outerShdw sx="100000" sy="100000" kx="0" ky="0" algn="bl" rotWithShape="0" blurRad="101600" dist="25400" dir="5400000">
              <a:srgbClr val="000000">
                <a:alpha val="12000"/>
              </a:srgbClr>
            </a:outerShdw>
          </a:effectLst>
        </p:spPr>
      </p:sp>
      <p:sp>
        <p:nvSpPr>
          <p:cNvPr id="16" name="Comfort circle"/>
          <p:cNvSpPr/>
          <p:nvPr/>
        </p:nvSpPr>
        <p:spPr>
          <a:xfrm>
            <a:off x="5711800" y="2286000"/>
            <a:ext cx="768096" cy="768096"/>
          </a:xfrm>
          <a:prstGeom prst="ellipse">
            <a:avLst/>
          </a:prstGeom>
          <a:solidFill>
            <a:srgbClr val="2F6B6A"/>
          </a:solidFill>
          <a:ln/>
        </p:spPr>
      </p:sp>
      <p:pic>
        <p:nvPicPr>
          <p:cNvPr id="17" name="Comfort icon" descr="Comfort">    </p:cNvPr>
          <p:cNvPicPr>
            <a:picLocks noChangeAspect="1"/>
          </p:cNvPicPr>
          <p:nvPr/>
        </p:nvPicPr>
        <p:blipFill>
          <a:blip r:embed="rId3"/>
          <a:stretch>
            <a:fillRect/>
          </a:stretch>
        </p:blipFill>
        <p:spPr>
          <a:xfrm>
            <a:off x="5903824" y="2478024"/>
            <a:ext cx="384048" cy="384048"/>
          </a:xfrm>
          <a:prstGeom prst="rect">
            <a:avLst/>
          </a:prstGeom>
        </p:spPr>
      </p:pic>
      <p:sp>
        <p:nvSpPr>
          <p:cNvPr id="18" name="Text 13"/>
          <p:cNvSpPr txBox="1"/>
          <p:nvPr/>
        </p:nvSpPr>
        <p:spPr>
          <a:xfrm>
            <a:off x="5096134" y="3154680"/>
            <a:ext cx="1999427" cy="320040"/>
          </a:xfrm>
          <a:prstGeom prst="rect">
            <a:avLst/>
          </a:prstGeom>
          <a:noFill/>
          <a:ln/>
        </p:spPr>
        <p:txBody>
          <a:bodyPr wrap="square" lIns="0" tIns="0" rIns="0" bIns="0" rtlCol="0" anchor="t"/>
          <a:lstStyle/>
          <a:p>
            <a:pPr algn="ctr" indent="0" marL="0">
              <a:buNone/>
            </a:pPr>
            <a:r>
              <a:rPr lang="en-US" sz="1500" b="1" dirty="0">
                <a:solidFill>
                  <a:srgbClr val="1F2224"/>
                </a:solidFill>
              </a:rPr>
              <a:t>Comfort</a:t>
            </a:r>
            <a:endParaRPr lang="en-US" sz="1500" dirty="0"/>
          </a:p>
        </p:txBody>
      </p:sp>
      <p:sp>
        <p:nvSpPr>
          <p:cNvPr id="19" name="Text 14"/>
          <p:cNvSpPr txBox="1"/>
          <p:nvPr/>
        </p:nvSpPr>
        <p:spPr>
          <a:xfrm>
            <a:off x="5096134" y="3474720"/>
            <a:ext cx="1999427" cy="320040"/>
          </a:xfrm>
          <a:prstGeom prst="rect">
            <a:avLst/>
          </a:prstGeom>
          <a:noFill/>
          <a:ln/>
        </p:spPr>
        <p:txBody>
          <a:bodyPr wrap="square" lIns="0" tIns="0" rIns="0" bIns="0" rtlCol="0" anchor="t"/>
          <a:lstStyle/>
          <a:p>
            <a:pPr rtl="1" algn="ctr" indent="0" marL="0">
              <a:buNone/>
            </a:pPr>
            <a:r>
              <a:rPr lang="ar-SA" altLang="en-US" sz="1400" dirty="0">
                <a:solidFill>
                  <a:srgbClr val="C2593A"/>
                </a:solidFill>
              </a:rPr>
              <a:t>الراحة</a:t>
            </a:r>
            <a:endParaRPr lang="ar-SA" sz="1400" dirty="0"/>
          </a:p>
        </p:txBody>
      </p:sp>
      <p:sp>
        <p:nvSpPr>
          <p:cNvPr id="20" name="Function"/>
          <p:cNvSpPr/>
          <p:nvPr/>
        </p:nvSpPr>
        <p:spPr>
          <a:xfrm>
            <a:off x="2822387" y="2057400"/>
            <a:ext cx="1999427" cy="1874520"/>
          </a:xfrm>
          <a:prstGeom prst="roundRect">
            <a:avLst>
              <a:gd name="adj" fmla="val 3902"/>
            </a:avLst>
          </a:prstGeom>
          <a:solidFill>
            <a:schemeClr val="bg2"/>
          </a:solidFill>
          <a:ln/>
          <a:effectLst>
            <a:outerShdw sx="100000" sy="100000" kx="0" ky="0" algn="bl" rotWithShape="0" blurRad="101600" dist="25400" dir="5400000">
              <a:srgbClr val="000000">
                <a:alpha val="12000"/>
              </a:srgbClr>
            </a:outerShdw>
          </a:effectLst>
        </p:spPr>
      </p:sp>
      <p:sp>
        <p:nvSpPr>
          <p:cNvPr id="21" name="Function circle"/>
          <p:cNvSpPr/>
          <p:nvPr/>
        </p:nvSpPr>
        <p:spPr>
          <a:xfrm>
            <a:off x="3438053" y="2286000"/>
            <a:ext cx="768096" cy="768096"/>
          </a:xfrm>
          <a:prstGeom prst="ellipse">
            <a:avLst/>
          </a:prstGeom>
          <a:solidFill>
            <a:srgbClr val="2F6B6A"/>
          </a:solidFill>
          <a:ln/>
        </p:spPr>
      </p:sp>
      <p:pic>
        <p:nvPicPr>
          <p:cNvPr id="22" name="Function icon" descr="Function">    </p:cNvPr>
          <p:cNvPicPr>
            <a:picLocks noChangeAspect="1"/>
          </p:cNvPicPr>
          <p:nvPr/>
        </p:nvPicPr>
        <p:blipFill>
          <a:blip r:embed="rId4"/>
          <a:stretch>
            <a:fillRect/>
          </a:stretch>
        </p:blipFill>
        <p:spPr>
          <a:xfrm>
            <a:off x="3630077" y="2478024"/>
            <a:ext cx="384048" cy="384048"/>
          </a:xfrm>
          <a:prstGeom prst="rect">
            <a:avLst/>
          </a:prstGeom>
        </p:spPr>
      </p:pic>
      <p:sp>
        <p:nvSpPr>
          <p:cNvPr id="23" name="Text 17"/>
          <p:cNvSpPr txBox="1"/>
          <p:nvPr/>
        </p:nvSpPr>
        <p:spPr>
          <a:xfrm>
            <a:off x="2822387" y="3154680"/>
            <a:ext cx="1999427" cy="320040"/>
          </a:xfrm>
          <a:prstGeom prst="rect">
            <a:avLst/>
          </a:prstGeom>
          <a:noFill/>
          <a:ln/>
        </p:spPr>
        <p:txBody>
          <a:bodyPr wrap="square" lIns="0" tIns="0" rIns="0" bIns="0" rtlCol="0" anchor="t"/>
          <a:lstStyle/>
          <a:p>
            <a:pPr algn="ctr" indent="0" marL="0">
              <a:buNone/>
            </a:pPr>
            <a:r>
              <a:rPr lang="en-US" sz="1500" b="1" dirty="0">
                <a:solidFill>
                  <a:srgbClr val="1F2224"/>
                </a:solidFill>
              </a:rPr>
              <a:t>Function</a:t>
            </a:r>
            <a:endParaRPr lang="en-US" sz="1500" dirty="0"/>
          </a:p>
        </p:txBody>
      </p:sp>
      <p:sp>
        <p:nvSpPr>
          <p:cNvPr id="24" name="Text 18"/>
          <p:cNvSpPr txBox="1"/>
          <p:nvPr/>
        </p:nvSpPr>
        <p:spPr>
          <a:xfrm>
            <a:off x="2822387" y="3474720"/>
            <a:ext cx="1999427" cy="320040"/>
          </a:xfrm>
          <a:prstGeom prst="rect">
            <a:avLst/>
          </a:prstGeom>
          <a:noFill/>
          <a:ln/>
        </p:spPr>
        <p:txBody>
          <a:bodyPr wrap="square" lIns="0" tIns="0" rIns="0" bIns="0" rtlCol="0" anchor="t"/>
          <a:lstStyle/>
          <a:p>
            <a:pPr rtl="1" algn="ctr" indent="0" marL="0">
              <a:buNone/>
            </a:pPr>
            <a:r>
              <a:rPr lang="ar-SA" altLang="en-US" sz="1400" dirty="0">
                <a:solidFill>
                  <a:srgbClr val="C2593A"/>
                </a:solidFill>
              </a:rPr>
              <a:t>الوظيفة</a:t>
            </a:r>
            <a:endParaRPr lang="ar-SA" sz="1400" dirty="0"/>
          </a:p>
        </p:txBody>
      </p:sp>
      <p:sp>
        <p:nvSpPr>
          <p:cNvPr id="25" name="Privacy"/>
          <p:cNvSpPr/>
          <p:nvPr/>
        </p:nvSpPr>
        <p:spPr>
          <a:xfrm>
            <a:off x="548640" y="2057400"/>
            <a:ext cx="1999427" cy="1874520"/>
          </a:xfrm>
          <a:prstGeom prst="roundRect">
            <a:avLst>
              <a:gd name="adj" fmla="val 3902"/>
            </a:avLst>
          </a:prstGeom>
          <a:solidFill>
            <a:schemeClr val="bg2"/>
          </a:solidFill>
          <a:ln/>
          <a:effectLst>
            <a:outerShdw sx="100000" sy="100000" kx="0" ky="0" algn="bl" rotWithShape="0" blurRad="101600" dist="25400" dir="5400000">
              <a:srgbClr val="000000">
                <a:alpha val="12000"/>
              </a:srgbClr>
            </a:outerShdw>
          </a:effectLst>
        </p:spPr>
      </p:sp>
      <p:sp>
        <p:nvSpPr>
          <p:cNvPr id="26" name="Privacy circle"/>
          <p:cNvSpPr/>
          <p:nvPr/>
        </p:nvSpPr>
        <p:spPr>
          <a:xfrm>
            <a:off x="1164306" y="2286000"/>
            <a:ext cx="768096" cy="768096"/>
          </a:xfrm>
          <a:prstGeom prst="ellipse">
            <a:avLst/>
          </a:prstGeom>
          <a:solidFill>
            <a:srgbClr val="2F6B6A"/>
          </a:solidFill>
          <a:ln/>
        </p:spPr>
      </p:sp>
      <p:pic>
        <p:nvPicPr>
          <p:cNvPr id="27" name="Privacy icon" descr="Privacy">    </p:cNvPr>
          <p:cNvPicPr>
            <a:picLocks noChangeAspect="1"/>
          </p:cNvPicPr>
          <p:nvPr/>
        </p:nvPicPr>
        <p:blipFill>
          <a:blip r:embed="rId5"/>
          <a:stretch>
            <a:fillRect/>
          </a:stretch>
        </p:blipFill>
        <p:spPr>
          <a:xfrm>
            <a:off x="1356330" y="2478024"/>
            <a:ext cx="384048" cy="384048"/>
          </a:xfrm>
          <a:prstGeom prst="rect">
            <a:avLst/>
          </a:prstGeom>
        </p:spPr>
      </p:pic>
      <p:sp>
        <p:nvSpPr>
          <p:cNvPr id="28" name="Text 21"/>
          <p:cNvSpPr txBox="1"/>
          <p:nvPr/>
        </p:nvSpPr>
        <p:spPr>
          <a:xfrm>
            <a:off x="548640" y="3154680"/>
            <a:ext cx="1999427" cy="320040"/>
          </a:xfrm>
          <a:prstGeom prst="rect">
            <a:avLst/>
          </a:prstGeom>
          <a:noFill/>
          <a:ln/>
        </p:spPr>
        <p:txBody>
          <a:bodyPr wrap="square" lIns="0" tIns="0" rIns="0" bIns="0" rtlCol="0" anchor="t"/>
          <a:lstStyle/>
          <a:p>
            <a:pPr algn="ctr" indent="0" marL="0">
              <a:buNone/>
            </a:pPr>
            <a:r>
              <a:rPr lang="en-US" sz="1500" b="1" dirty="0">
                <a:solidFill>
                  <a:srgbClr val="1F2224"/>
                </a:solidFill>
              </a:rPr>
              <a:t>Privacy</a:t>
            </a:r>
            <a:endParaRPr lang="en-US" sz="1500" dirty="0"/>
          </a:p>
        </p:txBody>
      </p:sp>
      <p:sp>
        <p:nvSpPr>
          <p:cNvPr id="29" name="Text 22"/>
          <p:cNvSpPr txBox="1"/>
          <p:nvPr/>
        </p:nvSpPr>
        <p:spPr>
          <a:xfrm>
            <a:off x="548640" y="3474720"/>
            <a:ext cx="1999427" cy="320040"/>
          </a:xfrm>
          <a:prstGeom prst="rect">
            <a:avLst/>
          </a:prstGeom>
          <a:noFill/>
          <a:ln/>
        </p:spPr>
        <p:txBody>
          <a:bodyPr wrap="square" lIns="0" tIns="0" rIns="0" bIns="0" rtlCol="0" anchor="t"/>
          <a:lstStyle/>
          <a:p>
            <a:pPr rtl="1" algn="ctr" indent="0" marL="0">
              <a:buNone/>
            </a:pPr>
            <a:r>
              <a:rPr lang="ar-SA" altLang="en-US" sz="1400" dirty="0">
                <a:solidFill>
                  <a:srgbClr val="C2593A"/>
                </a:solidFill>
              </a:rPr>
              <a:t>الخصوصية</a:t>
            </a:r>
            <a:endParaRPr lang="ar-SA" sz="1400" dirty="0"/>
          </a:p>
        </p:txBody>
      </p:sp>
      <p:sp>
        <p:nvSpPr>
          <p:cNvPr id="30" name="anthropometrics panel"/>
          <p:cNvSpPr/>
          <p:nvPr/>
        </p:nvSpPr>
        <p:spPr>
          <a:xfrm>
            <a:off x="548640" y="4206240"/>
            <a:ext cx="11094415" cy="1965960"/>
          </a:xfrm>
          <a:prstGeom prst="rect">
            <a:avLst/>
          </a:prstGeom>
          <a:solidFill>
            <a:schemeClr val="tx1"/>
          </a:solidFill>
          <a:ln/>
        </p:spPr>
      </p:sp>
      <p:sp>
        <p:nvSpPr>
          <p:cNvPr id="31" name="Text 24"/>
          <p:cNvSpPr txBox="1"/>
          <p:nvPr/>
        </p:nvSpPr>
        <p:spPr>
          <a:xfrm>
            <a:off x="822960" y="4315968"/>
            <a:ext cx="10545775" cy="365760"/>
          </a:xfrm>
          <a:prstGeom prst="rect">
            <a:avLst/>
          </a:prstGeom>
          <a:noFill/>
          <a:ln/>
        </p:spPr>
        <p:txBody>
          <a:bodyPr wrap="square" lIns="0" tIns="0" rIns="0" bIns="0" rtlCol="0" anchor="t"/>
          <a:lstStyle/>
          <a:p>
            <a:pPr rtl="1" algn="r" indent="0" marL="0">
              <a:buNone/>
            </a:pPr>
            <a:r>
              <a:rPr lang="ar-SA" altLang="en-US" sz="1500" b="1" dirty="0">
                <a:solidFill>
                  <a:srgbClr val="D9A441"/>
                </a:solidFill>
              </a:rPr>
              <a:t>أرقام مرجعية تقريبية لمقياس الإنسان (للاستخدام في المرسم):</a:t>
            </a:r>
            <a:endParaRPr lang="ar-SA" sz="1500" dirty="0"/>
          </a:p>
        </p:txBody>
      </p:sp>
      <p:sp>
        <p:nvSpPr>
          <p:cNvPr id="32" name="Text 25"/>
          <p:cNvSpPr txBox="1"/>
          <p:nvPr/>
        </p:nvSpPr>
        <p:spPr>
          <a:xfrm>
            <a:off x="9259580" y="4800600"/>
            <a:ext cx="2109155" cy="548640"/>
          </a:xfrm>
          <a:prstGeom prst="rect">
            <a:avLst/>
          </a:prstGeom>
          <a:noFill/>
          <a:ln/>
        </p:spPr>
        <p:txBody>
          <a:bodyPr wrap="square" lIns="0" tIns="0" rIns="0" bIns="0" rtlCol="0" anchor="t"/>
          <a:lstStyle/>
          <a:p>
            <a:pPr algn="ctr" indent="0" marL="0">
              <a:buNone/>
            </a:pPr>
            <a:r>
              <a:rPr lang="en-US" sz="2400" b="1" dirty="0">
                <a:solidFill>
                  <a:srgbClr val="FFFFFF"/>
                </a:solidFill>
              </a:rPr>
              <a:t>90 cm</a:t>
            </a:r>
            <a:endParaRPr lang="en-US" sz="2400" dirty="0"/>
          </a:p>
        </p:txBody>
      </p:sp>
      <p:sp>
        <p:nvSpPr>
          <p:cNvPr id="33" name="Text 26"/>
          <p:cNvSpPr txBox="1"/>
          <p:nvPr/>
        </p:nvSpPr>
        <p:spPr>
          <a:xfrm>
            <a:off x="9351020" y="5394960"/>
            <a:ext cx="1926275" cy="548640"/>
          </a:xfrm>
          <a:prstGeom prst="rect">
            <a:avLst/>
          </a:prstGeom>
          <a:noFill/>
          <a:ln/>
        </p:spPr>
        <p:txBody>
          <a:bodyPr wrap="square" lIns="0" tIns="0" rIns="0" bIns="0" rtlCol="0" anchor="t"/>
          <a:lstStyle/>
          <a:p>
            <a:pPr rtl="1" algn="ctr" indent="0" marL="0">
              <a:buNone/>
            </a:pPr>
            <a:r>
              <a:rPr lang="ar-SA" altLang="en-US" sz="1300" dirty="0">
                <a:solidFill>
                  <a:srgbClr val="B9C4C4"/>
                </a:solidFill>
              </a:rPr>
              <a:t>عرض ممر لشخص واحد</a:t>
            </a:r>
            <a:endParaRPr lang="ar-SA" sz="1300" dirty="0"/>
          </a:p>
        </p:txBody>
      </p:sp>
      <p:sp>
        <p:nvSpPr>
          <p:cNvPr id="34" name="Text 27"/>
          <p:cNvSpPr txBox="1"/>
          <p:nvPr/>
        </p:nvSpPr>
        <p:spPr>
          <a:xfrm>
            <a:off x="7150425" y="4800600"/>
            <a:ext cx="2109155" cy="548640"/>
          </a:xfrm>
          <a:prstGeom prst="rect">
            <a:avLst/>
          </a:prstGeom>
          <a:noFill/>
          <a:ln/>
        </p:spPr>
        <p:txBody>
          <a:bodyPr wrap="square" lIns="0" tIns="0" rIns="0" bIns="0" rtlCol="0" anchor="t"/>
          <a:lstStyle/>
          <a:p>
            <a:pPr algn="ctr" indent="0" marL="0">
              <a:buNone/>
            </a:pPr>
            <a:r>
              <a:rPr lang="en-US" sz="2400" b="1" dirty="0">
                <a:solidFill>
                  <a:srgbClr val="FFFFFF"/>
                </a:solidFill>
              </a:rPr>
              <a:t>120–150 cm</a:t>
            </a:r>
            <a:endParaRPr lang="en-US" sz="2400" dirty="0"/>
          </a:p>
        </p:txBody>
      </p:sp>
      <p:sp>
        <p:nvSpPr>
          <p:cNvPr id="35" name="Text 28"/>
          <p:cNvSpPr txBox="1"/>
          <p:nvPr/>
        </p:nvSpPr>
        <p:spPr>
          <a:xfrm>
            <a:off x="7241865" y="5394960"/>
            <a:ext cx="1926275" cy="548640"/>
          </a:xfrm>
          <a:prstGeom prst="rect">
            <a:avLst/>
          </a:prstGeom>
          <a:noFill/>
          <a:ln/>
        </p:spPr>
        <p:txBody>
          <a:bodyPr wrap="square" lIns="0" tIns="0" rIns="0" bIns="0" rtlCol="0" anchor="t"/>
          <a:lstStyle/>
          <a:p>
            <a:pPr rtl="1" algn="ctr" indent="0" marL="0">
              <a:buNone/>
            </a:pPr>
            <a:r>
              <a:rPr lang="ar-SA" altLang="en-US" sz="1300" dirty="0">
                <a:solidFill>
                  <a:srgbClr val="B9C4C4"/>
                </a:solidFill>
              </a:rPr>
              <a:t>ممر لشخصين متقابلين</a:t>
            </a:r>
            <a:endParaRPr lang="ar-SA" sz="1300" dirty="0"/>
          </a:p>
        </p:txBody>
      </p:sp>
      <p:sp>
        <p:nvSpPr>
          <p:cNvPr id="36" name="Text 29"/>
          <p:cNvSpPr txBox="1"/>
          <p:nvPr/>
        </p:nvSpPr>
        <p:spPr>
          <a:xfrm>
            <a:off x="5041270" y="4800600"/>
            <a:ext cx="2109155" cy="548640"/>
          </a:xfrm>
          <a:prstGeom prst="rect">
            <a:avLst/>
          </a:prstGeom>
          <a:noFill/>
          <a:ln/>
        </p:spPr>
        <p:txBody>
          <a:bodyPr wrap="square" lIns="0" tIns="0" rIns="0" bIns="0" rtlCol="0" anchor="t"/>
          <a:lstStyle/>
          <a:p>
            <a:pPr algn="ctr" indent="0" marL="0">
              <a:buNone/>
            </a:pPr>
            <a:r>
              <a:rPr lang="en-US" sz="2400" b="1" dirty="0">
                <a:solidFill>
                  <a:srgbClr val="FFFFFF"/>
                </a:solidFill>
              </a:rPr>
              <a:t>≈ 155 cm</a:t>
            </a:r>
            <a:endParaRPr lang="en-US" sz="2400" dirty="0"/>
          </a:p>
        </p:txBody>
      </p:sp>
      <p:sp>
        <p:nvSpPr>
          <p:cNvPr id="37" name="Text 30"/>
          <p:cNvSpPr txBox="1"/>
          <p:nvPr/>
        </p:nvSpPr>
        <p:spPr>
          <a:xfrm>
            <a:off x="5132710" y="5394960"/>
            <a:ext cx="1926275" cy="548640"/>
          </a:xfrm>
          <a:prstGeom prst="rect">
            <a:avLst/>
          </a:prstGeom>
          <a:noFill/>
          <a:ln/>
        </p:spPr>
        <p:txBody>
          <a:bodyPr wrap="square" lIns="0" tIns="0" rIns="0" bIns="0" rtlCol="0" anchor="t"/>
          <a:lstStyle/>
          <a:p>
            <a:pPr rtl="1" algn="ctr" indent="0" marL="0">
              <a:buNone/>
            </a:pPr>
            <a:r>
              <a:rPr lang="ar-SA" altLang="en-US" sz="1300" dirty="0">
                <a:solidFill>
                  <a:srgbClr val="B9C4C4"/>
                </a:solidFill>
              </a:rPr>
              <a:t>مستوى العين (وقوفًا)</a:t>
            </a:r>
            <a:endParaRPr lang="ar-SA" sz="1300" dirty="0"/>
          </a:p>
        </p:txBody>
      </p:sp>
      <p:sp>
        <p:nvSpPr>
          <p:cNvPr id="38" name="Text 31"/>
          <p:cNvSpPr txBox="1"/>
          <p:nvPr/>
        </p:nvSpPr>
        <p:spPr>
          <a:xfrm>
            <a:off x="2932115" y="4800600"/>
            <a:ext cx="2109155" cy="548640"/>
          </a:xfrm>
          <a:prstGeom prst="rect">
            <a:avLst/>
          </a:prstGeom>
          <a:noFill/>
          <a:ln/>
        </p:spPr>
        <p:txBody>
          <a:bodyPr wrap="square" lIns="0" tIns="0" rIns="0" bIns="0" rtlCol="0" anchor="t"/>
          <a:lstStyle/>
          <a:p>
            <a:pPr algn="ctr" indent="0" marL="0">
              <a:buNone/>
            </a:pPr>
            <a:r>
              <a:rPr lang="en-US" sz="2400" b="1" dirty="0">
                <a:solidFill>
                  <a:srgbClr val="FFFFFF"/>
                </a:solidFill>
              </a:rPr>
              <a:t>40–45 cm</a:t>
            </a:r>
            <a:endParaRPr lang="en-US" sz="2400" dirty="0"/>
          </a:p>
        </p:txBody>
      </p:sp>
      <p:sp>
        <p:nvSpPr>
          <p:cNvPr id="39" name="Text 32"/>
          <p:cNvSpPr txBox="1"/>
          <p:nvPr/>
        </p:nvSpPr>
        <p:spPr>
          <a:xfrm>
            <a:off x="3023555" y="5394960"/>
            <a:ext cx="1926275" cy="548640"/>
          </a:xfrm>
          <a:prstGeom prst="rect">
            <a:avLst/>
          </a:prstGeom>
          <a:noFill/>
          <a:ln/>
        </p:spPr>
        <p:txBody>
          <a:bodyPr wrap="square" lIns="0" tIns="0" rIns="0" bIns="0" rtlCol="0" anchor="t"/>
          <a:lstStyle/>
          <a:p>
            <a:pPr rtl="1" algn="ctr" indent="0" marL="0">
              <a:buNone/>
            </a:pPr>
            <a:r>
              <a:rPr lang="ar-SA" altLang="en-US" sz="1300" dirty="0">
                <a:solidFill>
                  <a:srgbClr val="B9C4C4"/>
                </a:solidFill>
              </a:rPr>
              <a:t>ارتفاع مقعد الجلوس</a:t>
            </a:r>
            <a:endParaRPr lang="ar-SA" sz="1300" dirty="0"/>
          </a:p>
        </p:txBody>
      </p:sp>
      <p:sp>
        <p:nvSpPr>
          <p:cNvPr id="40" name="Text 33"/>
          <p:cNvSpPr txBox="1"/>
          <p:nvPr/>
        </p:nvSpPr>
        <p:spPr>
          <a:xfrm>
            <a:off x="822960" y="4800600"/>
            <a:ext cx="2109155" cy="548640"/>
          </a:xfrm>
          <a:prstGeom prst="rect">
            <a:avLst/>
          </a:prstGeom>
          <a:noFill/>
          <a:ln/>
        </p:spPr>
        <p:txBody>
          <a:bodyPr wrap="square" lIns="0" tIns="0" rIns="0" bIns="0" rtlCol="0" anchor="t"/>
          <a:lstStyle/>
          <a:p>
            <a:pPr algn="ctr" indent="0" marL="0">
              <a:buNone/>
            </a:pPr>
            <a:r>
              <a:rPr lang="en-US" sz="2400" b="1" dirty="0">
                <a:solidFill>
                  <a:srgbClr val="FFFFFF"/>
                </a:solidFill>
              </a:rPr>
              <a:t>≈ 75 cm</a:t>
            </a:r>
            <a:endParaRPr lang="en-US" sz="2400" dirty="0"/>
          </a:p>
        </p:txBody>
      </p:sp>
      <p:sp>
        <p:nvSpPr>
          <p:cNvPr id="41" name="Text 34"/>
          <p:cNvSpPr txBox="1"/>
          <p:nvPr/>
        </p:nvSpPr>
        <p:spPr>
          <a:xfrm>
            <a:off x="914400" y="5394960"/>
            <a:ext cx="1926275" cy="548640"/>
          </a:xfrm>
          <a:prstGeom prst="rect">
            <a:avLst/>
          </a:prstGeom>
          <a:noFill/>
          <a:ln/>
        </p:spPr>
        <p:txBody>
          <a:bodyPr wrap="square" lIns="0" tIns="0" rIns="0" bIns="0" rtlCol="0" anchor="t"/>
          <a:lstStyle/>
          <a:p>
            <a:pPr rtl="1" algn="ctr" indent="0" marL="0">
              <a:buNone/>
            </a:pPr>
            <a:r>
              <a:rPr lang="ar-SA" altLang="en-US" sz="1300" dirty="0">
                <a:solidFill>
                  <a:srgbClr val="B9C4C4"/>
                </a:solidFill>
              </a:rPr>
              <a:t>ارتفاع طاولة الطعام/المكتب</a:t>
            </a:r>
            <a:endParaRPr lang="ar-SA"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15 — A SIMPLE EXAMPLE: LIVING ROOM</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مثال: أين أضع الكنبة؟</a:t>
            </a:r>
            <a:endParaRPr lang="ar-SA" sz="3200" dirty="0"/>
          </a:p>
        </p:txBody>
      </p:sp>
      <p:sp>
        <p:nvSpPr>
          <p:cNvPr id="4" name="room outline"/>
          <p:cNvSpPr/>
          <p:nvPr/>
        </p:nvSpPr>
        <p:spPr>
          <a:xfrm>
            <a:off x="731520" y="1691640"/>
            <a:ext cx="5120640" cy="4206240"/>
          </a:xfrm>
          <a:prstGeom prst="rect">
            <a:avLst/>
          </a:prstGeom>
          <a:solidFill>
            <a:srgbClr val="FAFAFA"/>
          </a:solidFill>
          <a:ln w="50800">
            <a:solidFill>
              <a:srgbClr val="1F2224"/>
            </a:solidFill>
            <a:prstDash val="solid"/>
          </a:ln>
        </p:spPr>
      </p:sp>
      <p:sp>
        <p:nvSpPr>
          <p:cNvPr id="5" name="door gap"/>
          <p:cNvSpPr/>
          <p:nvPr/>
        </p:nvSpPr>
        <p:spPr>
          <a:xfrm>
            <a:off x="1188720" y="5843016"/>
            <a:ext cx="868680" cy="109728"/>
          </a:xfrm>
          <a:prstGeom prst="rect">
            <a:avLst/>
          </a:prstGeom>
          <a:solidFill>
            <a:srgbClr val="FAFAFA"/>
          </a:solidFill>
          <a:ln/>
        </p:spPr>
      </p:sp>
      <p:sp>
        <p:nvSpPr>
          <p:cNvPr id="6" name="door leaf"/>
          <p:cNvSpPr/>
          <p:nvPr/>
        </p:nvSpPr>
        <p:spPr>
          <a:xfrm>
            <a:off x="1188720" y="5029200"/>
            <a:ext cx="0" cy="868680"/>
          </a:xfrm>
          <a:prstGeom prst="line">
            <a:avLst/>
          </a:prstGeom>
          <a:noFill/>
          <a:ln w="15875">
            <a:solidFill>
              <a:srgbClr val="1F2224"/>
            </a:solidFill>
            <a:prstDash val="solid"/>
          </a:ln>
        </p:spPr>
      </p:sp>
      <p:sp>
        <p:nvSpPr>
          <p:cNvPr id="7" name="door swing"/>
          <p:cNvSpPr/>
          <p:nvPr/>
        </p:nvSpPr>
        <p:spPr>
          <a:xfrm>
            <a:off x="320040" y="5029200"/>
            <a:ext cx="1737360" cy="1737360"/>
          </a:xfrm>
          <a:prstGeom prst="arc">
            <a:avLst>
              <a:gd name="adj1" fmla="val 16200000"/>
              <a:gd name="adj2" fmla="val 0"/>
            </a:avLst>
          </a:prstGeom>
          <a:ln w="9525">
            <a:solidFill>
              <a:srgbClr val="8A9A9B"/>
            </a:solidFill>
            <a:prstDash val="dash"/>
          </a:ln>
        </p:spPr>
      </p:sp>
      <p:sp>
        <p:nvSpPr>
          <p:cNvPr id="8" name="window"/>
          <p:cNvSpPr/>
          <p:nvPr/>
        </p:nvSpPr>
        <p:spPr>
          <a:xfrm>
            <a:off x="2194560" y="1636776"/>
            <a:ext cx="2194560" cy="109728"/>
          </a:xfrm>
          <a:prstGeom prst="rect">
            <a:avLst/>
          </a:prstGeom>
          <a:solidFill>
            <a:srgbClr val="D9A441"/>
          </a:solidFill>
          <a:ln w="9525">
            <a:solidFill>
              <a:srgbClr val="1F2224"/>
            </a:solidFill>
            <a:prstDash val="solid"/>
          </a:ln>
        </p:spPr>
      </p:sp>
      <p:sp>
        <p:nvSpPr>
          <p:cNvPr id="9" name="tv unit"/>
          <p:cNvSpPr/>
          <p:nvPr/>
        </p:nvSpPr>
        <p:spPr>
          <a:xfrm>
            <a:off x="5440680" y="2971800"/>
            <a:ext cx="274320" cy="1554480"/>
          </a:xfrm>
          <a:prstGeom prst="rect">
            <a:avLst/>
          </a:prstGeom>
          <a:solidFill>
            <a:srgbClr val="3A4146"/>
          </a:solidFill>
          <a:ln/>
        </p:spPr>
      </p:sp>
      <p:sp>
        <p:nvSpPr>
          <p:cNvPr id="10" name="sofa"/>
          <p:cNvSpPr/>
          <p:nvPr/>
        </p:nvSpPr>
        <p:spPr>
          <a:xfrm>
            <a:off x="2286000" y="2743200"/>
            <a:ext cx="685800" cy="2011680"/>
          </a:xfrm>
          <a:prstGeom prst="roundRect">
            <a:avLst>
              <a:gd name="adj" fmla="val 10667"/>
            </a:avLst>
          </a:prstGeom>
          <a:solidFill>
            <a:srgbClr val="2F6B6A"/>
          </a:solidFill>
          <a:ln/>
        </p:spPr>
      </p:sp>
      <p:sp>
        <p:nvSpPr>
          <p:cNvPr id="11" name="coffee table"/>
          <p:cNvSpPr/>
          <p:nvPr/>
        </p:nvSpPr>
        <p:spPr>
          <a:xfrm>
            <a:off x="3520440" y="3200400"/>
            <a:ext cx="822960" cy="1097280"/>
          </a:xfrm>
          <a:prstGeom prst="roundRect">
            <a:avLst>
              <a:gd name="adj" fmla="val 6667"/>
            </a:avLst>
          </a:prstGeom>
          <a:solidFill>
            <a:srgbClr val="B9C4C4"/>
          </a:solidFill>
          <a:ln w="6350">
            <a:solidFill>
              <a:srgbClr val="5B6770"/>
            </a:solidFill>
            <a:prstDash val="solid"/>
          </a:ln>
        </p:spPr>
      </p:sp>
      <p:sp>
        <p:nvSpPr>
          <p:cNvPr id="12" name="armchair"/>
          <p:cNvSpPr/>
          <p:nvPr/>
        </p:nvSpPr>
        <p:spPr>
          <a:xfrm>
            <a:off x="3474720" y="2011680"/>
            <a:ext cx="868680" cy="685800"/>
          </a:xfrm>
          <a:prstGeom prst="roundRect">
            <a:avLst>
              <a:gd name="adj" fmla="val 10667"/>
            </a:avLst>
          </a:prstGeom>
          <a:solidFill>
            <a:srgbClr val="4D8786"/>
          </a:solidFill>
          <a:ln/>
        </p:spPr>
      </p:sp>
      <p:sp>
        <p:nvSpPr>
          <p:cNvPr id="13" name="plant"/>
          <p:cNvSpPr/>
          <p:nvPr/>
        </p:nvSpPr>
        <p:spPr>
          <a:xfrm>
            <a:off x="1051560" y="2011680"/>
            <a:ext cx="914400" cy="914400"/>
          </a:xfrm>
          <a:prstGeom prst="roundRect">
            <a:avLst>
              <a:gd name="adj" fmla="val 50000"/>
            </a:avLst>
          </a:prstGeom>
          <a:solidFill>
            <a:srgbClr val="EEF0F0"/>
          </a:solidFill>
          <a:ln w="6350">
            <a:solidFill>
              <a:srgbClr val="8A9A9B"/>
            </a:solidFill>
            <a:prstDash val="solid"/>
          </a:ln>
        </p:spPr>
      </p:sp>
      <p:sp>
        <p:nvSpPr>
          <p:cNvPr id="14" name="path in"/>
          <p:cNvSpPr/>
          <p:nvPr/>
        </p:nvSpPr>
        <p:spPr>
          <a:xfrm>
            <a:off x="1618488" y="5120640"/>
            <a:ext cx="0" cy="685800"/>
          </a:xfrm>
          <a:prstGeom prst="line">
            <a:avLst/>
          </a:prstGeom>
          <a:noFill/>
          <a:ln w="28575">
            <a:solidFill>
              <a:srgbClr val="C2593A"/>
            </a:solidFill>
            <a:prstDash val="dash"/>
            <a:headEnd type="triangle"/>
          </a:ln>
        </p:spPr>
      </p:sp>
      <p:sp>
        <p:nvSpPr>
          <p:cNvPr id="15" name="path across"/>
          <p:cNvSpPr/>
          <p:nvPr/>
        </p:nvSpPr>
        <p:spPr>
          <a:xfrm>
            <a:off x="1618488" y="5120640"/>
            <a:ext cx="3291840" cy="0"/>
          </a:xfrm>
          <a:prstGeom prst="line">
            <a:avLst/>
          </a:prstGeom>
          <a:noFill/>
          <a:ln w="28575">
            <a:solidFill>
              <a:srgbClr val="C2593A"/>
            </a:solidFill>
            <a:prstDash val="dash"/>
            <a:tailEnd type="triangle"/>
          </a:ln>
        </p:spPr>
      </p:sp>
      <p:sp>
        <p:nvSpPr>
          <p:cNvPr id="16" name="focal point"/>
          <p:cNvSpPr/>
          <p:nvPr/>
        </p:nvSpPr>
        <p:spPr>
          <a:xfrm>
            <a:off x="4983480" y="3520440"/>
            <a:ext cx="365760" cy="365760"/>
          </a:xfrm>
          <a:prstGeom prst="ellipse">
            <a:avLst/>
          </a:prstGeom>
          <a:solidFill>
            <a:srgbClr val="D9A441"/>
          </a:solidFill>
          <a:ln w="12700">
            <a:solidFill>
              <a:srgbClr val="FFFFFF"/>
            </a:solidFill>
            <a:prstDash val="solid"/>
          </a:ln>
        </p:spPr>
      </p:sp>
      <p:sp>
        <p:nvSpPr>
          <p:cNvPr id="17" name="plan tag 1"/>
          <p:cNvSpPr/>
          <p:nvPr/>
        </p:nvSpPr>
        <p:spPr>
          <a:xfrm>
            <a:off x="1417320" y="6007608"/>
            <a:ext cx="329184" cy="329184"/>
          </a:xfrm>
          <a:prstGeom prst="ellipse">
            <a:avLst/>
          </a:prstGeom>
          <a:solidFill>
            <a:srgbClr val="1F2224"/>
          </a:solidFill>
          <a:ln/>
        </p:spPr>
      </p:sp>
      <p:sp>
        <p:nvSpPr>
          <p:cNvPr id="18" name="Text 16"/>
          <p:cNvSpPr txBox="1"/>
          <p:nvPr/>
        </p:nvSpPr>
        <p:spPr>
          <a:xfrm>
            <a:off x="1417320" y="6007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9" name="plan tag 3"/>
          <p:cNvSpPr/>
          <p:nvPr/>
        </p:nvSpPr>
        <p:spPr>
          <a:xfrm>
            <a:off x="2926080" y="4937760"/>
            <a:ext cx="329184" cy="329184"/>
          </a:xfrm>
          <a:prstGeom prst="ellipse">
            <a:avLst/>
          </a:prstGeom>
          <a:solidFill>
            <a:srgbClr val="1F2224"/>
          </a:solidFill>
          <a:ln/>
        </p:spPr>
      </p:sp>
      <p:sp>
        <p:nvSpPr>
          <p:cNvPr id="20" name="Text 18"/>
          <p:cNvSpPr txBox="1"/>
          <p:nvPr/>
        </p:nvSpPr>
        <p:spPr>
          <a:xfrm>
            <a:off x="2926080" y="49377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1" name="plan tag 4"/>
          <p:cNvSpPr/>
          <p:nvPr/>
        </p:nvSpPr>
        <p:spPr>
          <a:xfrm>
            <a:off x="5074920" y="4023360"/>
            <a:ext cx="329184" cy="329184"/>
          </a:xfrm>
          <a:prstGeom prst="ellipse">
            <a:avLst/>
          </a:prstGeom>
          <a:solidFill>
            <a:srgbClr val="1F2224"/>
          </a:solidFill>
          <a:ln/>
        </p:spPr>
      </p:sp>
      <p:sp>
        <p:nvSpPr>
          <p:cNvPr id="22" name="Text 20"/>
          <p:cNvSpPr txBox="1"/>
          <p:nvPr/>
        </p:nvSpPr>
        <p:spPr>
          <a:xfrm>
            <a:off x="5074920" y="4023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3" name="plan tag 7"/>
          <p:cNvSpPr/>
          <p:nvPr/>
        </p:nvSpPr>
        <p:spPr>
          <a:xfrm>
            <a:off x="3200400" y="1252728"/>
            <a:ext cx="329184" cy="329184"/>
          </a:xfrm>
          <a:prstGeom prst="ellipse">
            <a:avLst/>
          </a:prstGeom>
          <a:solidFill>
            <a:srgbClr val="1F2224"/>
          </a:solidFill>
          <a:ln/>
        </p:spPr>
      </p:sp>
      <p:sp>
        <p:nvSpPr>
          <p:cNvPr id="24" name="Text 22"/>
          <p:cNvSpPr txBox="1"/>
          <p:nvPr/>
        </p:nvSpPr>
        <p:spPr>
          <a:xfrm>
            <a:off x="3200400" y="12527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25" name="Text 23"/>
          <p:cNvSpPr txBox="1"/>
          <p:nvPr/>
        </p:nvSpPr>
        <p:spPr>
          <a:xfrm>
            <a:off x="731520" y="6035040"/>
            <a:ext cx="5120640" cy="274320"/>
          </a:xfrm>
          <a:prstGeom prst="rect">
            <a:avLst/>
          </a:prstGeom>
          <a:noFill/>
          <a:ln/>
        </p:spPr>
        <p:txBody>
          <a:bodyPr wrap="square" lIns="0" tIns="0" rIns="0" bIns="0" rtlCol="0" anchor="t"/>
          <a:lstStyle/>
          <a:p>
            <a:pPr algn="r" indent="0" marL="0">
              <a:buNone/>
            </a:pPr>
            <a:r>
              <a:rPr lang="en-US" sz="1000" i="1" dirty="0">
                <a:solidFill>
                  <a:srgbClr val="5B6770"/>
                </a:solidFill>
              </a:rPr>
              <a:t>Living Room — Plan (schematic)</a:t>
            </a:r>
            <a:endParaRPr lang="en-US" sz="1000" dirty="0"/>
          </a:p>
        </p:txBody>
      </p:sp>
      <p:sp>
        <p:nvSpPr>
          <p:cNvPr id="26" name="Text 24"/>
          <p:cNvSpPr txBox="1"/>
          <p:nvPr/>
        </p:nvSpPr>
        <p:spPr>
          <a:xfrm>
            <a:off x="6263640" y="1554480"/>
            <a:ext cx="5379415" cy="411480"/>
          </a:xfrm>
          <a:prstGeom prst="rect">
            <a:avLst/>
          </a:prstGeom>
          <a:noFill/>
          <a:ln/>
        </p:spPr>
        <p:txBody>
          <a:bodyPr wrap="square" lIns="0" tIns="0" rIns="0" bIns="0" rtlCol="0" anchor="t"/>
          <a:lstStyle/>
          <a:p>
            <a:pPr algn="r" indent="0" marL="0">
              <a:buNone/>
            </a:pPr>
            <a:r>
              <a:rPr lang="ar-SA" altLang="en-US" sz="1800" b="1" dirty="0">
                <a:solidFill>
                  <a:srgbClr val="1F2224"/>
                </a:solidFill>
              </a:rPr>
              <a:t>هل أضع الكنبة هنا لأنها أجمل؟ </a:t>
            </a:r>
            <a:pPr algn="r" indent="0" marL="0">
              <a:buNone/>
            </a:pPr>
            <a:r>
              <a:rPr lang="ar-SA" altLang="en-US" sz="1800" b="1" dirty="0">
                <a:solidFill>
                  <a:srgbClr val="C2593A"/>
                </a:solidFill>
              </a:rPr>
              <a:t>لا</a:t>
            </a:r>
            <a:endParaRPr lang="ar-SA" sz="1800" dirty="0"/>
          </a:p>
        </p:txBody>
      </p:sp>
      <p:sp>
        <p:nvSpPr>
          <p:cNvPr id="27" name="Text 25"/>
          <p:cNvSpPr txBox="1"/>
          <p:nvPr/>
        </p:nvSpPr>
        <p:spPr>
          <a:xfrm>
            <a:off x="6263640" y="1965960"/>
            <a:ext cx="5379415" cy="320040"/>
          </a:xfrm>
          <a:prstGeom prst="rect">
            <a:avLst/>
          </a:prstGeom>
          <a:noFill/>
          <a:ln/>
        </p:spPr>
        <p:txBody>
          <a:bodyPr wrap="square" lIns="0" tIns="0" rIns="0" bIns="0" rtlCol="0" anchor="t"/>
          <a:lstStyle/>
          <a:p>
            <a:pPr rtl="1" algn="r" indent="0" marL="0">
              <a:buNone/>
            </a:pPr>
            <a:r>
              <a:rPr lang="ar-SA" altLang="en-US" sz="1400" dirty="0">
                <a:solidFill>
                  <a:srgbClr val="3A4146"/>
                </a:solidFill>
              </a:rPr>
              <a:t>أسأل أولًا:</a:t>
            </a:r>
            <a:endParaRPr lang="ar-SA" sz="1400" dirty="0"/>
          </a:p>
        </p:txBody>
      </p:sp>
      <p:sp>
        <p:nvSpPr>
          <p:cNvPr id="28" name="q tag 1"/>
          <p:cNvSpPr/>
          <p:nvPr/>
        </p:nvSpPr>
        <p:spPr>
          <a:xfrm>
            <a:off x="11313871" y="2377440"/>
            <a:ext cx="329184" cy="329184"/>
          </a:xfrm>
          <a:prstGeom prst="ellipse">
            <a:avLst/>
          </a:prstGeom>
          <a:solidFill>
            <a:srgbClr val="1F2224"/>
          </a:solidFill>
          <a:ln/>
        </p:spPr>
      </p:sp>
      <p:sp>
        <p:nvSpPr>
          <p:cNvPr id="29" name="Text 27"/>
          <p:cNvSpPr txBox="1"/>
          <p:nvPr/>
        </p:nvSpPr>
        <p:spPr>
          <a:xfrm>
            <a:off x="11313871" y="2377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30" name="Text 28"/>
          <p:cNvSpPr txBox="1"/>
          <p:nvPr/>
        </p:nvSpPr>
        <p:spPr>
          <a:xfrm>
            <a:off x="6263640" y="2359152"/>
            <a:ext cx="4922215" cy="365760"/>
          </a:xfrm>
          <a:prstGeom prst="rect">
            <a:avLst/>
          </a:prstGeom>
          <a:noFill/>
          <a:ln/>
        </p:spPr>
        <p:txBody>
          <a:bodyPr wrap="square" lIns="0" tIns="0" rIns="0" bIns="0" rtlCol="0" anchor="ctr"/>
          <a:lstStyle/>
          <a:p>
            <a:pPr rtl="1" algn="r" indent="0" marL="0">
              <a:buNone/>
            </a:pPr>
            <a:r>
              <a:rPr lang="ar-SA" altLang="en-US" sz="1400" dirty="0">
                <a:solidFill>
                  <a:srgbClr val="1F2224"/>
                </a:solidFill>
              </a:rPr>
              <a:t>أين المدخل؟</a:t>
            </a:r>
            <a:endParaRPr lang="ar-SA" sz="1400" dirty="0"/>
          </a:p>
        </p:txBody>
      </p:sp>
      <p:sp>
        <p:nvSpPr>
          <p:cNvPr id="31" name="q tag 2"/>
          <p:cNvSpPr/>
          <p:nvPr/>
        </p:nvSpPr>
        <p:spPr>
          <a:xfrm>
            <a:off x="11313871" y="2834640"/>
            <a:ext cx="329184" cy="329184"/>
          </a:xfrm>
          <a:prstGeom prst="ellipse">
            <a:avLst/>
          </a:prstGeom>
          <a:solidFill>
            <a:srgbClr val="B9C4C4"/>
          </a:solidFill>
          <a:ln/>
        </p:spPr>
      </p:sp>
      <p:sp>
        <p:nvSpPr>
          <p:cNvPr id="32" name="Text 30"/>
          <p:cNvSpPr txBox="1"/>
          <p:nvPr/>
        </p:nvSpPr>
        <p:spPr>
          <a:xfrm>
            <a:off x="11313871" y="2834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33" name="Text 31"/>
          <p:cNvSpPr txBox="1"/>
          <p:nvPr/>
        </p:nvSpPr>
        <p:spPr>
          <a:xfrm>
            <a:off x="6263640" y="2816352"/>
            <a:ext cx="4922215" cy="365760"/>
          </a:xfrm>
          <a:prstGeom prst="rect">
            <a:avLst/>
          </a:prstGeom>
          <a:noFill/>
          <a:ln/>
        </p:spPr>
        <p:txBody>
          <a:bodyPr wrap="square" lIns="0" tIns="0" rIns="0" bIns="0" rtlCol="0" anchor="ctr"/>
          <a:lstStyle/>
          <a:p>
            <a:pPr rtl="1" algn="r" indent="0" marL="0">
              <a:buNone/>
            </a:pPr>
            <a:r>
              <a:rPr lang="ar-SA" altLang="en-US" sz="1400" dirty="0">
                <a:solidFill>
                  <a:srgbClr val="1F2224"/>
                </a:solidFill>
              </a:rPr>
              <a:t>كيف يدخل المستخدم؟</a:t>
            </a:r>
            <a:endParaRPr lang="ar-SA" sz="1400" dirty="0"/>
          </a:p>
        </p:txBody>
      </p:sp>
      <p:sp>
        <p:nvSpPr>
          <p:cNvPr id="34" name="q tag 3"/>
          <p:cNvSpPr/>
          <p:nvPr/>
        </p:nvSpPr>
        <p:spPr>
          <a:xfrm>
            <a:off x="11313871" y="3291840"/>
            <a:ext cx="329184" cy="329184"/>
          </a:xfrm>
          <a:prstGeom prst="ellipse">
            <a:avLst/>
          </a:prstGeom>
          <a:solidFill>
            <a:srgbClr val="1F2224"/>
          </a:solidFill>
          <a:ln/>
        </p:spPr>
      </p:sp>
      <p:sp>
        <p:nvSpPr>
          <p:cNvPr id="35" name="Text 33"/>
          <p:cNvSpPr txBox="1"/>
          <p:nvPr/>
        </p:nvSpPr>
        <p:spPr>
          <a:xfrm>
            <a:off x="11313871" y="32918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36" name="Text 34"/>
          <p:cNvSpPr txBox="1"/>
          <p:nvPr/>
        </p:nvSpPr>
        <p:spPr>
          <a:xfrm>
            <a:off x="6263640" y="3273552"/>
            <a:ext cx="4922215" cy="365760"/>
          </a:xfrm>
          <a:prstGeom prst="rect">
            <a:avLst/>
          </a:prstGeom>
          <a:noFill/>
          <a:ln/>
        </p:spPr>
        <p:txBody>
          <a:bodyPr wrap="square" lIns="0" tIns="0" rIns="0" bIns="0" rtlCol="0" anchor="ctr"/>
          <a:lstStyle/>
          <a:p>
            <a:pPr rtl="1" algn="r" indent="0" marL="0">
              <a:buNone/>
            </a:pPr>
            <a:r>
              <a:rPr lang="ar-SA" altLang="en-US" sz="1400" dirty="0">
                <a:solidFill>
                  <a:srgbClr val="1F2224"/>
                </a:solidFill>
              </a:rPr>
              <a:t>أين مسار الحركة؟</a:t>
            </a:r>
            <a:endParaRPr lang="ar-SA" sz="1400" dirty="0"/>
          </a:p>
        </p:txBody>
      </p:sp>
      <p:sp>
        <p:nvSpPr>
          <p:cNvPr id="37" name="q tag 4"/>
          <p:cNvSpPr/>
          <p:nvPr/>
        </p:nvSpPr>
        <p:spPr>
          <a:xfrm>
            <a:off x="11313871" y="3749040"/>
            <a:ext cx="329184" cy="329184"/>
          </a:xfrm>
          <a:prstGeom prst="ellipse">
            <a:avLst/>
          </a:prstGeom>
          <a:solidFill>
            <a:srgbClr val="1F2224"/>
          </a:solidFill>
          <a:ln/>
        </p:spPr>
      </p:sp>
      <p:sp>
        <p:nvSpPr>
          <p:cNvPr id="38" name="Text 36"/>
          <p:cNvSpPr txBox="1"/>
          <p:nvPr/>
        </p:nvSpPr>
        <p:spPr>
          <a:xfrm>
            <a:off x="11313871" y="37490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39" name="Text 37"/>
          <p:cNvSpPr txBox="1"/>
          <p:nvPr/>
        </p:nvSpPr>
        <p:spPr>
          <a:xfrm>
            <a:off x="6263640" y="3730752"/>
            <a:ext cx="4922215" cy="365760"/>
          </a:xfrm>
          <a:prstGeom prst="rect">
            <a:avLst/>
          </a:prstGeom>
          <a:noFill/>
          <a:ln/>
        </p:spPr>
        <p:txBody>
          <a:bodyPr wrap="square" lIns="0" tIns="0" rIns="0" bIns="0" rtlCol="0" anchor="ctr"/>
          <a:lstStyle/>
          <a:p>
            <a:pPr rtl="1" algn="r" indent="0" marL="0">
              <a:buNone/>
            </a:pPr>
            <a:r>
              <a:rPr lang="ar-SA" altLang="en-US" sz="1400" dirty="0">
                <a:solidFill>
                  <a:srgbClr val="1F2224"/>
                </a:solidFill>
              </a:rPr>
              <a:t>أين التلفزيون؟ أين نقطة التركيز؟</a:t>
            </a:r>
            <a:endParaRPr lang="ar-SA" sz="1400" dirty="0"/>
          </a:p>
        </p:txBody>
      </p:sp>
      <p:sp>
        <p:nvSpPr>
          <p:cNvPr id="40" name="q tag 5"/>
          <p:cNvSpPr/>
          <p:nvPr/>
        </p:nvSpPr>
        <p:spPr>
          <a:xfrm>
            <a:off x="11313871" y="4206240"/>
            <a:ext cx="329184" cy="329184"/>
          </a:xfrm>
          <a:prstGeom prst="ellipse">
            <a:avLst/>
          </a:prstGeom>
          <a:solidFill>
            <a:srgbClr val="B9C4C4"/>
          </a:solidFill>
          <a:ln/>
        </p:spPr>
      </p:sp>
      <p:sp>
        <p:nvSpPr>
          <p:cNvPr id="41" name="Text 39"/>
          <p:cNvSpPr txBox="1"/>
          <p:nvPr/>
        </p:nvSpPr>
        <p:spPr>
          <a:xfrm>
            <a:off x="11313871" y="42062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42" name="Text 40"/>
          <p:cNvSpPr txBox="1"/>
          <p:nvPr/>
        </p:nvSpPr>
        <p:spPr>
          <a:xfrm>
            <a:off x="6263640" y="4187952"/>
            <a:ext cx="4922215" cy="365760"/>
          </a:xfrm>
          <a:prstGeom prst="rect">
            <a:avLst/>
          </a:prstGeom>
          <a:noFill/>
          <a:ln/>
        </p:spPr>
        <p:txBody>
          <a:bodyPr wrap="square" lIns="0" tIns="0" rIns="0" bIns="0" rtlCol="0" anchor="ctr"/>
          <a:lstStyle/>
          <a:p>
            <a:pPr rtl="1" algn="r" indent="0" marL="0">
              <a:buNone/>
            </a:pPr>
            <a:r>
              <a:rPr lang="ar-SA" altLang="en-US" sz="1400" dirty="0">
                <a:solidFill>
                  <a:srgbClr val="1F2224"/>
                </a:solidFill>
              </a:rPr>
              <a:t>هل هناك مساحة كافية للحركة؟</a:t>
            </a:r>
            <a:endParaRPr lang="ar-SA" sz="1400" dirty="0"/>
          </a:p>
        </p:txBody>
      </p:sp>
      <p:sp>
        <p:nvSpPr>
          <p:cNvPr id="43" name="q tag 6"/>
          <p:cNvSpPr/>
          <p:nvPr/>
        </p:nvSpPr>
        <p:spPr>
          <a:xfrm>
            <a:off x="11313871" y="4663440"/>
            <a:ext cx="329184" cy="329184"/>
          </a:xfrm>
          <a:prstGeom prst="ellipse">
            <a:avLst/>
          </a:prstGeom>
          <a:solidFill>
            <a:srgbClr val="B9C4C4"/>
          </a:solidFill>
          <a:ln/>
        </p:spPr>
      </p:sp>
      <p:sp>
        <p:nvSpPr>
          <p:cNvPr id="44" name="Text 42"/>
          <p:cNvSpPr txBox="1"/>
          <p:nvPr/>
        </p:nvSpPr>
        <p:spPr>
          <a:xfrm>
            <a:off x="11313871" y="4663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45" name="Text 43"/>
          <p:cNvSpPr txBox="1"/>
          <p:nvPr/>
        </p:nvSpPr>
        <p:spPr>
          <a:xfrm>
            <a:off x="6263640" y="4645152"/>
            <a:ext cx="4922215" cy="365760"/>
          </a:xfrm>
          <a:prstGeom prst="rect">
            <a:avLst/>
          </a:prstGeom>
          <a:noFill/>
          <a:ln/>
        </p:spPr>
        <p:txBody>
          <a:bodyPr wrap="square" lIns="0" tIns="0" rIns="0" bIns="0" rtlCol="0" anchor="ctr"/>
          <a:lstStyle/>
          <a:p>
            <a:pPr rtl="1" algn="r" indent="0" marL="0">
              <a:buNone/>
            </a:pPr>
            <a:r>
              <a:rPr lang="ar-SA" altLang="en-US" sz="1400" dirty="0">
                <a:solidFill>
                  <a:srgbClr val="1F2224"/>
                </a:solidFill>
              </a:rPr>
              <a:t>هل الأثاث مناسب للمقياس؟</a:t>
            </a:r>
            <a:endParaRPr lang="ar-SA" sz="1400" dirty="0"/>
          </a:p>
        </p:txBody>
      </p:sp>
      <p:sp>
        <p:nvSpPr>
          <p:cNvPr id="46" name="q tag 7"/>
          <p:cNvSpPr/>
          <p:nvPr/>
        </p:nvSpPr>
        <p:spPr>
          <a:xfrm>
            <a:off x="11313871" y="5120640"/>
            <a:ext cx="329184" cy="329184"/>
          </a:xfrm>
          <a:prstGeom prst="ellipse">
            <a:avLst/>
          </a:prstGeom>
          <a:solidFill>
            <a:srgbClr val="1F2224"/>
          </a:solidFill>
          <a:ln/>
        </p:spPr>
      </p:sp>
      <p:sp>
        <p:nvSpPr>
          <p:cNvPr id="47" name="Text 45"/>
          <p:cNvSpPr txBox="1"/>
          <p:nvPr/>
        </p:nvSpPr>
        <p:spPr>
          <a:xfrm>
            <a:off x="11313871" y="51206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48" name="Text 46"/>
          <p:cNvSpPr txBox="1"/>
          <p:nvPr/>
        </p:nvSpPr>
        <p:spPr>
          <a:xfrm>
            <a:off x="6263640" y="5102352"/>
            <a:ext cx="4922215" cy="365760"/>
          </a:xfrm>
          <a:prstGeom prst="rect">
            <a:avLst/>
          </a:prstGeom>
          <a:noFill/>
          <a:ln/>
        </p:spPr>
        <p:txBody>
          <a:bodyPr wrap="square" lIns="0" tIns="0" rIns="0" bIns="0" rtlCol="0" anchor="ctr"/>
          <a:lstStyle/>
          <a:p>
            <a:pPr rtl="1" algn="r" indent="0" marL="0">
              <a:buNone/>
            </a:pPr>
            <a:r>
              <a:rPr lang="ar-SA" altLang="en-US" sz="1400" dirty="0">
                <a:solidFill>
                  <a:srgbClr val="1F2224"/>
                </a:solidFill>
              </a:rPr>
              <a:t>هل هناك علاقة جيدة مع النافذة؟</a:t>
            </a:r>
            <a:endParaRPr lang="ar-SA" sz="1400" dirty="0"/>
          </a:p>
        </p:txBody>
      </p:sp>
      <p:sp>
        <p:nvSpPr>
          <p:cNvPr id="49" name="then form"/>
          <p:cNvSpPr/>
          <p:nvPr/>
        </p:nvSpPr>
        <p:spPr>
          <a:xfrm>
            <a:off x="6263640" y="5623560"/>
            <a:ext cx="5379415" cy="548640"/>
          </a:xfrm>
          <a:prstGeom prst="rect">
            <a:avLst/>
          </a:prstGeom>
          <a:solidFill>
            <a:schemeClr val="bg2"/>
          </a:solidFill>
          <a:ln/>
        </p:spPr>
      </p:sp>
      <p:sp>
        <p:nvSpPr>
          <p:cNvPr id="50" name="Text 48"/>
          <p:cNvSpPr txBox="1"/>
          <p:nvPr/>
        </p:nvSpPr>
        <p:spPr>
          <a:xfrm>
            <a:off x="6446520" y="5623560"/>
            <a:ext cx="5013655" cy="548640"/>
          </a:xfrm>
          <a:prstGeom prst="rect">
            <a:avLst/>
          </a:prstGeom>
          <a:noFill/>
          <a:ln/>
        </p:spPr>
        <p:txBody>
          <a:bodyPr wrap="square" lIns="0" tIns="0" rIns="0" bIns="0" rtlCol="0" anchor="ctr"/>
          <a:lstStyle/>
          <a:p>
            <a:pPr rtl="1" algn="r" indent="0" marL="0">
              <a:buNone/>
            </a:pPr>
            <a:r>
              <a:rPr lang="ar-SA" altLang="en-US" sz="1700" b="1" dirty="0">
                <a:solidFill>
                  <a:srgbClr val="2F6B6A"/>
                </a:solidFill>
              </a:rPr>
              <a:t>ثم يأتي الشكل والجمال.</a:t>
            </a:r>
            <a:endParaRPr lang="ar-SA" sz="17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548640"/>
            <a:ext cx="11094415" cy="365760"/>
          </a:xfrm>
          <a:prstGeom prst="rect">
            <a:avLst/>
          </a:prstGeom>
          <a:noFill/>
          <a:ln/>
        </p:spPr>
        <p:txBody>
          <a:bodyPr wrap="square" lIns="0" tIns="0" rIns="0" bIns="0" rtlCol="0" anchor="t"/>
          <a:lstStyle/>
          <a:p>
            <a:pPr algn="r" indent="0" marL="0">
              <a:buNone/>
            </a:pPr>
            <a:r>
              <a:rPr lang="en-US" sz="1400" b="1" dirty="0">
                <a:solidFill>
                  <a:srgbClr val="C2593A"/>
                </a:solidFill>
              </a:rPr>
              <a:t>16 — THE FUNDAMENTAL IDEA</a:t>
            </a:r>
            <a:endParaRPr lang="en-US" sz="1400" dirty="0"/>
          </a:p>
        </p:txBody>
      </p:sp>
      <p:sp>
        <p:nvSpPr>
          <p:cNvPr id="3" name="Text 1"/>
          <p:cNvSpPr txBox="1"/>
          <p:nvPr/>
        </p:nvSpPr>
        <p:spPr>
          <a:xfrm>
            <a:off x="548640" y="960120"/>
            <a:ext cx="11094415" cy="640080"/>
          </a:xfrm>
          <a:prstGeom prst="rect">
            <a:avLst/>
          </a:prstGeom>
          <a:noFill/>
          <a:ln/>
        </p:spPr>
        <p:txBody>
          <a:bodyPr wrap="square" lIns="0" tIns="0" rIns="0" bIns="0" rtlCol="0" anchor="t"/>
          <a:lstStyle/>
          <a:p>
            <a:pPr rtl="1" algn="r" indent="0" marL="0">
              <a:buNone/>
            </a:pPr>
            <a:r>
              <a:rPr lang="ar-SA" altLang="en-US" sz="3000" b="1" dirty="0">
                <a:solidFill>
                  <a:srgbClr val="FFFFFF"/>
                </a:solidFill>
              </a:rPr>
              <a:t>العقلية التي نبدأ بها المادة</a:t>
            </a:r>
            <a:endParaRPr lang="ar-SA" sz="3000" dirty="0"/>
          </a:p>
        </p:txBody>
      </p:sp>
      <p:sp>
        <p:nvSpPr>
          <p:cNvPr id="4" name="FUNCTION number"/>
          <p:cNvSpPr/>
          <p:nvPr/>
        </p:nvSpPr>
        <p:spPr>
          <a:xfrm>
            <a:off x="1455268" y="2240280"/>
            <a:ext cx="640080" cy="640080"/>
          </a:xfrm>
          <a:prstGeom prst="ellipse">
            <a:avLst/>
          </a:prstGeom>
          <a:solidFill>
            <a:srgbClr val="C2593A"/>
          </a:solidFill>
          <a:ln/>
        </p:spPr>
      </p:sp>
      <p:sp>
        <p:nvSpPr>
          <p:cNvPr id="5" name="Text 3"/>
          <p:cNvSpPr txBox="1"/>
          <p:nvPr/>
        </p:nvSpPr>
        <p:spPr>
          <a:xfrm>
            <a:off x="1455268" y="2240280"/>
            <a:ext cx="640080" cy="640080"/>
          </a:xfrm>
          <a:prstGeom prst="rect">
            <a:avLst/>
          </a:prstGeom>
          <a:noFill/>
          <a:ln/>
        </p:spPr>
        <p:txBody>
          <a:bodyPr wrap="square" lIns="0" tIns="0" rIns="0" bIns="0" rtlCol="0" anchor="ctr"/>
          <a:lstStyle/>
          <a:p>
            <a:pPr algn="ctr" indent="0" marL="0">
              <a:buNone/>
            </a:pPr>
            <a:r>
              <a:rPr lang="en-US" sz="2000" b="1" dirty="0">
                <a:solidFill>
                  <a:srgbClr val="1F2224"/>
                </a:solidFill>
              </a:rPr>
              <a:t>1</a:t>
            </a:r>
            <a:endParaRPr lang="en-US" sz="2000" dirty="0"/>
          </a:p>
        </p:txBody>
      </p:sp>
      <p:sp>
        <p:nvSpPr>
          <p:cNvPr id="6" name="Text 4"/>
          <p:cNvSpPr txBox="1"/>
          <p:nvPr/>
        </p:nvSpPr>
        <p:spPr>
          <a:xfrm>
            <a:off x="586588" y="3108960"/>
            <a:ext cx="2377440" cy="548640"/>
          </a:xfrm>
          <a:prstGeom prst="rect">
            <a:avLst/>
          </a:prstGeom>
          <a:noFill/>
          <a:ln/>
        </p:spPr>
        <p:txBody>
          <a:bodyPr wrap="square" lIns="0" tIns="0" rIns="0" bIns="0" rtlCol="0" anchor="t"/>
          <a:lstStyle/>
          <a:p>
            <a:pPr algn="ctr" indent="0" marL="0">
              <a:buNone/>
            </a:pPr>
            <a:r>
              <a:rPr lang="en-US" sz="2400" b="1" spc="200" kern="0" dirty="0">
                <a:solidFill>
                  <a:srgbClr val="C2593A"/>
                </a:solidFill>
              </a:rPr>
              <a:t>FUNCTION</a:t>
            </a:r>
            <a:endParaRPr lang="en-US" sz="2400" dirty="0"/>
          </a:p>
        </p:txBody>
      </p:sp>
      <p:sp>
        <p:nvSpPr>
          <p:cNvPr id="7" name="Text 5"/>
          <p:cNvSpPr txBox="1"/>
          <p:nvPr/>
        </p:nvSpPr>
        <p:spPr>
          <a:xfrm>
            <a:off x="586588" y="3703320"/>
            <a:ext cx="2377440" cy="731520"/>
          </a:xfrm>
          <a:prstGeom prst="rect">
            <a:avLst/>
          </a:prstGeom>
          <a:noFill/>
          <a:ln/>
        </p:spPr>
        <p:txBody>
          <a:bodyPr wrap="square" lIns="0" tIns="0" rIns="0" bIns="0" rtlCol="0" anchor="t"/>
          <a:lstStyle/>
          <a:p>
            <a:pPr rtl="1" algn="ctr" indent="0" marL="0">
              <a:buNone/>
            </a:pPr>
            <a:r>
              <a:rPr lang="ar-SA" altLang="en-US" sz="1600" dirty="0">
                <a:solidFill>
                  <a:srgbClr val="FFFFFF"/>
                </a:solidFill>
              </a:rPr>
              <a:t>ماذا يحدث؟</a:t>
            </a:r>
            <a:endParaRPr lang="ar-SA" sz="1600" dirty="0"/>
          </a:p>
        </p:txBody>
      </p:sp>
      <p:sp>
        <p:nvSpPr>
          <p:cNvPr id="8" name="flow arrow 1"/>
          <p:cNvSpPr/>
          <p:nvPr/>
        </p:nvSpPr>
        <p:spPr>
          <a:xfrm>
            <a:off x="3037180" y="3383280"/>
            <a:ext cx="356616" cy="0"/>
          </a:xfrm>
          <a:prstGeom prst="line">
            <a:avLst/>
          </a:prstGeom>
          <a:noFill/>
          <a:ln w="25400">
            <a:solidFill>
              <a:srgbClr val="5B6770"/>
            </a:solidFill>
            <a:prstDash val="solid"/>
            <a:tailEnd type="triangle"/>
          </a:ln>
        </p:spPr>
      </p:sp>
      <p:sp>
        <p:nvSpPr>
          <p:cNvPr id="9" name="SPACE number"/>
          <p:cNvSpPr/>
          <p:nvPr/>
        </p:nvSpPr>
        <p:spPr>
          <a:xfrm>
            <a:off x="4335628" y="2240280"/>
            <a:ext cx="640080" cy="640080"/>
          </a:xfrm>
          <a:prstGeom prst="ellipse">
            <a:avLst/>
          </a:prstGeom>
          <a:solidFill>
            <a:srgbClr val="2F6B6A"/>
          </a:solidFill>
          <a:ln/>
        </p:spPr>
      </p:sp>
      <p:sp>
        <p:nvSpPr>
          <p:cNvPr id="10" name="Text 8"/>
          <p:cNvSpPr txBox="1"/>
          <p:nvPr/>
        </p:nvSpPr>
        <p:spPr>
          <a:xfrm>
            <a:off x="4335628" y="2240280"/>
            <a:ext cx="640080" cy="640080"/>
          </a:xfrm>
          <a:prstGeom prst="rect">
            <a:avLst/>
          </a:prstGeom>
          <a:noFill/>
          <a:ln/>
        </p:spPr>
        <p:txBody>
          <a:bodyPr wrap="square" lIns="0" tIns="0" rIns="0" bIns="0" rtlCol="0" anchor="ctr"/>
          <a:lstStyle/>
          <a:p>
            <a:pPr algn="ctr" indent="0" marL="0">
              <a:buNone/>
            </a:pPr>
            <a:r>
              <a:rPr lang="en-US" sz="2000" b="1" dirty="0">
                <a:solidFill>
                  <a:srgbClr val="1F2224"/>
                </a:solidFill>
              </a:rPr>
              <a:t>2</a:t>
            </a:r>
            <a:endParaRPr lang="en-US" sz="2000" dirty="0"/>
          </a:p>
        </p:txBody>
      </p:sp>
      <p:sp>
        <p:nvSpPr>
          <p:cNvPr id="11" name="Text 9"/>
          <p:cNvSpPr txBox="1"/>
          <p:nvPr/>
        </p:nvSpPr>
        <p:spPr>
          <a:xfrm>
            <a:off x="3466948" y="3108960"/>
            <a:ext cx="2377440" cy="548640"/>
          </a:xfrm>
          <a:prstGeom prst="rect">
            <a:avLst/>
          </a:prstGeom>
          <a:noFill/>
          <a:ln/>
        </p:spPr>
        <p:txBody>
          <a:bodyPr wrap="square" lIns="0" tIns="0" rIns="0" bIns="0" rtlCol="0" anchor="t"/>
          <a:lstStyle/>
          <a:p>
            <a:pPr algn="ctr" indent="0" marL="0">
              <a:buNone/>
            </a:pPr>
            <a:r>
              <a:rPr lang="en-US" sz="2400" b="1" spc="200" kern="0" dirty="0">
                <a:solidFill>
                  <a:srgbClr val="2F6B6A"/>
                </a:solidFill>
              </a:rPr>
              <a:t>SPACE</a:t>
            </a:r>
            <a:endParaRPr lang="en-US" sz="2400" dirty="0"/>
          </a:p>
        </p:txBody>
      </p:sp>
      <p:sp>
        <p:nvSpPr>
          <p:cNvPr id="12" name="Text 10"/>
          <p:cNvSpPr txBox="1"/>
          <p:nvPr/>
        </p:nvSpPr>
        <p:spPr>
          <a:xfrm>
            <a:off x="3466948" y="3703320"/>
            <a:ext cx="2377440" cy="731520"/>
          </a:xfrm>
          <a:prstGeom prst="rect">
            <a:avLst/>
          </a:prstGeom>
          <a:noFill/>
          <a:ln/>
        </p:spPr>
        <p:txBody>
          <a:bodyPr wrap="square" lIns="0" tIns="0" rIns="0" bIns="0" rtlCol="0" anchor="t"/>
          <a:lstStyle/>
          <a:p>
            <a:pPr rtl="1" algn="ctr" indent="0" marL="0">
              <a:buNone/>
            </a:pPr>
            <a:r>
              <a:rPr lang="ar-SA" altLang="en-US" sz="1600" dirty="0">
                <a:solidFill>
                  <a:srgbClr val="FFFFFF"/>
                </a:solidFill>
              </a:rPr>
              <a:t>كيف ننظم الفراغ؟</a:t>
            </a:r>
            <a:endParaRPr lang="ar-SA" sz="1600" dirty="0"/>
          </a:p>
        </p:txBody>
      </p:sp>
      <p:sp>
        <p:nvSpPr>
          <p:cNvPr id="13" name="flow arrow 2"/>
          <p:cNvSpPr/>
          <p:nvPr/>
        </p:nvSpPr>
        <p:spPr>
          <a:xfrm>
            <a:off x="5917540" y="3383280"/>
            <a:ext cx="356616" cy="0"/>
          </a:xfrm>
          <a:prstGeom prst="line">
            <a:avLst/>
          </a:prstGeom>
          <a:noFill/>
          <a:ln w="25400">
            <a:solidFill>
              <a:srgbClr val="5B6770"/>
            </a:solidFill>
            <a:prstDash val="solid"/>
            <a:tailEnd type="triangle"/>
          </a:ln>
        </p:spPr>
      </p:sp>
      <p:sp>
        <p:nvSpPr>
          <p:cNvPr id="14" name="EXPERIENCE number"/>
          <p:cNvSpPr/>
          <p:nvPr/>
        </p:nvSpPr>
        <p:spPr>
          <a:xfrm>
            <a:off x="7215988" y="2240280"/>
            <a:ext cx="640080" cy="640080"/>
          </a:xfrm>
          <a:prstGeom prst="ellipse">
            <a:avLst/>
          </a:prstGeom>
          <a:solidFill>
            <a:srgbClr val="D9A441"/>
          </a:solidFill>
          <a:ln/>
        </p:spPr>
      </p:sp>
      <p:sp>
        <p:nvSpPr>
          <p:cNvPr id="15" name="Text 13"/>
          <p:cNvSpPr txBox="1"/>
          <p:nvPr/>
        </p:nvSpPr>
        <p:spPr>
          <a:xfrm>
            <a:off x="7215988" y="2240280"/>
            <a:ext cx="640080" cy="640080"/>
          </a:xfrm>
          <a:prstGeom prst="rect">
            <a:avLst/>
          </a:prstGeom>
          <a:noFill/>
          <a:ln/>
        </p:spPr>
        <p:txBody>
          <a:bodyPr wrap="square" lIns="0" tIns="0" rIns="0" bIns="0" rtlCol="0" anchor="ctr"/>
          <a:lstStyle/>
          <a:p>
            <a:pPr algn="ctr" indent="0" marL="0">
              <a:buNone/>
            </a:pPr>
            <a:r>
              <a:rPr lang="en-US" sz="2000" b="1" dirty="0">
                <a:solidFill>
                  <a:srgbClr val="1F2224"/>
                </a:solidFill>
              </a:rPr>
              <a:t>3</a:t>
            </a:r>
            <a:endParaRPr lang="en-US" sz="2000" dirty="0"/>
          </a:p>
        </p:txBody>
      </p:sp>
      <p:sp>
        <p:nvSpPr>
          <p:cNvPr id="16" name="Text 14"/>
          <p:cNvSpPr txBox="1"/>
          <p:nvPr/>
        </p:nvSpPr>
        <p:spPr>
          <a:xfrm>
            <a:off x="6347308" y="3108960"/>
            <a:ext cx="2377440" cy="548640"/>
          </a:xfrm>
          <a:prstGeom prst="rect">
            <a:avLst/>
          </a:prstGeom>
          <a:noFill/>
          <a:ln/>
        </p:spPr>
        <p:txBody>
          <a:bodyPr wrap="square" lIns="0" tIns="0" rIns="0" bIns="0" rtlCol="0" anchor="t"/>
          <a:lstStyle/>
          <a:p>
            <a:pPr algn="ctr" indent="0" marL="0">
              <a:buNone/>
            </a:pPr>
            <a:r>
              <a:rPr lang="en-US" sz="2400" b="1" spc="200" kern="0" dirty="0">
                <a:solidFill>
                  <a:srgbClr val="D9A441"/>
                </a:solidFill>
              </a:rPr>
              <a:t>EXPERIENCE</a:t>
            </a:r>
            <a:endParaRPr lang="en-US" sz="2400" dirty="0"/>
          </a:p>
        </p:txBody>
      </p:sp>
      <p:sp>
        <p:nvSpPr>
          <p:cNvPr id="17" name="Text 15"/>
          <p:cNvSpPr txBox="1"/>
          <p:nvPr/>
        </p:nvSpPr>
        <p:spPr>
          <a:xfrm>
            <a:off x="6347308" y="3703320"/>
            <a:ext cx="2377440" cy="731520"/>
          </a:xfrm>
          <a:prstGeom prst="rect">
            <a:avLst/>
          </a:prstGeom>
          <a:noFill/>
          <a:ln/>
        </p:spPr>
        <p:txBody>
          <a:bodyPr wrap="square" lIns="0" tIns="0" rIns="0" bIns="0" rtlCol="0" anchor="t"/>
          <a:lstStyle/>
          <a:p>
            <a:pPr rtl="1" algn="ctr" indent="0" marL="0">
              <a:buNone/>
            </a:pPr>
            <a:r>
              <a:rPr lang="ar-SA" altLang="en-US" sz="1600" dirty="0">
                <a:solidFill>
                  <a:srgbClr val="FFFFFF"/>
                </a:solidFill>
              </a:rPr>
              <a:t>كيف سيشعر ويتحرك المستخدم؟</a:t>
            </a:r>
            <a:endParaRPr lang="ar-SA" sz="1600" dirty="0"/>
          </a:p>
        </p:txBody>
      </p:sp>
      <p:sp>
        <p:nvSpPr>
          <p:cNvPr id="18" name="flow arrow 3"/>
          <p:cNvSpPr/>
          <p:nvPr/>
        </p:nvSpPr>
        <p:spPr>
          <a:xfrm>
            <a:off x="8797900" y="3383280"/>
            <a:ext cx="356616" cy="0"/>
          </a:xfrm>
          <a:prstGeom prst="line">
            <a:avLst/>
          </a:prstGeom>
          <a:noFill/>
          <a:ln w="25400">
            <a:solidFill>
              <a:srgbClr val="5B6770"/>
            </a:solidFill>
            <a:prstDash val="solid"/>
            <a:tailEnd type="triangle"/>
          </a:ln>
        </p:spPr>
      </p:sp>
      <p:sp>
        <p:nvSpPr>
          <p:cNvPr id="19" name="FORM number"/>
          <p:cNvSpPr/>
          <p:nvPr/>
        </p:nvSpPr>
        <p:spPr>
          <a:xfrm>
            <a:off x="10096348" y="2240280"/>
            <a:ext cx="640080" cy="640080"/>
          </a:xfrm>
          <a:prstGeom prst="ellipse">
            <a:avLst/>
          </a:prstGeom>
          <a:solidFill>
            <a:srgbClr val="B9C4C4"/>
          </a:solidFill>
          <a:ln/>
        </p:spPr>
      </p:sp>
      <p:sp>
        <p:nvSpPr>
          <p:cNvPr id="20" name="Text 18"/>
          <p:cNvSpPr txBox="1"/>
          <p:nvPr/>
        </p:nvSpPr>
        <p:spPr>
          <a:xfrm>
            <a:off x="10096348" y="2240280"/>
            <a:ext cx="640080" cy="640080"/>
          </a:xfrm>
          <a:prstGeom prst="rect">
            <a:avLst/>
          </a:prstGeom>
          <a:noFill/>
          <a:ln/>
        </p:spPr>
        <p:txBody>
          <a:bodyPr wrap="square" lIns="0" tIns="0" rIns="0" bIns="0" rtlCol="0" anchor="ctr"/>
          <a:lstStyle/>
          <a:p>
            <a:pPr algn="ctr" indent="0" marL="0">
              <a:buNone/>
            </a:pPr>
            <a:r>
              <a:rPr lang="en-US" sz="2000" b="1" dirty="0">
                <a:solidFill>
                  <a:srgbClr val="1F2224"/>
                </a:solidFill>
              </a:rPr>
              <a:t>4</a:t>
            </a:r>
            <a:endParaRPr lang="en-US" sz="2000" dirty="0"/>
          </a:p>
        </p:txBody>
      </p:sp>
      <p:sp>
        <p:nvSpPr>
          <p:cNvPr id="21" name="Text 19"/>
          <p:cNvSpPr txBox="1"/>
          <p:nvPr/>
        </p:nvSpPr>
        <p:spPr>
          <a:xfrm>
            <a:off x="9227668" y="3108960"/>
            <a:ext cx="2377440" cy="548640"/>
          </a:xfrm>
          <a:prstGeom prst="rect">
            <a:avLst/>
          </a:prstGeom>
          <a:noFill/>
          <a:ln/>
        </p:spPr>
        <p:txBody>
          <a:bodyPr wrap="square" lIns="0" tIns="0" rIns="0" bIns="0" rtlCol="0" anchor="t"/>
          <a:lstStyle/>
          <a:p>
            <a:pPr algn="ctr" indent="0" marL="0">
              <a:buNone/>
            </a:pPr>
            <a:r>
              <a:rPr lang="en-US" sz="2400" b="1" spc="200" kern="0" dirty="0">
                <a:solidFill>
                  <a:srgbClr val="B9C4C4"/>
                </a:solidFill>
              </a:rPr>
              <a:t>FORM</a:t>
            </a:r>
            <a:endParaRPr lang="en-US" sz="2400" dirty="0"/>
          </a:p>
        </p:txBody>
      </p:sp>
      <p:sp>
        <p:nvSpPr>
          <p:cNvPr id="22" name="Text 20"/>
          <p:cNvSpPr txBox="1"/>
          <p:nvPr/>
        </p:nvSpPr>
        <p:spPr>
          <a:xfrm>
            <a:off x="9227668" y="3703320"/>
            <a:ext cx="2377440" cy="731520"/>
          </a:xfrm>
          <a:prstGeom prst="rect">
            <a:avLst/>
          </a:prstGeom>
          <a:noFill/>
          <a:ln/>
        </p:spPr>
        <p:txBody>
          <a:bodyPr wrap="square" lIns="0" tIns="0" rIns="0" bIns="0" rtlCol="0" anchor="t"/>
          <a:lstStyle/>
          <a:p>
            <a:pPr rtl="1" algn="ctr" indent="0" marL="0">
              <a:buNone/>
            </a:pPr>
            <a:r>
              <a:rPr lang="ar-SA" altLang="en-US" sz="1600" dirty="0">
                <a:solidFill>
                  <a:srgbClr val="FFFFFF"/>
                </a:solidFill>
              </a:rPr>
              <a:t>كيف سيظهر الفراغ؟</a:t>
            </a:r>
            <a:endParaRPr lang="ar-SA" sz="1600" dirty="0"/>
          </a:p>
        </p:txBody>
      </p:sp>
      <p:sp>
        <p:nvSpPr>
          <p:cNvPr id="23" name="rule"/>
          <p:cNvSpPr/>
          <p:nvPr/>
        </p:nvSpPr>
        <p:spPr>
          <a:xfrm>
            <a:off x="586588" y="4800600"/>
            <a:ext cx="11018520" cy="0"/>
          </a:xfrm>
          <a:prstGeom prst="line">
            <a:avLst/>
          </a:prstGeom>
          <a:noFill/>
          <a:ln w="9525">
            <a:solidFill>
              <a:srgbClr val="3A4146"/>
            </a:solidFill>
            <a:prstDash val="solid"/>
          </a:ln>
        </p:spPr>
      </p:sp>
      <p:sp>
        <p:nvSpPr>
          <p:cNvPr id="24" name="Text 22"/>
          <p:cNvSpPr txBox="1"/>
          <p:nvPr/>
        </p:nvSpPr>
        <p:spPr>
          <a:xfrm>
            <a:off x="548640" y="5029200"/>
            <a:ext cx="11094415" cy="548640"/>
          </a:xfrm>
          <a:prstGeom prst="rect">
            <a:avLst/>
          </a:prstGeom>
          <a:noFill/>
          <a:ln/>
        </p:spPr>
        <p:txBody>
          <a:bodyPr wrap="square" lIns="0" tIns="0" rIns="0" bIns="0" rtlCol="0" anchor="t"/>
          <a:lstStyle/>
          <a:p>
            <a:pPr rtl="1" algn="ctr" indent="0" marL="0">
              <a:buNone/>
            </a:pPr>
            <a:r>
              <a:rPr lang="ar-SA" altLang="en-US" sz="2400" b="1" dirty="0">
                <a:solidFill>
                  <a:srgbClr val="FFFFFF"/>
                </a:solidFill>
              </a:rPr>
              <a:t>الشكل نتيجة، وليس نقطة البداية.</a:t>
            </a:r>
            <a:endParaRPr lang="ar-SA" sz="2400" dirty="0"/>
          </a:p>
        </p:txBody>
      </p:sp>
      <p:sp>
        <p:nvSpPr>
          <p:cNvPr id="25" name="Text 23"/>
          <p:cNvSpPr txBox="1"/>
          <p:nvPr/>
        </p:nvSpPr>
        <p:spPr>
          <a:xfrm>
            <a:off x="548640" y="5577840"/>
            <a:ext cx="11094415" cy="365760"/>
          </a:xfrm>
          <a:prstGeom prst="rect">
            <a:avLst/>
          </a:prstGeom>
          <a:noFill/>
          <a:ln/>
        </p:spPr>
        <p:txBody>
          <a:bodyPr wrap="square" lIns="0" tIns="0" rIns="0" bIns="0" rtlCol="0" anchor="t"/>
          <a:lstStyle/>
          <a:p>
            <a:pPr algn="ctr" indent="0" marL="0">
              <a:buNone/>
            </a:pPr>
            <a:r>
              <a:rPr lang="en-US" sz="1400" i="1" dirty="0">
                <a:solidFill>
                  <a:srgbClr val="8A9A9B"/>
                </a:solidFill>
              </a:rPr>
              <a:t>Form follows the function, the space and the experience.</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17 — EXERCISE 01: READ A SPACE</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تمرين المحاضرة الأولى: اقرأ فراغًا</a:t>
            </a:r>
            <a:endParaRPr lang="ar-SA" sz="3200" dirty="0"/>
          </a:p>
        </p:txBody>
      </p:sp>
      <p:sp>
        <p:nvSpPr>
          <p:cNvPr id="4" name="Text 2"/>
          <p:cNvSpPr txBox="1"/>
          <p:nvPr/>
        </p:nvSpPr>
        <p:spPr>
          <a:xfrm>
            <a:off x="4572000" y="1463040"/>
            <a:ext cx="7071055" cy="365760"/>
          </a:xfrm>
          <a:prstGeom prst="rect">
            <a:avLst/>
          </a:prstGeom>
          <a:noFill/>
          <a:ln/>
        </p:spPr>
        <p:txBody>
          <a:bodyPr wrap="square" lIns="0" tIns="0" rIns="0" bIns="0" rtlCol="0" anchor="t"/>
          <a:lstStyle/>
          <a:p>
            <a:pPr rtl="1" algn="r" indent="0" marL="0">
              <a:buNone/>
            </a:pPr>
            <a:r>
              <a:rPr lang="ar-SA" altLang="en-US" sz="1500" dirty="0">
                <a:solidFill>
                  <a:srgbClr val="3A4146"/>
                </a:solidFill>
              </a:rPr>
              <a:t>كل طالب يختار غرفة واحدة ويعمل تحليلًا بسيطًا لها:</a:t>
            </a:r>
            <a:endParaRPr lang="ar-SA" sz="1500" dirty="0"/>
          </a:p>
        </p:txBody>
      </p:sp>
      <p:sp>
        <p:nvSpPr>
          <p:cNvPr id="5" name="room option Bedroom"/>
          <p:cNvSpPr/>
          <p:nvPr/>
        </p:nvSpPr>
        <p:spPr>
          <a:xfrm>
            <a:off x="10042855" y="1874520"/>
            <a:ext cx="1600200" cy="384048"/>
          </a:xfrm>
          <a:prstGeom prst="roundRect">
            <a:avLst>
              <a:gd name="adj" fmla="val 47619"/>
            </a:avLst>
          </a:prstGeom>
          <a:solidFill>
            <a:schemeClr val="bg2"/>
          </a:solidFill>
          <a:ln w="9525">
            <a:solidFill>
              <a:srgbClr val="B9C4C4"/>
            </a:solidFill>
            <a:prstDash val="solid"/>
          </a:ln>
        </p:spPr>
      </p:sp>
      <p:sp>
        <p:nvSpPr>
          <p:cNvPr id="6" name="Text 4"/>
          <p:cNvSpPr txBox="1"/>
          <p:nvPr/>
        </p:nvSpPr>
        <p:spPr>
          <a:xfrm>
            <a:off x="10042855" y="1874520"/>
            <a:ext cx="1600200" cy="384048"/>
          </a:xfrm>
          <a:prstGeom prst="rect">
            <a:avLst/>
          </a:prstGeom>
          <a:noFill/>
          <a:ln/>
        </p:spPr>
        <p:txBody>
          <a:bodyPr wrap="square" lIns="0" tIns="0" rIns="0" bIns="0" rtlCol="0" anchor="ctr"/>
          <a:lstStyle/>
          <a:p>
            <a:pPr algn="ctr" indent="0" marL="0">
              <a:buNone/>
            </a:pPr>
            <a:r>
              <a:rPr lang="en-US" sz="1200" b="1" dirty="0">
                <a:solidFill>
                  <a:srgbClr val="2F6B6A"/>
                </a:solidFill>
              </a:rPr>
              <a:t>Bedroom</a:t>
            </a:r>
            <a:endParaRPr lang="en-US" sz="1200" dirty="0"/>
          </a:p>
        </p:txBody>
      </p:sp>
      <p:sp>
        <p:nvSpPr>
          <p:cNvPr id="7" name="room option Living Room"/>
          <p:cNvSpPr/>
          <p:nvPr/>
        </p:nvSpPr>
        <p:spPr>
          <a:xfrm>
            <a:off x="8351215" y="1874520"/>
            <a:ext cx="1600200" cy="384048"/>
          </a:xfrm>
          <a:prstGeom prst="roundRect">
            <a:avLst>
              <a:gd name="adj" fmla="val 47619"/>
            </a:avLst>
          </a:prstGeom>
          <a:solidFill>
            <a:schemeClr val="bg2"/>
          </a:solidFill>
          <a:ln w="9525">
            <a:solidFill>
              <a:srgbClr val="B9C4C4"/>
            </a:solidFill>
            <a:prstDash val="solid"/>
          </a:ln>
        </p:spPr>
      </p:sp>
      <p:sp>
        <p:nvSpPr>
          <p:cNvPr id="8" name="Text 6"/>
          <p:cNvSpPr txBox="1"/>
          <p:nvPr/>
        </p:nvSpPr>
        <p:spPr>
          <a:xfrm>
            <a:off x="8351215" y="1874520"/>
            <a:ext cx="1600200" cy="384048"/>
          </a:xfrm>
          <a:prstGeom prst="rect">
            <a:avLst/>
          </a:prstGeom>
          <a:noFill/>
          <a:ln/>
        </p:spPr>
        <p:txBody>
          <a:bodyPr wrap="square" lIns="0" tIns="0" rIns="0" bIns="0" rtlCol="0" anchor="ctr"/>
          <a:lstStyle/>
          <a:p>
            <a:pPr algn="ctr" indent="0" marL="0">
              <a:buNone/>
            </a:pPr>
            <a:r>
              <a:rPr lang="en-US" sz="1200" b="1" dirty="0">
                <a:solidFill>
                  <a:srgbClr val="2F6B6A"/>
                </a:solidFill>
              </a:rPr>
              <a:t>Living Room</a:t>
            </a:r>
            <a:endParaRPr lang="en-US" sz="1200" dirty="0"/>
          </a:p>
        </p:txBody>
      </p:sp>
      <p:sp>
        <p:nvSpPr>
          <p:cNvPr id="9" name="room option Classroom"/>
          <p:cNvSpPr/>
          <p:nvPr/>
        </p:nvSpPr>
        <p:spPr>
          <a:xfrm>
            <a:off x="6659575" y="1874520"/>
            <a:ext cx="1600200" cy="384048"/>
          </a:xfrm>
          <a:prstGeom prst="roundRect">
            <a:avLst>
              <a:gd name="adj" fmla="val 47619"/>
            </a:avLst>
          </a:prstGeom>
          <a:solidFill>
            <a:schemeClr val="bg2"/>
          </a:solidFill>
          <a:ln w="9525">
            <a:solidFill>
              <a:srgbClr val="B9C4C4"/>
            </a:solidFill>
            <a:prstDash val="solid"/>
          </a:ln>
        </p:spPr>
      </p:sp>
      <p:sp>
        <p:nvSpPr>
          <p:cNvPr id="10" name="Text 8"/>
          <p:cNvSpPr txBox="1"/>
          <p:nvPr/>
        </p:nvSpPr>
        <p:spPr>
          <a:xfrm>
            <a:off x="6659575" y="1874520"/>
            <a:ext cx="1600200" cy="384048"/>
          </a:xfrm>
          <a:prstGeom prst="rect">
            <a:avLst/>
          </a:prstGeom>
          <a:noFill/>
          <a:ln/>
        </p:spPr>
        <p:txBody>
          <a:bodyPr wrap="square" lIns="0" tIns="0" rIns="0" bIns="0" rtlCol="0" anchor="ctr"/>
          <a:lstStyle/>
          <a:p>
            <a:pPr algn="ctr" indent="0" marL="0">
              <a:buNone/>
            </a:pPr>
            <a:r>
              <a:rPr lang="en-US" sz="1200" b="1" dirty="0">
                <a:solidFill>
                  <a:srgbClr val="2F6B6A"/>
                </a:solidFill>
              </a:rPr>
              <a:t>Classroom</a:t>
            </a:r>
            <a:endParaRPr lang="en-US" sz="1200" dirty="0"/>
          </a:p>
        </p:txBody>
      </p:sp>
      <p:sp>
        <p:nvSpPr>
          <p:cNvPr id="11" name="room option Office"/>
          <p:cNvSpPr/>
          <p:nvPr/>
        </p:nvSpPr>
        <p:spPr>
          <a:xfrm>
            <a:off x="4967935" y="1874520"/>
            <a:ext cx="1600200" cy="384048"/>
          </a:xfrm>
          <a:prstGeom prst="roundRect">
            <a:avLst>
              <a:gd name="adj" fmla="val 47619"/>
            </a:avLst>
          </a:prstGeom>
          <a:solidFill>
            <a:schemeClr val="bg2"/>
          </a:solidFill>
          <a:ln w="9525">
            <a:solidFill>
              <a:srgbClr val="B9C4C4"/>
            </a:solidFill>
            <a:prstDash val="solid"/>
          </a:ln>
        </p:spPr>
      </p:sp>
      <p:sp>
        <p:nvSpPr>
          <p:cNvPr id="12" name="Text 10"/>
          <p:cNvSpPr txBox="1"/>
          <p:nvPr/>
        </p:nvSpPr>
        <p:spPr>
          <a:xfrm>
            <a:off x="4967935" y="1874520"/>
            <a:ext cx="1600200" cy="384048"/>
          </a:xfrm>
          <a:prstGeom prst="rect">
            <a:avLst/>
          </a:prstGeom>
          <a:noFill/>
          <a:ln/>
        </p:spPr>
        <p:txBody>
          <a:bodyPr wrap="square" lIns="0" tIns="0" rIns="0" bIns="0" rtlCol="0" anchor="ctr"/>
          <a:lstStyle/>
          <a:p>
            <a:pPr algn="ctr" indent="0" marL="0">
              <a:buNone/>
            </a:pPr>
            <a:r>
              <a:rPr lang="en-US" sz="1200" b="1" dirty="0">
                <a:solidFill>
                  <a:srgbClr val="2F6B6A"/>
                </a:solidFill>
              </a:rPr>
              <a:t>Office</a:t>
            </a:r>
            <a:endParaRPr lang="en-US" sz="1200" dirty="0"/>
          </a:p>
        </p:txBody>
      </p:sp>
      <p:sp>
        <p:nvSpPr>
          <p:cNvPr id="13" name="step 1"/>
          <p:cNvSpPr/>
          <p:nvPr/>
        </p:nvSpPr>
        <p:spPr>
          <a:xfrm>
            <a:off x="9402775" y="2514600"/>
            <a:ext cx="2240280" cy="1234440"/>
          </a:xfrm>
          <a:prstGeom prst="roundRect">
            <a:avLst>
              <a:gd name="adj" fmla="val 5926"/>
            </a:avLst>
          </a:prstGeom>
          <a:solidFill>
            <a:schemeClr val="bg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10865815" y="2679192"/>
            <a:ext cx="640080" cy="411480"/>
          </a:xfrm>
          <a:prstGeom prst="rect">
            <a:avLst/>
          </a:prstGeom>
          <a:noFill/>
          <a:ln/>
        </p:spPr>
        <p:txBody>
          <a:bodyPr wrap="square" lIns="0" tIns="0" rIns="0" bIns="0" rtlCol="0" anchor="t"/>
          <a:lstStyle/>
          <a:p>
            <a:pPr algn="r" indent="0" marL="0">
              <a:buNone/>
            </a:pPr>
            <a:r>
              <a:rPr lang="en-US" sz="2200" b="1" dirty="0">
                <a:solidFill>
                  <a:srgbClr val="C2593A"/>
                </a:solidFill>
              </a:rPr>
              <a:t>01</a:t>
            </a:r>
            <a:endParaRPr lang="en-US" sz="2200" dirty="0"/>
          </a:p>
        </p:txBody>
      </p:sp>
      <p:sp>
        <p:nvSpPr>
          <p:cNvPr id="15" name="Text 13"/>
          <p:cNvSpPr txBox="1"/>
          <p:nvPr/>
        </p:nvSpPr>
        <p:spPr>
          <a:xfrm>
            <a:off x="9585655" y="2743200"/>
            <a:ext cx="1280160" cy="320040"/>
          </a:xfrm>
          <a:prstGeom prst="rect">
            <a:avLst/>
          </a:prstGeom>
          <a:noFill/>
          <a:ln/>
        </p:spPr>
        <p:txBody>
          <a:bodyPr wrap="square" lIns="0" tIns="0" rIns="0" bIns="0" rtlCol="0" anchor="t"/>
          <a:lstStyle/>
          <a:p>
            <a:pPr algn="l" indent="0" marL="0">
              <a:buNone/>
            </a:pPr>
            <a:r>
              <a:rPr lang="en-US" sz="1300" b="1" dirty="0">
                <a:solidFill>
                  <a:srgbClr val="1F2224"/>
                </a:solidFill>
              </a:rPr>
              <a:t>Base Plane</a:t>
            </a:r>
            <a:endParaRPr lang="en-US" sz="1300" dirty="0"/>
          </a:p>
        </p:txBody>
      </p:sp>
      <p:sp>
        <p:nvSpPr>
          <p:cNvPr id="16" name="Text 14"/>
          <p:cNvSpPr txBox="1"/>
          <p:nvPr/>
        </p:nvSpPr>
        <p:spPr>
          <a:xfrm>
            <a:off x="9585655" y="3200400"/>
            <a:ext cx="1874520" cy="365760"/>
          </a:xfrm>
          <a:prstGeom prst="rect">
            <a:avLst/>
          </a:prstGeom>
          <a:noFill/>
          <a:ln/>
        </p:spPr>
        <p:txBody>
          <a:bodyPr wrap="square" lIns="0" tIns="0" rIns="0" bIns="0" rtlCol="0" anchor="t"/>
          <a:lstStyle/>
          <a:p>
            <a:pPr rtl="1" algn="r" indent="0" marL="0">
              <a:buNone/>
            </a:pPr>
            <a:r>
              <a:rPr lang="ar-SA" altLang="en-US" sz="1500" dirty="0">
                <a:solidFill>
                  <a:srgbClr val="3A4146"/>
                </a:solidFill>
              </a:rPr>
              <a:t>حدّد الأرضية</a:t>
            </a:r>
            <a:endParaRPr lang="ar-SA" sz="1500" dirty="0"/>
          </a:p>
        </p:txBody>
      </p:sp>
      <p:sp>
        <p:nvSpPr>
          <p:cNvPr id="17" name="step 2"/>
          <p:cNvSpPr/>
          <p:nvPr/>
        </p:nvSpPr>
        <p:spPr>
          <a:xfrm>
            <a:off x="6888175" y="2514600"/>
            <a:ext cx="2240280" cy="1234440"/>
          </a:xfrm>
          <a:prstGeom prst="roundRect">
            <a:avLst>
              <a:gd name="adj" fmla="val 5926"/>
            </a:avLst>
          </a:prstGeom>
          <a:solidFill>
            <a:schemeClr val="bg2"/>
          </a:solidFill>
          <a:ln/>
          <a:effectLst>
            <a:outerShdw sx="100000" sy="100000" kx="0" ky="0" algn="bl" rotWithShape="0" blurRad="101600" dist="25400" dir="5400000">
              <a:srgbClr val="000000">
                <a:alpha val="12000"/>
              </a:srgbClr>
            </a:outerShdw>
          </a:effectLst>
        </p:spPr>
      </p:sp>
      <p:sp>
        <p:nvSpPr>
          <p:cNvPr id="18" name="Text 16"/>
          <p:cNvSpPr txBox="1"/>
          <p:nvPr/>
        </p:nvSpPr>
        <p:spPr>
          <a:xfrm>
            <a:off x="8351215" y="2679192"/>
            <a:ext cx="640080" cy="411480"/>
          </a:xfrm>
          <a:prstGeom prst="rect">
            <a:avLst/>
          </a:prstGeom>
          <a:noFill/>
          <a:ln/>
        </p:spPr>
        <p:txBody>
          <a:bodyPr wrap="square" lIns="0" tIns="0" rIns="0" bIns="0" rtlCol="0" anchor="t"/>
          <a:lstStyle/>
          <a:p>
            <a:pPr algn="r" indent="0" marL="0">
              <a:buNone/>
            </a:pPr>
            <a:r>
              <a:rPr lang="en-US" sz="2200" b="1" dirty="0">
                <a:solidFill>
                  <a:srgbClr val="C2593A"/>
                </a:solidFill>
              </a:rPr>
              <a:t>02</a:t>
            </a:r>
            <a:endParaRPr lang="en-US" sz="2200" dirty="0"/>
          </a:p>
        </p:txBody>
      </p:sp>
      <p:sp>
        <p:nvSpPr>
          <p:cNvPr id="19" name="Text 17"/>
          <p:cNvSpPr txBox="1"/>
          <p:nvPr/>
        </p:nvSpPr>
        <p:spPr>
          <a:xfrm>
            <a:off x="7071055" y="2743200"/>
            <a:ext cx="1280160" cy="320040"/>
          </a:xfrm>
          <a:prstGeom prst="rect">
            <a:avLst/>
          </a:prstGeom>
          <a:noFill/>
          <a:ln/>
        </p:spPr>
        <p:txBody>
          <a:bodyPr wrap="square" lIns="0" tIns="0" rIns="0" bIns="0" rtlCol="0" anchor="t"/>
          <a:lstStyle/>
          <a:p>
            <a:pPr algn="l" indent="0" marL="0">
              <a:buNone/>
            </a:pPr>
            <a:r>
              <a:rPr lang="en-US" sz="1300" b="1" dirty="0">
                <a:solidFill>
                  <a:srgbClr val="1F2224"/>
                </a:solidFill>
              </a:rPr>
              <a:t>Vertical Planes</a:t>
            </a:r>
            <a:endParaRPr lang="en-US" sz="1300" dirty="0"/>
          </a:p>
        </p:txBody>
      </p:sp>
      <p:sp>
        <p:nvSpPr>
          <p:cNvPr id="20" name="Text 18"/>
          <p:cNvSpPr txBox="1"/>
          <p:nvPr/>
        </p:nvSpPr>
        <p:spPr>
          <a:xfrm>
            <a:off x="7071055" y="3200400"/>
            <a:ext cx="1874520" cy="365760"/>
          </a:xfrm>
          <a:prstGeom prst="rect">
            <a:avLst/>
          </a:prstGeom>
          <a:noFill/>
          <a:ln/>
        </p:spPr>
        <p:txBody>
          <a:bodyPr wrap="square" lIns="0" tIns="0" rIns="0" bIns="0" rtlCol="0" anchor="t"/>
          <a:lstStyle/>
          <a:p>
            <a:pPr rtl="1" algn="r" indent="0" marL="0">
              <a:buNone/>
            </a:pPr>
            <a:r>
              <a:rPr lang="ar-SA" altLang="en-US" sz="1500" dirty="0">
                <a:solidFill>
                  <a:srgbClr val="3A4146"/>
                </a:solidFill>
              </a:rPr>
              <a:t>حدّد الجدران</a:t>
            </a:r>
            <a:endParaRPr lang="ar-SA" sz="1500" dirty="0"/>
          </a:p>
        </p:txBody>
      </p:sp>
      <p:sp>
        <p:nvSpPr>
          <p:cNvPr id="21" name="step 3"/>
          <p:cNvSpPr/>
          <p:nvPr/>
        </p:nvSpPr>
        <p:spPr>
          <a:xfrm>
            <a:off x="4373575" y="2514600"/>
            <a:ext cx="2240280" cy="1234440"/>
          </a:xfrm>
          <a:prstGeom prst="roundRect">
            <a:avLst>
              <a:gd name="adj" fmla="val 5926"/>
            </a:avLst>
          </a:prstGeom>
          <a:solidFill>
            <a:schemeClr val="bg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5836615" y="2679192"/>
            <a:ext cx="640080" cy="411480"/>
          </a:xfrm>
          <a:prstGeom prst="rect">
            <a:avLst/>
          </a:prstGeom>
          <a:noFill/>
          <a:ln/>
        </p:spPr>
        <p:txBody>
          <a:bodyPr wrap="square" lIns="0" tIns="0" rIns="0" bIns="0" rtlCol="0" anchor="t"/>
          <a:lstStyle/>
          <a:p>
            <a:pPr algn="r" indent="0" marL="0">
              <a:buNone/>
            </a:pPr>
            <a:r>
              <a:rPr lang="en-US" sz="2200" b="1" dirty="0">
                <a:solidFill>
                  <a:srgbClr val="C2593A"/>
                </a:solidFill>
              </a:rPr>
              <a:t>03</a:t>
            </a:r>
            <a:endParaRPr lang="en-US" sz="2200" dirty="0"/>
          </a:p>
        </p:txBody>
      </p:sp>
      <p:sp>
        <p:nvSpPr>
          <p:cNvPr id="23" name="Text 21"/>
          <p:cNvSpPr txBox="1"/>
          <p:nvPr/>
        </p:nvSpPr>
        <p:spPr>
          <a:xfrm>
            <a:off x="4556455" y="2743200"/>
            <a:ext cx="1280160" cy="320040"/>
          </a:xfrm>
          <a:prstGeom prst="rect">
            <a:avLst/>
          </a:prstGeom>
          <a:noFill/>
          <a:ln/>
        </p:spPr>
        <p:txBody>
          <a:bodyPr wrap="square" lIns="0" tIns="0" rIns="0" bIns="0" rtlCol="0" anchor="t"/>
          <a:lstStyle/>
          <a:p>
            <a:pPr algn="l" indent="0" marL="0">
              <a:buNone/>
            </a:pPr>
            <a:r>
              <a:rPr lang="en-US" sz="1300" b="1" dirty="0">
                <a:solidFill>
                  <a:srgbClr val="1F2224"/>
                </a:solidFill>
              </a:rPr>
              <a:t>Overhead Plane</a:t>
            </a:r>
            <a:endParaRPr lang="en-US" sz="1300" dirty="0"/>
          </a:p>
        </p:txBody>
      </p:sp>
      <p:sp>
        <p:nvSpPr>
          <p:cNvPr id="24" name="Text 22"/>
          <p:cNvSpPr txBox="1"/>
          <p:nvPr/>
        </p:nvSpPr>
        <p:spPr>
          <a:xfrm>
            <a:off x="4556455" y="3200400"/>
            <a:ext cx="1874520" cy="365760"/>
          </a:xfrm>
          <a:prstGeom prst="rect">
            <a:avLst/>
          </a:prstGeom>
          <a:noFill/>
          <a:ln/>
        </p:spPr>
        <p:txBody>
          <a:bodyPr wrap="square" lIns="0" tIns="0" rIns="0" bIns="0" rtlCol="0" anchor="t"/>
          <a:lstStyle/>
          <a:p>
            <a:pPr rtl="1" algn="r" indent="0" marL="0">
              <a:buNone/>
            </a:pPr>
            <a:r>
              <a:rPr lang="ar-SA" altLang="en-US" sz="1500" dirty="0">
                <a:solidFill>
                  <a:srgbClr val="3A4146"/>
                </a:solidFill>
              </a:rPr>
              <a:t>حدّد السقف</a:t>
            </a:r>
            <a:endParaRPr lang="ar-SA" sz="1500" dirty="0"/>
          </a:p>
        </p:txBody>
      </p:sp>
      <p:sp>
        <p:nvSpPr>
          <p:cNvPr id="25" name="step 4"/>
          <p:cNvSpPr/>
          <p:nvPr/>
        </p:nvSpPr>
        <p:spPr>
          <a:xfrm>
            <a:off x="9402775" y="4023360"/>
            <a:ext cx="2240280" cy="1234440"/>
          </a:xfrm>
          <a:prstGeom prst="roundRect">
            <a:avLst>
              <a:gd name="adj" fmla="val 5926"/>
            </a:avLst>
          </a:prstGeom>
          <a:solidFill>
            <a:schemeClr val="bg2"/>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10865815" y="4187952"/>
            <a:ext cx="640080" cy="411480"/>
          </a:xfrm>
          <a:prstGeom prst="rect">
            <a:avLst/>
          </a:prstGeom>
          <a:noFill/>
          <a:ln/>
        </p:spPr>
        <p:txBody>
          <a:bodyPr wrap="square" lIns="0" tIns="0" rIns="0" bIns="0" rtlCol="0" anchor="t"/>
          <a:lstStyle/>
          <a:p>
            <a:pPr algn="r" indent="0" marL="0">
              <a:buNone/>
            </a:pPr>
            <a:r>
              <a:rPr lang="en-US" sz="2200" b="1" dirty="0">
                <a:solidFill>
                  <a:srgbClr val="C2593A"/>
                </a:solidFill>
              </a:rPr>
              <a:t>04</a:t>
            </a:r>
            <a:endParaRPr lang="en-US" sz="2200" dirty="0"/>
          </a:p>
        </p:txBody>
      </p:sp>
      <p:sp>
        <p:nvSpPr>
          <p:cNvPr id="27" name="Text 25"/>
          <p:cNvSpPr txBox="1"/>
          <p:nvPr/>
        </p:nvSpPr>
        <p:spPr>
          <a:xfrm>
            <a:off x="9585655" y="4251960"/>
            <a:ext cx="1280160" cy="320040"/>
          </a:xfrm>
          <a:prstGeom prst="rect">
            <a:avLst/>
          </a:prstGeom>
          <a:noFill/>
          <a:ln/>
        </p:spPr>
        <p:txBody>
          <a:bodyPr wrap="square" lIns="0" tIns="0" rIns="0" bIns="0" rtlCol="0" anchor="t"/>
          <a:lstStyle/>
          <a:p>
            <a:pPr algn="l" indent="0" marL="0">
              <a:buNone/>
            </a:pPr>
            <a:r>
              <a:rPr lang="en-US" sz="1300" b="1" dirty="0">
                <a:solidFill>
                  <a:srgbClr val="1F2224"/>
                </a:solidFill>
              </a:rPr>
              <a:t>Openings</a:t>
            </a:r>
            <a:endParaRPr lang="en-US" sz="1300" dirty="0"/>
          </a:p>
        </p:txBody>
      </p:sp>
      <p:sp>
        <p:nvSpPr>
          <p:cNvPr id="28" name="Text 26"/>
          <p:cNvSpPr txBox="1"/>
          <p:nvPr/>
        </p:nvSpPr>
        <p:spPr>
          <a:xfrm>
            <a:off x="9585655" y="4709160"/>
            <a:ext cx="1874520" cy="365760"/>
          </a:xfrm>
          <a:prstGeom prst="rect">
            <a:avLst/>
          </a:prstGeom>
          <a:noFill/>
          <a:ln/>
        </p:spPr>
        <p:txBody>
          <a:bodyPr wrap="square" lIns="0" tIns="0" rIns="0" bIns="0" rtlCol="0" anchor="t"/>
          <a:lstStyle/>
          <a:p>
            <a:pPr rtl="1" algn="r" indent="0" marL="0">
              <a:buNone/>
            </a:pPr>
            <a:r>
              <a:rPr lang="ar-SA" altLang="en-US" sz="1500" dirty="0">
                <a:solidFill>
                  <a:srgbClr val="3A4146"/>
                </a:solidFill>
              </a:rPr>
              <a:t>حدّد الفتحات</a:t>
            </a:r>
            <a:endParaRPr lang="ar-SA" sz="1500" dirty="0"/>
          </a:p>
        </p:txBody>
      </p:sp>
      <p:sp>
        <p:nvSpPr>
          <p:cNvPr id="29" name="step 5"/>
          <p:cNvSpPr/>
          <p:nvPr/>
        </p:nvSpPr>
        <p:spPr>
          <a:xfrm>
            <a:off x="6888175" y="4023360"/>
            <a:ext cx="2240280" cy="1234440"/>
          </a:xfrm>
          <a:prstGeom prst="roundRect">
            <a:avLst>
              <a:gd name="adj" fmla="val 5926"/>
            </a:avLst>
          </a:prstGeom>
          <a:solidFill>
            <a:schemeClr val="bg2"/>
          </a:solidFill>
          <a:ln/>
          <a:effectLst>
            <a:outerShdw sx="100000" sy="100000" kx="0" ky="0" algn="bl" rotWithShape="0" blurRad="101600" dist="25400" dir="5400000">
              <a:srgbClr val="000000">
                <a:alpha val="12000"/>
              </a:srgbClr>
            </a:outerShdw>
          </a:effectLst>
        </p:spPr>
      </p:sp>
      <p:sp>
        <p:nvSpPr>
          <p:cNvPr id="30" name="Text 28"/>
          <p:cNvSpPr txBox="1"/>
          <p:nvPr/>
        </p:nvSpPr>
        <p:spPr>
          <a:xfrm>
            <a:off x="8351215" y="4187952"/>
            <a:ext cx="640080" cy="411480"/>
          </a:xfrm>
          <a:prstGeom prst="rect">
            <a:avLst/>
          </a:prstGeom>
          <a:noFill/>
          <a:ln/>
        </p:spPr>
        <p:txBody>
          <a:bodyPr wrap="square" lIns="0" tIns="0" rIns="0" bIns="0" rtlCol="0" anchor="t"/>
          <a:lstStyle/>
          <a:p>
            <a:pPr algn="r" indent="0" marL="0">
              <a:buNone/>
            </a:pPr>
            <a:r>
              <a:rPr lang="en-US" sz="2200" b="1" dirty="0">
                <a:solidFill>
                  <a:srgbClr val="C2593A"/>
                </a:solidFill>
              </a:rPr>
              <a:t>05</a:t>
            </a:r>
            <a:endParaRPr lang="en-US" sz="2200" dirty="0"/>
          </a:p>
        </p:txBody>
      </p:sp>
      <p:sp>
        <p:nvSpPr>
          <p:cNvPr id="31" name="Text 29"/>
          <p:cNvSpPr txBox="1"/>
          <p:nvPr/>
        </p:nvSpPr>
        <p:spPr>
          <a:xfrm>
            <a:off x="7071055" y="4251960"/>
            <a:ext cx="1280160" cy="320040"/>
          </a:xfrm>
          <a:prstGeom prst="rect">
            <a:avLst/>
          </a:prstGeom>
          <a:noFill/>
          <a:ln/>
        </p:spPr>
        <p:txBody>
          <a:bodyPr wrap="square" lIns="0" tIns="0" rIns="0" bIns="0" rtlCol="0" anchor="t"/>
          <a:lstStyle/>
          <a:p>
            <a:pPr algn="l" indent="0" marL="0">
              <a:buNone/>
            </a:pPr>
            <a:r>
              <a:rPr lang="en-US" sz="1300" b="1" dirty="0">
                <a:solidFill>
                  <a:srgbClr val="1F2224"/>
                </a:solidFill>
              </a:rPr>
              <a:t>Circulation</a:t>
            </a:r>
            <a:endParaRPr lang="en-US" sz="1300" dirty="0"/>
          </a:p>
        </p:txBody>
      </p:sp>
      <p:sp>
        <p:nvSpPr>
          <p:cNvPr id="32" name="Text 30"/>
          <p:cNvSpPr txBox="1"/>
          <p:nvPr/>
        </p:nvSpPr>
        <p:spPr>
          <a:xfrm>
            <a:off x="7071055" y="4709160"/>
            <a:ext cx="1874520" cy="365760"/>
          </a:xfrm>
          <a:prstGeom prst="rect">
            <a:avLst/>
          </a:prstGeom>
          <a:noFill/>
          <a:ln/>
        </p:spPr>
        <p:txBody>
          <a:bodyPr wrap="square" lIns="0" tIns="0" rIns="0" bIns="0" rtlCol="0" anchor="t"/>
          <a:lstStyle/>
          <a:p>
            <a:pPr rtl="1" algn="r" indent="0" marL="0">
              <a:buNone/>
            </a:pPr>
            <a:r>
              <a:rPr lang="ar-SA" altLang="en-US" sz="1500" dirty="0">
                <a:solidFill>
                  <a:srgbClr val="3A4146"/>
                </a:solidFill>
              </a:rPr>
              <a:t>حدّد مسار الحركة</a:t>
            </a:r>
            <a:endParaRPr lang="ar-SA" sz="1500" dirty="0"/>
          </a:p>
        </p:txBody>
      </p:sp>
      <p:sp>
        <p:nvSpPr>
          <p:cNvPr id="33" name="step 6"/>
          <p:cNvSpPr/>
          <p:nvPr/>
        </p:nvSpPr>
        <p:spPr>
          <a:xfrm>
            <a:off x="4373575" y="4023360"/>
            <a:ext cx="2240280" cy="1234440"/>
          </a:xfrm>
          <a:prstGeom prst="roundRect">
            <a:avLst>
              <a:gd name="adj" fmla="val 5926"/>
            </a:avLst>
          </a:prstGeom>
          <a:solidFill>
            <a:schemeClr val="bg2"/>
          </a:solidFill>
          <a:ln/>
          <a:effectLst>
            <a:outerShdw sx="100000" sy="100000" kx="0" ky="0" algn="bl" rotWithShape="0" blurRad="101600" dist="25400" dir="5400000">
              <a:srgbClr val="000000">
                <a:alpha val="12000"/>
              </a:srgbClr>
            </a:outerShdw>
          </a:effectLst>
        </p:spPr>
      </p:sp>
      <p:sp>
        <p:nvSpPr>
          <p:cNvPr id="34" name="Text 32"/>
          <p:cNvSpPr txBox="1"/>
          <p:nvPr/>
        </p:nvSpPr>
        <p:spPr>
          <a:xfrm>
            <a:off x="5836615" y="4187952"/>
            <a:ext cx="640080" cy="411480"/>
          </a:xfrm>
          <a:prstGeom prst="rect">
            <a:avLst/>
          </a:prstGeom>
          <a:noFill/>
          <a:ln/>
        </p:spPr>
        <p:txBody>
          <a:bodyPr wrap="square" lIns="0" tIns="0" rIns="0" bIns="0" rtlCol="0" anchor="t"/>
          <a:lstStyle/>
          <a:p>
            <a:pPr algn="r" indent="0" marL="0">
              <a:buNone/>
            </a:pPr>
            <a:r>
              <a:rPr lang="en-US" sz="2200" b="1" dirty="0">
                <a:solidFill>
                  <a:srgbClr val="C2593A"/>
                </a:solidFill>
              </a:rPr>
              <a:t>06</a:t>
            </a:r>
            <a:endParaRPr lang="en-US" sz="2200" dirty="0"/>
          </a:p>
        </p:txBody>
      </p:sp>
      <p:sp>
        <p:nvSpPr>
          <p:cNvPr id="35" name="Text 33"/>
          <p:cNvSpPr txBox="1"/>
          <p:nvPr/>
        </p:nvSpPr>
        <p:spPr>
          <a:xfrm>
            <a:off x="4556455" y="4251960"/>
            <a:ext cx="1280160" cy="320040"/>
          </a:xfrm>
          <a:prstGeom prst="rect">
            <a:avLst/>
          </a:prstGeom>
          <a:noFill/>
          <a:ln/>
        </p:spPr>
        <p:txBody>
          <a:bodyPr wrap="square" lIns="0" tIns="0" rIns="0" bIns="0" rtlCol="0" anchor="t"/>
          <a:lstStyle/>
          <a:p>
            <a:pPr algn="l" indent="0" marL="0">
              <a:buNone/>
            </a:pPr>
            <a:r>
              <a:rPr lang="en-US" sz="1300" b="1" dirty="0">
                <a:solidFill>
                  <a:srgbClr val="1F2224"/>
                </a:solidFill>
              </a:rPr>
              <a:t>Function</a:t>
            </a:r>
            <a:endParaRPr lang="en-US" sz="1300" dirty="0"/>
          </a:p>
        </p:txBody>
      </p:sp>
      <p:sp>
        <p:nvSpPr>
          <p:cNvPr id="36" name="Text 34"/>
          <p:cNvSpPr txBox="1"/>
          <p:nvPr/>
        </p:nvSpPr>
        <p:spPr>
          <a:xfrm>
            <a:off x="4556455" y="4709160"/>
            <a:ext cx="1874520" cy="365760"/>
          </a:xfrm>
          <a:prstGeom prst="rect">
            <a:avLst/>
          </a:prstGeom>
          <a:noFill/>
          <a:ln/>
        </p:spPr>
        <p:txBody>
          <a:bodyPr wrap="square" lIns="0" tIns="0" rIns="0" bIns="0" rtlCol="0" anchor="t"/>
          <a:lstStyle/>
          <a:p>
            <a:pPr rtl="1" algn="r" indent="0" marL="0">
              <a:buNone/>
            </a:pPr>
            <a:r>
              <a:rPr lang="ar-SA" altLang="en-US" sz="1500" dirty="0">
                <a:solidFill>
                  <a:srgbClr val="3A4146"/>
                </a:solidFill>
              </a:rPr>
              <a:t>حدّد الوظيفة</a:t>
            </a:r>
            <a:endParaRPr lang="ar-SA" sz="1500" dirty="0"/>
          </a:p>
        </p:txBody>
      </p:sp>
      <p:sp>
        <p:nvSpPr>
          <p:cNvPr id="37" name="question panel"/>
          <p:cNvSpPr/>
          <p:nvPr/>
        </p:nvSpPr>
        <p:spPr>
          <a:xfrm>
            <a:off x="548640" y="1508760"/>
            <a:ext cx="3459175" cy="2103120"/>
          </a:xfrm>
          <a:prstGeom prst="rect">
            <a:avLst/>
          </a:prstGeom>
          <a:solidFill>
            <a:schemeClr val="tx1"/>
          </a:solidFill>
          <a:ln/>
        </p:spPr>
      </p:sp>
      <p:sp>
        <p:nvSpPr>
          <p:cNvPr id="38" name="Text 36"/>
          <p:cNvSpPr txBox="1"/>
          <p:nvPr/>
        </p:nvSpPr>
        <p:spPr>
          <a:xfrm>
            <a:off x="822960" y="1645920"/>
            <a:ext cx="2910535" cy="320040"/>
          </a:xfrm>
          <a:prstGeom prst="rect">
            <a:avLst/>
          </a:prstGeom>
          <a:noFill/>
          <a:ln/>
        </p:spPr>
        <p:txBody>
          <a:bodyPr wrap="square" lIns="0" tIns="0" rIns="0" bIns="0" rtlCol="0" anchor="t"/>
          <a:lstStyle/>
          <a:p>
            <a:pPr rtl="1" algn="r" indent="0" marL="0">
              <a:buNone/>
            </a:pPr>
            <a:r>
              <a:rPr lang="ar-SA" altLang="en-US" sz="1300" dirty="0">
                <a:solidFill>
                  <a:srgbClr val="B9C4C4"/>
                </a:solidFill>
              </a:rPr>
              <a:t>ثم يكتب سؤالًا واحدًا:</a:t>
            </a:r>
            <a:endParaRPr lang="ar-SA" sz="1300" dirty="0"/>
          </a:p>
        </p:txBody>
      </p:sp>
      <p:sp>
        <p:nvSpPr>
          <p:cNvPr id="39" name="Text 37"/>
          <p:cNvSpPr txBox="1"/>
          <p:nvPr/>
        </p:nvSpPr>
        <p:spPr>
          <a:xfrm>
            <a:off x="822960" y="2011680"/>
            <a:ext cx="2910535" cy="914400"/>
          </a:xfrm>
          <a:prstGeom prst="rect">
            <a:avLst/>
          </a:prstGeom>
          <a:noFill/>
          <a:ln/>
        </p:spPr>
        <p:txBody>
          <a:bodyPr wrap="square" lIns="0" tIns="0" rIns="0" bIns="0" rtlCol="0" anchor="t"/>
          <a:lstStyle/>
          <a:p>
            <a:pPr algn="r" indent="0" marL="0">
              <a:buNone/>
            </a:pPr>
            <a:r>
              <a:rPr lang="en-US" sz="2200" b="1" dirty="0">
                <a:solidFill>
                  <a:srgbClr val="FFFFFF"/>
                </a:solidFill>
              </a:rPr>
              <a:t>What makes this space work?</a:t>
            </a:r>
            <a:endParaRPr lang="en-US" sz="2200" dirty="0"/>
          </a:p>
        </p:txBody>
      </p:sp>
      <p:sp>
        <p:nvSpPr>
          <p:cNvPr id="40" name="Text 38"/>
          <p:cNvSpPr txBox="1"/>
          <p:nvPr/>
        </p:nvSpPr>
        <p:spPr>
          <a:xfrm>
            <a:off x="822960" y="2971800"/>
            <a:ext cx="2910535" cy="365760"/>
          </a:xfrm>
          <a:prstGeom prst="rect">
            <a:avLst/>
          </a:prstGeom>
          <a:noFill/>
          <a:ln/>
        </p:spPr>
        <p:txBody>
          <a:bodyPr wrap="square" lIns="0" tIns="0" rIns="0" bIns="0" rtlCol="0" anchor="t"/>
          <a:lstStyle/>
          <a:p>
            <a:pPr rtl="1" algn="r" indent="0" marL="0">
              <a:buNone/>
            </a:pPr>
            <a:r>
              <a:rPr lang="ar-SA" altLang="en-US" sz="1400" dirty="0">
                <a:solidFill>
                  <a:srgbClr val="D9A441"/>
                </a:solidFill>
              </a:rPr>
              <a:t>ما الذي يجعل هذا الفراغ يعمل؟</a:t>
            </a:r>
            <a:endParaRPr lang="ar-SA" sz="1400" dirty="0"/>
          </a:p>
        </p:txBody>
      </p:sp>
      <p:sp>
        <p:nvSpPr>
          <p:cNvPr id="41" name="deliverable"/>
          <p:cNvSpPr/>
          <p:nvPr/>
        </p:nvSpPr>
        <p:spPr>
          <a:xfrm>
            <a:off x="548640" y="3794760"/>
            <a:ext cx="3459175" cy="2377440"/>
          </a:xfrm>
          <a:prstGeom prst="roundRect">
            <a:avLst>
              <a:gd name="adj" fmla="val 3077"/>
            </a:avLst>
          </a:prstGeom>
          <a:solidFill>
            <a:schemeClr val="bg2"/>
          </a:solidFill>
          <a:ln/>
          <a:effectLst>
            <a:outerShdw sx="100000" sy="100000" kx="0" ky="0" algn="bl" rotWithShape="0" blurRad="101600" dist="25400" dir="5400000">
              <a:srgbClr val="000000">
                <a:alpha val="12000"/>
              </a:srgbClr>
            </a:outerShdw>
          </a:effectLst>
        </p:spPr>
      </p:sp>
      <p:sp>
        <p:nvSpPr>
          <p:cNvPr id="42" name="Text 40"/>
          <p:cNvSpPr txBox="1"/>
          <p:nvPr/>
        </p:nvSpPr>
        <p:spPr>
          <a:xfrm>
            <a:off x="822960" y="3886200"/>
            <a:ext cx="2910535" cy="320040"/>
          </a:xfrm>
          <a:prstGeom prst="rect">
            <a:avLst/>
          </a:prstGeom>
          <a:noFill/>
          <a:ln/>
        </p:spPr>
        <p:txBody>
          <a:bodyPr wrap="square" lIns="0" tIns="0" rIns="0" bIns="0" rtlCol="0" anchor="t"/>
          <a:lstStyle/>
          <a:p>
            <a:pPr rtl="1" algn="r" indent="0" marL="0">
              <a:buNone/>
            </a:pPr>
            <a:r>
              <a:rPr lang="ar-SA" altLang="en-US" sz="1400" b="1" dirty="0">
                <a:solidFill>
                  <a:srgbClr val="C2593A"/>
                </a:solidFill>
              </a:rPr>
              <a:t>المُخرَج المقترح</a:t>
            </a:r>
            <a:endParaRPr lang="ar-SA" sz="1400" dirty="0"/>
          </a:p>
        </p:txBody>
      </p:sp>
      <p:sp>
        <p:nvSpPr>
          <p:cNvPr id="43" name="Text 41"/>
          <p:cNvSpPr txBox="1"/>
          <p:nvPr/>
        </p:nvSpPr>
        <p:spPr>
          <a:xfrm>
            <a:off x="822960" y="4251960"/>
            <a:ext cx="2910535" cy="1828800"/>
          </a:xfrm>
          <a:prstGeom prst="rect">
            <a:avLst/>
          </a:prstGeom>
          <a:noFill/>
          <a:ln/>
        </p:spPr>
        <p:txBody>
          <a:bodyPr wrap="square" lIns="0" tIns="0" rIns="0" bIns="0" rtlCol="0" anchor="t"/>
          <a:lstStyle/>
          <a:p>
            <a:pPr algn="r" marL="342900" indent="-342900">
              <a:spcAft>
                <a:spcPts val="500"/>
              </a:spcAft>
              <a:buSzPct val="100000"/>
              <a:buChar char="■"/>
            </a:pPr>
            <a:r>
              <a:rPr lang="ar-SA" altLang="en-US" sz="1300" dirty="0">
                <a:solidFill>
                  <a:srgbClr val="1F2224"/>
                </a:solidFill>
              </a:rPr>
              <a:t>لوحة A3 واحدة</a:t>
            </a:r>
            <a:endParaRPr lang="ar-SA" sz="1300" dirty="0"/>
          </a:p>
          <a:p>
            <a:pPr algn="r" marL="342900" indent="-342900">
              <a:spcAft>
                <a:spcPts val="500"/>
              </a:spcAft>
              <a:buSzPct val="100000"/>
              <a:buChar char="■"/>
            </a:pPr>
            <a:r>
              <a:rPr lang="ar-SA" altLang="en-US" sz="1300" dirty="0">
                <a:solidFill>
                  <a:srgbClr val="1F2224"/>
                </a:solidFill>
              </a:rPr>
              <a:t>مخطط يدوي مع صورة أو اسكتش</a:t>
            </a:r>
            <a:endParaRPr lang="ar-SA" sz="1300" dirty="0"/>
          </a:p>
          <a:p>
            <a:pPr algn="r" marL="342900" indent="-342900">
              <a:spcAft>
                <a:spcPts val="500"/>
              </a:spcAft>
              <a:buSzPct val="100000"/>
              <a:buChar char="■"/>
            </a:pPr>
            <a:r>
              <a:rPr lang="ar-SA" altLang="en-US" sz="1300" dirty="0">
                <a:solidFill>
                  <a:srgbClr val="1F2224"/>
                </a:solidFill>
              </a:rPr>
              <a:t>ترميز لوني للمستويات والفتحات والحركة</a:t>
            </a:r>
            <a:endParaRPr lang="ar-SA" sz="1300" dirty="0"/>
          </a:p>
          <a:p>
            <a:pPr algn="r" marL="342900" indent="-342900">
              <a:spcAft>
                <a:spcPts val="500"/>
              </a:spcAft>
              <a:buSzPct val="100000"/>
              <a:buChar char="■"/>
            </a:pPr>
            <a:r>
              <a:rPr lang="ar-SA" altLang="en-US" sz="1300" dirty="0">
                <a:solidFill>
                  <a:srgbClr val="1F2224"/>
                </a:solidFill>
              </a:rPr>
              <a:t>فقرة قصيرة تجيب عن السؤال</a:t>
            </a:r>
            <a:endParaRPr lang="ar-SA"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KEY TAKEAWAYS</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خلاصة المحاضرة</a:t>
            </a:r>
            <a:endParaRPr lang="ar-SA" sz="3200" dirty="0"/>
          </a:p>
        </p:txBody>
      </p:sp>
      <p:sp>
        <p:nvSpPr>
          <p:cNvPr id="4" name="takeaway 1"/>
          <p:cNvSpPr/>
          <p:nvPr/>
        </p:nvSpPr>
        <p:spPr>
          <a:xfrm>
            <a:off x="6278728" y="1600200"/>
            <a:ext cx="5364328" cy="1280160"/>
          </a:xfrm>
          <a:prstGeom prst="roundRect">
            <a:avLst>
              <a:gd name="adj" fmla="val 5714"/>
            </a:avLst>
          </a:prstGeom>
          <a:solidFill>
            <a:schemeClr val="bg2"/>
          </a:solidFill>
          <a:ln/>
          <a:effectLst>
            <a:outerShdw sx="100000" sy="100000" kx="0" ky="0" algn="bl" rotWithShape="0" blurRad="101600" dist="25400" dir="5400000">
              <a:srgbClr val="000000">
                <a:alpha val="12000"/>
              </a:srgbClr>
            </a:outerShdw>
          </a:effectLst>
        </p:spPr>
      </p:sp>
      <p:sp>
        <p:nvSpPr>
          <p:cNvPr id="5" name="takeaway 1 circle"/>
          <p:cNvSpPr/>
          <p:nvPr/>
        </p:nvSpPr>
        <p:spPr>
          <a:xfrm>
            <a:off x="10682935" y="1892808"/>
            <a:ext cx="694944" cy="694944"/>
          </a:xfrm>
          <a:prstGeom prst="ellipse">
            <a:avLst/>
          </a:prstGeom>
          <a:solidFill>
            <a:srgbClr val="2F6B6A"/>
          </a:solidFill>
          <a:ln/>
        </p:spPr>
      </p:sp>
      <p:pic>
        <p:nvPicPr>
          <p:cNvPr id="6" name="takeaway 1 icon" descr="takeaway 1">    </p:cNvPr>
          <p:cNvPicPr>
            <a:picLocks noChangeAspect="1"/>
          </p:cNvPicPr>
          <p:nvPr/>
        </p:nvPicPr>
        <p:blipFill>
          <a:blip r:embed="rId1"/>
          <a:stretch>
            <a:fillRect/>
          </a:stretch>
        </p:blipFill>
        <p:spPr>
          <a:xfrm>
            <a:off x="10856671" y="2066544"/>
            <a:ext cx="347472" cy="347472"/>
          </a:xfrm>
          <a:prstGeom prst="rect">
            <a:avLst/>
          </a:prstGeom>
        </p:spPr>
      </p:pic>
      <p:sp>
        <p:nvSpPr>
          <p:cNvPr id="7" name="Text 4"/>
          <p:cNvSpPr txBox="1"/>
          <p:nvPr/>
        </p:nvSpPr>
        <p:spPr>
          <a:xfrm>
            <a:off x="6553048" y="1600200"/>
            <a:ext cx="3947008" cy="1280160"/>
          </a:xfrm>
          <a:prstGeom prst="rect">
            <a:avLst/>
          </a:prstGeom>
          <a:noFill/>
          <a:ln/>
        </p:spPr>
        <p:txBody>
          <a:bodyPr wrap="square" lIns="0" tIns="0" rIns="0" bIns="0" rtlCol="0" anchor="ctr"/>
          <a:lstStyle/>
          <a:p>
            <a:pPr rtl="1" algn="r" indent="0" marL="0">
              <a:buNone/>
            </a:pPr>
            <a:r>
              <a:rPr lang="ar-SA" altLang="en-US" sz="1600" b="1" dirty="0">
                <a:solidFill>
                  <a:srgbClr val="1F2224"/>
                </a:solidFill>
              </a:rPr>
              <a:t>التصميم عملية اتخاذ قرارات منظمة، وليس رسم شكل جميل.</a:t>
            </a:r>
            <a:endParaRPr lang="ar-SA" sz="1600" dirty="0"/>
          </a:p>
        </p:txBody>
      </p:sp>
      <p:sp>
        <p:nvSpPr>
          <p:cNvPr id="8" name="takeaway 2"/>
          <p:cNvSpPr/>
          <p:nvPr/>
        </p:nvSpPr>
        <p:spPr>
          <a:xfrm>
            <a:off x="548640" y="1600200"/>
            <a:ext cx="5364328" cy="1280160"/>
          </a:xfrm>
          <a:prstGeom prst="roundRect">
            <a:avLst>
              <a:gd name="adj" fmla="val 5714"/>
            </a:avLst>
          </a:prstGeom>
          <a:solidFill>
            <a:schemeClr val="bg2"/>
          </a:solidFill>
          <a:ln/>
          <a:effectLst>
            <a:outerShdw sx="100000" sy="100000" kx="0" ky="0" algn="bl" rotWithShape="0" blurRad="101600" dist="25400" dir="5400000">
              <a:srgbClr val="000000">
                <a:alpha val="12000"/>
              </a:srgbClr>
            </a:outerShdw>
          </a:effectLst>
        </p:spPr>
      </p:sp>
      <p:sp>
        <p:nvSpPr>
          <p:cNvPr id="9" name="takeaway 2 circle"/>
          <p:cNvSpPr/>
          <p:nvPr/>
        </p:nvSpPr>
        <p:spPr>
          <a:xfrm>
            <a:off x="4952848" y="1892808"/>
            <a:ext cx="694944" cy="694944"/>
          </a:xfrm>
          <a:prstGeom prst="ellipse">
            <a:avLst/>
          </a:prstGeom>
          <a:solidFill>
            <a:srgbClr val="2F6B6A"/>
          </a:solidFill>
          <a:ln/>
        </p:spPr>
      </p:sp>
      <p:pic>
        <p:nvPicPr>
          <p:cNvPr id="10" name="takeaway 2 icon" descr="takeaway 2">    </p:cNvPr>
          <p:cNvPicPr>
            <a:picLocks noChangeAspect="1"/>
          </p:cNvPicPr>
          <p:nvPr/>
        </p:nvPicPr>
        <p:blipFill>
          <a:blip r:embed="rId2"/>
          <a:stretch>
            <a:fillRect/>
          </a:stretch>
        </p:blipFill>
        <p:spPr>
          <a:xfrm>
            <a:off x="5126584" y="2066544"/>
            <a:ext cx="347472" cy="347472"/>
          </a:xfrm>
          <a:prstGeom prst="rect">
            <a:avLst/>
          </a:prstGeom>
        </p:spPr>
      </p:pic>
      <p:sp>
        <p:nvSpPr>
          <p:cNvPr id="11" name="Text 7"/>
          <p:cNvSpPr txBox="1"/>
          <p:nvPr/>
        </p:nvSpPr>
        <p:spPr>
          <a:xfrm>
            <a:off x="822960" y="1600200"/>
            <a:ext cx="3947008" cy="1280160"/>
          </a:xfrm>
          <a:prstGeom prst="rect">
            <a:avLst/>
          </a:prstGeom>
          <a:noFill/>
          <a:ln/>
        </p:spPr>
        <p:txBody>
          <a:bodyPr wrap="square" lIns="0" tIns="0" rIns="0" bIns="0" rtlCol="0" anchor="ctr"/>
          <a:lstStyle/>
          <a:p>
            <a:pPr rtl="1" algn="r" indent="0" marL="0">
              <a:buNone/>
            </a:pPr>
            <a:r>
              <a:rPr lang="ar-SA" altLang="en-US" sz="1600" b="1" dirty="0">
                <a:solidFill>
                  <a:srgbClr val="1F2224"/>
                </a:solidFill>
              </a:rPr>
              <a:t>التصميم الداخلي = إنسان + وظيفة + فراغ + تجربة</a:t>
            </a:r>
            <a:endParaRPr lang="ar-SA" sz="1600" dirty="0"/>
          </a:p>
        </p:txBody>
      </p:sp>
      <p:sp>
        <p:nvSpPr>
          <p:cNvPr id="12" name="takeaway 3"/>
          <p:cNvSpPr/>
          <p:nvPr/>
        </p:nvSpPr>
        <p:spPr>
          <a:xfrm>
            <a:off x="6278728" y="3154680"/>
            <a:ext cx="5364328" cy="1280160"/>
          </a:xfrm>
          <a:prstGeom prst="roundRect">
            <a:avLst>
              <a:gd name="adj" fmla="val 5714"/>
            </a:avLst>
          </a:prstGeom>
          <a:solidFill>
            <a:schemeClr val="bg2"/>
          </a:solidFill>
          <a:ln/>
          <a:effectLst>
            <a:outerShdw sx="100000" sy="100000" kx="0" ky="0" algn="bl" rotWithShape="0" blurRad="101600" dist="25400" dir="5400000">
              <a:srgbClr val="000000">
                <a:alpha val="12000"/>
              </a:srgbClr>
            </a:outerShdw>
          </a:effectLst>
        </p:spPr>
      </p:sp>
      <p:sp>
        <p:nvSpPr>
          <p:cNvPr id="13" name="takeaway 3 circle"/>
          <p:cNvSpPr/>
          <p:nvPr/>
        </p:nvSpPr>
        <p:spPr>
          <a:xfrm>
            <a:off x="10682935" y="3447288"/>
            <a:ext cx="694944" cy="694944"/>
          </a:xfrm>
          <a:prstGeom prst="ellipse">
            <a:avLst/>
          </a:prstGeom>
          <a:solidFill>
            <a:srgbClr val="2F6B6A"/>
          </a:solidFill>
          <a:ln/>
        </p:spPr>
      </p:sp>
      <p:pic>
        <p:nvPicPr>
          <p:cNvPr id="14" name="takeaway 3 icon" descr="takeaway 3">    </p:cNvPr>
          <p:cNvPicPr>
            <a:picLocks noChangeAspect="1"/>
          </p:cNvPicPr>
          <p:nvPr/>
        </p:nvPicPr>
        <p:blipFill>
          <a:blip r:embed="rId3"/>
          <a:stretch>
            <a:fillRect/>
          </a:stretch>
        </p:blipFill>
        <p:spPr>
          <a:xfrm>
            <a:off x="10856671" y="3621024"/>
            <a:ext cx="347472" cy="347472"/>
          </a:xfrm>
          <a:prstGeom prst="rect">
            <a:avLst/>
          </a:prstGeom>
        </p:spPr>
      </p:pic>
      <p:sp>
        <p:nvSpPr>
          <p:cNvPr id="15" name="Text 10"/>
          <p:cNvSpPr txBox="1"/>
          <p:nvPr/>
        </p:nvSpPr>
        <p:spPr>
          <a:xfrm>
            <a:off x="6553048" y="3154680"/>
            <a:ext cx="3947008" cy="1280160"/>
          </a:xfrm>
          <a:prstGeom prst="rect">
            <a:avLst/>
          </a:prstGeom>
          <a:noFill/>
          <a:ln/>
        </p:spPr>
        <p:txBody>
          <a:bodyPr wrap="square" lIns="0" tIns="0" rIns="0" bIns="0" rtlCol="0" anchor="ctr"/>
          <a:lstStyle/>
          <a:p>
            <a:pPr rtl="1" algn="r" indent="0" marL="0">
              <a:buNone/>
            </a:pPr>
            <a:r>
              <a:rPr lang="ar-SA" altLang="en-US" sz="1600" b="1" dirty="0">
                <a:solidFill>
                  <a:srgbClr val="1F2224"/>
                </a:solidFill>
              </a:rPr>
              <a:t>الديكور يغيّر المظهر؛ التصميم الداخلي يشكّل الفراغ والتجربة.</a:t>
            </a:r>
            <a:endParaRPr lang="ar-SA" sz="1600" dirty="0"/>
          </a:p>
        </p:txBody>
      </p:sp>
      <p:sp>
        <p:nvSpPr>
          <p:cNvPr id="16" name="takeaway 4"/>
          <p:cNvSpPr/>
          <p:nvPr/>
        </p:nvSpPr>
        <p:spPr>
          <a:xfrm>
            <a:off x="548640" y="3154680"/>
            <a:ext cx="5364328" cy="1280160"/>
          </a:xfrm>
          <a:prstGeom prst="roundRect">
            <a:avLst>
              <a:gd name="adj" fmla="val 5714"/>
            </a:avLst>
          </a:prstGeom>
          <a:solidFill>
            <a:schemeClr val="bg2"/>
          </a:solidFill>
          <a:ln/>
          <a:effectLst>
            <a:outerShdw sx="100000" sy="100000" kx="0" ky="0" algn="bl" rotWithShape="0" blurRad="101600" dist="25400" dir="5400000">
              <a:srgbClr val="000000">
                <a:alpha val="12000"/>
              </a:srgbClr>
            </a:outerShdw>
          </a:effectLst>
        </p:spPr>
      </p:sp>
      <p:sp>
        <p:nvSpPr>
          <p:cNvPr id="17" name="takeaway 4 circle"/>
          <p:cNvSpPr/>
          <p:nvPr/>
        </p:nvSpPr>
        <p:spPr>
          <a:xfrm>
            <a:off x="4952848" y="3447288"/>
            <a:ext cx="694944" cy="694944"/>
          </a:xfrm>
          <a:prstGeom prst="ellipse">
            <a:avLst/>
          </a:prstGeom>
          <a:solidFill>
            <a:srgbClr val="2F6B6A"/>
          </a:solidFill>
          <a:ln/>
        </p:spPr>
      </p:sp>
      <p:pic>
        <p:nvPicPr>
          <p:cNvPr id="18" name="takeaway 4 icon" descr="takeaway 4">    </p:cNvPr>
          <p:cNvPicPr>
            <a:picLocks noChangeAspect="1"/>
          </p:cNvPicPr>
          <p:nvPr/>
        </p:nvPicPr>
        <p:blipFill>
          <a:blip r:embed="rId4"/>
          <a:stretch>
            <a:fillRect/>
          </a:stretch>
        </p:blipFill>
        <p:spPr>
          <a:xfrm>
            <a:off x="5126584" y="3621024"/>
            <a:ext cx="347472" cy="347472"/>
          </a:xfrm>
          <a:prstGeom prst="rect">
            <a:avLst/>
          </a:prstGeom>
        </p:spPr>
      </p:pic>
      <p:sp>
        <p:nvSpPr>
          <p:cNvPr id="19" name="Text 13"/>
          <p:cNvSpPr txBox="1"/>
          <p:nvPr/>
        </p:nvSpPr>
        <p:spPr>
          <a:xfrm>
            <a:off x="822960" y="3154680"/>
            <a:ext cx="3947008" cy="1280160"/>
          </a:xfrm>
          <a:prstGeom prst="rect">
            <a:avLst/>
          </a:prstGeom>
          <a:noFill/>
          <a:ln/>
        </p:spPr>
        <p:txBody>
          <a:bodyPr wrap="square" lIns="0" tIns="0" rIns="0" bIns="0" rtlCol="0" anchor="ctr"/>
          <a:lstStyle/>
          <a:p>
            <a:pPr rtl="1" algn="r" indent="0" marL="0">
              <a:buNone/>
            </a:pPr>
            <a:r>
              <a:rPr lang="ar-SA" altLang="en-US" sz="1600" b="1" dirty="0">
                <a:solidFill>
                  <a:srgbClr val="1F2224"/>
                </a:solidFill>
              </a:rPr>
              <a:t>نحن نصمم الفراغ، والفراغ يتحدد بما يحدث داخله.</a:t>
            </a:r>
            <a:endParaRPr lang="ar-SA" sz="1600" dirty="0"/>
          </a:p>
        </p:txBody>
      </p:sp>
      <p:sp>
        <p:nvSpPr>
          <p:cNvPr id="20" name="takeaway 5"/>
          <p:cNvSpPr/>
          <p:nvPr/>
        </p:nvSpPr>
        <p:spPr>
          <a:xfrm>
            <a:off x="6278728" y="4709160"/>
            <a:ext cx="5364328" cy="1280160"/>
          </a:xfrm>
          <a:prstGeom prst="roundRect">
            <a:avLst>
              <a:gd name="adj" fmla="val 5714"/>
            </a:avLst>
          </a:prstGeom>
          <a:solidFill>
            <a:schemeClr val="bg2"/>
          </a:solidFill>
          <a:ln/>
          <a:effectLst>
            <a:outerShdw sx="100000" sy="100000" kx="0" ky="0" algn="bl" rotWithShape="0" blurRad="101600" dist="25400" dir="5400000">
              <a:srgbClr val="000000">
                <a:alpha val="12000"/>
              </a:srgbClr>
            </a:outerShdw>
          </a:effectLst>
        </p:spPr>
      </p:sp>
      <p:sp>
        <p:nvSpPr>
          <p:cNvPr id="21" name="takeaway 5 circle"/>
          <p:cNvSpPr/>
          <p:nvPr/>
        </p:nvSpPr>
        <p:spPr>
          <a:xfrm>
            <a:off x="10682935" y="5001768"/>
            <a:ext cx="694944" cy="694944"/>
          </a:xfrm>
          <a:prstGeom prst="ellipse">
            <a:avLst/>
          </a:prstGeom>
          <a:solidFill>
            <a:srgbClr val="2F6B6A"/>
          </a:solidFill>
          <a:ln/>
        </p:spPr>
      </p:sp>
      <p:pic>
        <p:nvPicPr>
          <p:cNvPr id="22" name="takeaway 5 icon" descr="takeaway 5">    </p:cNvPr>
          <p:cNvPicPr>
            <a:picLocks noChangeAspect="1"/>
          </p:cNvPicPr>
          <p:nvPr/>
        </p:nvPicPr>
        <p:blipFill>
          <a:blip r:embed="rId5"/>
          <a:stretch>
            <a:fillRect/>
          </a:stretch>
        </p:blipFill>
        <p:spPr>
          <a:xfrm>
            <a:off x="10856671" y="5175504"/>
            <a:ext cx="347472" cy="347472"/>
          </a:xfrm>
          <a:prstGeom prst="rect">
            <a:avLst/>
          </a:prstGeom>
        </p:spPr>
      </p:pic>
      <p:sp>
        <p:nvSpPr>
          <p:cNvPr id="23" name="Text 16"/>
          <p:cNvSpPr txBox="1"/>
          <p:nvPr/>
        </p:nvSpPr>
        <p:spPr>
          <a:xfrm>
            <a:off x="6553048" y="4709160"/>
            <a:ext cx="3947008" cy="1280160"/>
          </a:xfrm>
          <a:prstGeom prst="rect">
            <a:avLst/>
          </a:prstGeom>
          <a:noFill/>
          <a:ln/>
        </p:spPr>
        <p:txBody>
          <a:bodyPr wrap="square" lIns="0" tIns="0" rIns="0" bIns="0" rtlCol="0" anchor="ctr"/>
          <a:lstStyle/>
          <a:p>
            <a:pPr rtl="1" algn="r" indent="0" marL="0">
              <a:buNone/>
            </a:pPr>
            <a:r>
              <a:rPr lang="ar-SA" altLang="en-US" sz="1600" b="1" dirty="0">
                <a:solidFill>
                  <a:srgbClr val="1F2224"/>
                </a:solidFill>
              </a:rPr>
              <a:t>الأرضية والجدار والسقف والفتحات أدوات لتشكيل الفراغ.</a:t>
            </a:r>
            <a:endParaRPr lang="ar-SA" sz="1600" dirty="0"/>
          </a:p>
        </p:txBody>
      </p:sp>
      <p:sp>
        <p:nvSpPr>
          <p:cNvPr id="24" name="takeaway 6"/>
          <p:cNvSpPr/>
          <p:nvPr/>
        </p:nvSpPr>
        <p:spPr>
          <a:xfrm>
            <a:off x="548640" y="4709160"/>
            <a:ext cx="5364328" cy="1280160"/>
          </a:xfrm>
          <a:prstGeom prst="roundRect">
            <a:avLst>
              <a:gd name="adj" fmla="val 5714"/>
            </a:avLst>
          </a:prstGeom>
          <a:solidFill>
            <a:schemeClr val="bg2"/>
          </a:solidFill>
          <a:ln/>
          <a:effectLst>
            <a:outerShdw sx="100000" sy="100000" kx="0" ky="0" algn="bl" rotWithShape="0" blurRad="101600" dist="25400" dir="5400000">
              <a:srgbClr val="000000">
                <a:alpha val="12000"/>
              </a:srgbClr>
            </a:outerShdw>
          </a:effectLst>
        </p:spPr>
      </p:sp>
      <p:sp>
        <p:nvSpPr>
          <p:cNvPr id="25" name="takeaway 6 circle"/>
          <p:cNvSpPr/>
          <p:nvPr/>
        </p:nvSpPr>
        <p:spPr>
          <a:xfrm>
            <a:off x="4952848" y="5001768"/>
            <a:ext cx="694944" cy="694944"/>
          </a:xfrm>
          <a:prstGeom prst="ellipse">
            <a:avLst/>
          </a:prstGeom>
          <a:solidFill>
            <a:srgbClr val="C2593A"/>
          </a:solidFill>
          <a:ln/>
        </p:spPr>
      </p:sp>
      <p:pic>
        <p:nvPicPr>
          <p:cNvPr id="26" name="takeaway 6 icon" descr="takeaway 6">    </p:cNvPr>
          <p:cNvPicPr>
            <a:picLocks noChangeAspect="1"/>
          </p:cNvPicPr>
          <p:nvPr/>
        </p:nvPicPr>
        <p:blipFill>
          <a:blip r:embed="rId6"/>
          <a:stretch>
            <a:fillRect/>
          </a:stretch>
        </p:blipFill>
        <p:spPr>
          <a:xfrm>
            <a:off x="5126584" y="5175504"/>
            <a:ext cx="347472" cy="347472"/>
          </a:xfrm>
          <a:prstGeom prst="rect">
            <a:avLst/>
          </a:prstGeom>
        </p:spPr>
      </p:pic>
      <p:sp>
        <p:nvSpPr>
          <p:cNvPr id="27" name="Text 19"/>
          <p:cNvSpPr txBox="1"/>
          <p:nvPr/>
        </p:nvSpPr>
        <p:spPr>
          <a:xfrm>
            <a:off x="822960" y="4709160"/>
            <a:ext cx="3947008" cy="1280160"/>
          </a:xfrm>
          <a:prstGeom prst="rect">
            <a:avLst/>
          </a:prstGeom>
          <a:noFill/>
          <a:ln/>
        </p:spPr>
        <p:txBody>
          <a:bodyPr wrap="square" lIns="0" tIns="0" rIns="0" bIns="0" rtlCol="0" anchor="ctr"/>
          <a:lstStyle/>
          <a:p>
            <a:pPr rtl="1" algn="r" indent="0" marL="0">
              <a:buNone/>
            </a:pPr>
            <a:r>
              <a:rPr lang="ar-SA" altLang="en-US" sz="1600" b="1" dirty="0">
                <a:solidFill>
                  <a:srgbClr val="1F2224"/>
                </a:solidFill>
              </a:rPr>
              <a:t>الوظيفة ← الفراغ ← التجربة ← الشكل</a:t>
            </a:r>
            <a:endParaRPr lang="ar-SA"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quote mark" descr="quote">    </p:cNvPr>
          <p:cNvPicPr>
            <a:picLocks noChangeAspect="1"/>
          </p:cNvPicPr>
          <p:nvPr/>
        </p:nvPicPr>
        <p:blipFill>
          <a:blip r:embed="rId1"/>
          <a:stretch>
            <a:fillRect/>
          </a:stretch>
        </p:blipFill>
        <p:spPr>
          <a:xfrm>
            <a:off x="5730088" y="914400"/>
            <a:ext cx="731520" cy="731520"/>
          </a:xfrm>
          <a:prstGeom prst="rect">
            <a:avLst/>
          </a:prstGeom>
        </p:spPr>
      </p:pic>
      <p:sp>
        <p:nvSpPr>
          <p:cNvPr id="3" name="Text 0"/>
          <p:cNvSpPr txBox="1"/>
          <p:nvPr/>
        </p:nvSpPr>
        <p:spPr>
          <a:xfrm>
            <a:off x="1097280" y="1828800"/>
            <a:ext cx="9997135" cy="1371600"/>
          </a:xfrm>
          <a:prstGeom prst="rect">
            <a:avLst/>
          </a:prstGeom>
          <a:noFill/>
          <a:ln/>
        </p:spPr>
        <p:txBody>
          <a:bodyPr wrap="square" lIns="0" tIns="0" rIns="0" bIns="0" rtlCol="0" anchor="ctr"/>
          <a:lstStyle/>
          <a:p>
            <a:pPr rtl="1" algn="ctr" indent="0" marL="0">
              <a:buNone/>
            </a:pPr>
            <a:r>
              <a:rPr lang="ar-SA" altLang="en-US" sz="3600" b="1" dirty="0">
                <a:solidFill>
                  <a:srgbClr val="FFFFFF"/>
                </a:solidFill>
              </a:rPr>
              <a:t>«قبل أن نتعلم كيف نجمّل الفراغ، يجب أن نتعلم كيف نفهمه.»</a:t>
            </a:r>
            <a:endParaRPr lang="ar-SA" sz="3600" dirty="0"/>
          </a:p>
        </p:txBody>
      </p:sp>
      <p:sp>
        <p:nvSpPr>
          <p:cNvPr id="4" name="Text 1"/>
          <p:cNvSpPr txBox="1"/>
          <p:nvPr/>
        </p:nvSpPr>
        <p:spPr>
          <a:xfrm>
            <a:off x="1097280" y="3200400"/>
            <a:ext cx="9997135" cy="457200"/>
          </a:xfrm>
          <a:prstGeom prst="rect">
            <a:avLst/>
          </a:prstGeom>
          <a:noFill/>
          <a:ln/>
        </p:spPr>
        <p:txBody>
          <a:bodyPr wrap="square" lIns="0" tIns="0" rIns="0" bIns="0" rtlCol="0" anchor="t"/>
          <a:lstStyle/>
          <a:p>
            <a:pPr algn="ctr" indent="0" marL="0">
              <a:buNone/>
            </a:pPr>
            <a:r>
              <a:rPr lang="en-US" sz="1600" i="1" dirty="0">
                <a:solidFill>
                  <a:srgbClr val="8A9A9B"/>
                </a:solidFill>
              </a:rPr>
              <a:t>Before we learn how to beautify a space, we must learn how to understand it.</a:t>
            </a:r>
            <a:endParaRPr lang="en-US" sz="1600" dirty="0"/>
          </a:p>
        </p:txBody>
      </p:sp>
      <p:sp>
        <p:nvSpPr>
          <p:cNvPr id="5" name="next lecture"/>
          <p:cNvSpPr/>
          <p:nvPr/>
        </p:nvSpPr>
        <p:spPr>
          <a:xfrm>
            <a:off x="2011680" y="4160520"/>
            <a:ext cx="8168335" cy="1691640"/>
          </a:xfrm>
          <a:prstGeom prst="roundRect">
            <a:avLst>
              <a:gd name="adj" fmla="val 4324"/>
            </a:avLst>
          </a:prstGeom>
          <a:solidFill>
            <a:srgbClr val="3A4146"/>
          </a:solidFill>
          <a:ln/>
        </p:spPr>
      </p:sp>
      <p:sp>
        <p:nvSpPr>
          <p:cNvPr id="6" name="Text 3"/>
          <p:cNvSpPr txBox="1"/>
          <p:nvPr/>
        </p:nvSpPr>
        <p:spPr>
          <a:xfrm>
            <a:off x="2286000" y="4297680"/>
            <a:ext cx="7619695" cy="365760"/>
          </a:xfrm>
          <a:prstGeom prst="rect">
            <a:avLst/>
          </a:prstGeom>
          <a:noFill/>
          <a:ln/>
        </p:spPr>
        <p:txBody>
          <a:bodyPr wrap="square" lIns="0" tIns="0" rIns="0" bIns="0" rtlCol="0" anchor="t"/>
          <a:lstStyle/>
          <a:p>
            <a:pPr rtl="1" algn="ctr" indent="0" marL="0">
              <a:buNone/>
            </a:pPr>
            <a:r>
              <a:rPr lang="ar-SA" altLang="en-US" sz="1500" b="1" dirty="0">
                <a:solidFill>
                  <a:srgbClr val="D9A441"/>
                </a:solidFill>
              </a:rPr>
              <a:t>المحاضرات القادمة</a:t>
            </a:r>
            <a:endParaRPr lang="ar-SA" sz="1500" dirty="0"/>
          </a:p>
        </p:txBody>
      </p:sp>
      <p:sp>
        <p:nvSpPr>
          <p:cNvPr id="7" name="Text 4"/>
          <p:cNvSpPr txBox="1"/>
          <p:nvPr/>
        </p:nvSpPr>
        <p:spPr>
          <a:xfrm>
            <a:off x="2286000" y="4663440"/>
            <a:ext cx="7619695" cy="685800"/>
          </a:xfrm>
          <a:prstGeom prst="rect">
            <a:avLst/>
          </a:prstGeom>
          <a:noFill/>
          <a:ln/>
        </p:spPr>
        <p:txBody>
          <a:bodyPr wrap="square" lIns="0" tIns="0" rIns="0" bIns="0" rtlCol="0" anchor="t"/>
          <a:lstStyle/>
          <a:p>
            <a:pPr rtl="1" algn="ctr" indent="0" marL="0">
              <a:buNone/>
            </a:pPr>
            <a:r>
              <a:rPr lang="ar-SA" altLang="en-US" sz="1500" dirty="0">
                <a:solidFill>
                  <a:srgbClr val="FFFFFF"/>
                </a:solidFill>
              </a:rPr>
              <a:t>نبدأ بتفكيك الفراغ إلى عناصره الأساسية، ونرى كيف تتحول هذه العناصر البسيطة إلى فراغات معمارية وداخلية حقيقية.</a:t>
            </a:r>
            <a:endParaRPr lang="ar-SA" sz="1500" dirty="0"/>
          </a:p>
        </p:txBody>
      </p:sp>
      <p:sp>
        <p:nvSpPr>
          <p:cNvPr id="8" name="Text 5"/>
          <p:cNvSpPr txBox="1"/>
          <p:nvPr/>
        </p:nvSpPr>
        <p:spPr>
          <a:xfrm>
            <a:off x="2286000" y="5349240"/>
            <a:ext cx="7619695" cy="365760"/>
          </a:xfrm>
          <a:prstGeom prst="rect">
            <a:avLst/>
          </a:prstGeom>
          <a:noFill/>
          <a:ln/>
        </p:spPr>
        <p:txBody>
          <a:bodyPr wrap="square" lIns="0" tIns="0" rIns="0" bIns="0" rtlCol="0" anchor="t"/>
          <a:lstStyle/>
          <a:p>
            <a:pPr algn="ctr" indent="0" marL="0">
              <a:buNone/>
            </a:pPr>
            <a:r>
              <a:rPr lang="en-US" sz="1600" b="1" spc="300" kern="0" dirty="0">
                <a:solidFill>
                  <a:srgbClr val="C2593A"/>
                </a:solidFill>
              </a:rPr>
              <a:t>POINT  ·  LINE  ·  PLANE  ·  VOLUME</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lstStyle/>
          <a:p>
            <a:pPr algn="r" indent="0" marL="0">
              <a:buNone/>
            </a:pPr>
            <a:r>
              <a:rPr lang="en-US" sz="1300" b="1" spc="100" kern="0" dirty="0">
                <a:solidFill>
                  <a:schemeClr val="accent1"/>
                </a:solidFill>
              </a:rPr>
              <a:t>REFERENCES</a:t>
            </a:r>
            <a:endParaRPr lang="en-US" sz="1300" dirty="0"/>
          </a:p>
        </p:txBody>
      </p:sp>
      <p:sp>
        <p:nvSpPr>
          <p:cNvPr id="3" name="Text 0"/>
          <p:cNvSpPr/>
          <p:nvPr>
            <p:ph idx="101" type="title" hasCustomPrompt="1"/>
          </p:nvPr>
        </p:nvSpPr>
        <p:spPr>
          <a:xfrm>
            <a:off x="548640" y="658368"/>
            <a:ext cx="11094415" cy="685800"/>
          </a:xfrm>
          <a:prstGeom prst="rect">
            <a:avLst/>
          </a:prstGeom>
          <a:noFill/>
          <a:ln/>
        </p:spPr>
        <p:txBody>
          <a:bodyPr wrap="square" lIns="0" tIns="0" rIns="0" bIns="0" rtlCol="0" anchor="ctr"/>
          <a:lstStyle/>
          <a:p>
            <a:pPr rtl="1" algn="r" indent="0" marL="0">
              <a:buNone/>
            </a:pPr>
            <a:r>
              <a:rPr lang="ar-SA" altLang="en-US" sz="3200" b="1" dirty="0">
                <a:solidFill>
                  <a:schemeClr val="tx1"/>
                </a:solidFill>
              </a:rPr>
              <a:t>المراجع</a:t>
            </a:r>
            <a:endParaRPr lang="ar-SA" sz="3200" dirty="0"/>
          </a:p>
        </p:txBody>
      </p:sp>
      <p:sp>
        <p:nvSpPr>
          <p:cNvPr id="4" name="references circle"/>
          <p:cNvSpPr/>
          <p:nvPr/>
        </p:nvSpPr>
        <p:spPr>
          <a:xfrm>
            <a:off x="10911535" y="1645920"/>
            <a:ext cx="731520" cy="731520"/>
          </a:xfrm>
          <a:prstGeom prst="ellipse">
            <a:avLst/>
          </a:prstGeom>
          <a:solidFill>
            <a:srgbClr val="2F6B6A"/>
          </a:solidFill>
          <a:ln/>
        </p:spPr>
      </p:sp>
      <p:pic>
        <p:nvPicPr>
          <p:cNvPr id="5" name="references icon" descr="references">    </p:cNvPr>
          <p:cNvPicPr>
            <a:picLocks noChangeAspect="1"/>
          </p:cNvPicPr>
          <p:nvPr/>
        </p:nvPicPr>
        <p:blipFill>
          <a:blip r:embed="rId1"/>
          <a:stretch>
            <a:fillRect/>
          </a:stretch>
        </p:blipFill>
        <p:spPr>
          <a:xfrm>
            <a:off x="11094415" y="1828800"/>
            <a:ext cx="365760" cy="365760"/>
          </a:xfrm>
          <a:prstGeom prst="rect">
            <a:avLst/>
          </a:prstGeom>
        </p:spPr>
      </p:pic>
      <p:sp>
        <p:nvSpPr>
          <p:cNvPr id="6" name="Text 3"/>
          <p:cNvSpPr txBox="1"/>
          <p:nvPr/>
        </p:nvSpPr>
        <p:spPr>
          <a:xfrm>
            <a:off x="548640" y="1645920"/>
            <a:ext cx="9997135" cy="3840480"/>
          </a:xfrm>
          <a:prstGeom prst="rect">
            <a:avLst/>
          </a:prstGeom>
          <a:noFill/>
          <a:ln/>
        </p:spPr>
        <p:txBody>
          <a:bodyPr wrap="square" lIns="0" tIns="0" rIns="0" bIns="0" rtlCol="0" anchor="t"/>
          <a:lstStyle/>
          <a:p>
            <a:pPr algn="l" marL="342900" indent="-342900">
              <a:spcAft>
                <a:spcPts val="1400"/>
              </a:spcAft>
              <a:buSzPct val="100000"/>
              <a:buFont typeface="+mj-lt"/>
              <a:buAutoNum type="arabicPeriod" startAt="1"/>
            </a:pPr>
            <a:r>
              <a:rPr lang="en-US" sz="1600" dirty="0">
                <a:solidFill>
                  <a:srgbClr val="1F2224"/>
                </a:solidFill>
              </a:rPr>
              <a:t>Ching, F. D. K. (2015). Architecture: Form, Space, and Order (4th ed.). Hoboken, NJ: Wiley.  — Course reference: Theory of Architecture</a:t>
            </a:r>
            <a:endParaRPr lang="en-US" sz="1600" dirty="0"/>
          </a:p>
          <a:p>
            <a:pPr algn="l" marL="342900" indent="-342900">
              <a:spcAft>
                <a:spcPts val="1400"/>
              </a:spcAft>
              <a:buSzPct val="100000"/>
              <a:buFont typeface="+mj-lt"/>
              <a:buAutoNum type="arabicPeriod" startAt="1"/>
            </a:pPr>
            <a:r>
              <a:rPr lang="en-US" sz="1600" dirty="0">
                <a:solidFill>
                  <a:srgbClr val="1F2224"/>
                </a:solidFill>
              </a:rPr>
              <a:t>Ching, F. D. K., &amp; Binggeli, C. (2018). Interior Design Illustrated (4th ed.). Hoboken, NJ: Wiley.</a:t>
            </a:r>
            <a:endParaRPr lang="en-US" sz="1600" dirty="0"/>
          </a:p>
          <a:p>
            <a:pPr algn="l" marL="342900" indent="-342900">
              <a:spcAft>
                <a:spcPts val="1400"/>
              </a:spcAft>
              <a:buSzPct val="100000"/>
              <a:buFont typeface="+mj-lt"/>
              <a:buAutoNum type="arabicPeriod" startAt="1"/>
            </a:pPr>
            <a:r>
              <a:rPr lang="en-US" sz="1600" dirty="0">
                <a:solidFill>
                  <a:srgbClr val="1F2224"/>
                </a:solidFill>
              </a:rPr>
              <a:t>Pile, J. F., &amp; Gura, J. (2014). A History of Interior Design (4th ed.). London: Laurence King.</a:t>
            </a:r>
            <a:endParaRPr lang="en-US" sz="1600" dirty="0"/>
          </a:p>
          <a:p>
            <a:pPr algn="l" marL="342900" indent="-342900">
              <a:spcAft>
                <a:spcPts val="1400"/>
              </a:spcAft>
              <a:buSzPct val="100000"/>
              <a:buFont typeface="+mj-lt"/>
              <a:buAutoNum type="arabicPeriod" startAt="1"/>
            </a:pPr>
            <a:r>
              <a:rPr lang="en-US" sz="1600" dirty="0">
                <a:solidFill>
                  <a:srgbClr val="1F2224"/>
                </a:solidFill>
              </a:rPr>
              <a:t>Panero, J., &amp; Zelnik, M. (1979). Human Dimension &amp; Interior Space. New York: Whitney Library of Design.</a:t>
            </a:r>
            <a:endParaRPr lang="en-US" sz="1600" dirty="0"/>
          </a:p>
          <a:p>
            <a:pPr algn="l" marL="342900" indent="-342900">
              <a:spcAft>
                <a:spcPts val="1400"/>
              </a:spcAft>
              <a:buSzPct val="100000"/>
              <a:buFont typeface="+mj-lt"/>
              <a:buAutoNum type="arabicPeriod" startAt="1"/>
            </a:pPr>
            <a:r>
              <a:rPr lang="en-US" sz="1600" dirty="0">
                <a:solidFill>
                  <a:srgbClr val="1F2224"/>
                </a:solidFill>
              </a:rPr>
              <a:t>Neufert, E., &amp; Neufert, P. (2019). Architects' Data (5th ed.). Chichester: Wiley-Blackwell.</a:t>
            </a:r>
            <a:endParaRPr lang="en-US" sz="1600" dirty="0"/>
          </a:p>
          <a:p>
            <a:pPr algn="l" marL="342900" indent="-342900">
              <a:spcAft>
                <a:spcPts val="1400"/>
              </a:spcAft>
              <a:buSzPct val="100000"/>
              <a:buFont typeface="+mj-lt"/>
              <a:buAutoNum type="arabicPeriod" startAt="1"/>
            </a:pPr>
            <a:r>
              <a:rPr lang="en-US" sz="1600" dirty="0">
                <a:solidFill>
                  <a:srgbClr val="1F2224"/>
                </a:solidFill>
              </a:rPr>
              <a:t>Theory of Architecture — course lecture notes (SRM University). Source of example images.</a:t>
            </a:r>
            <a:endParaRPr lang="en-US" sz="1600" dirty="0"/>
          </a:p>
        </p:txBody>
      </p:sp>
      <p:sp>
        <p:nvSpPr>
          <p:cNvPr id="7" name="Text 4"/>
          <p:cNvSpPr txBox="1"/>
          <p:nvPr/>
        </p:nvSpPr>
        <p:spPr>
          <a:xfrm>
            <a:off x="548640" y="5760720"/>
            <a:ext cx="11094415" cy="365760"/>
          </a:xfrm>
          <a:prstGeom prst="rect">
            <a:avLst/>
          </a:prstGeom>
          <a:noFill/>
          <a:ln/>
        </p:spPr>
        <p:txBody>
          <a:bodyPr wrap="square" lIns="0" tIns="0" rIns="0" bIns="0" rtlCol="0" anchor="t"/>
          <a:lstStyle/>
          <a:p>
            <a:pPr rtl="1" algn="r" indent="0" marL="0">
              <a:buNone/>
            </a:pPr>
            <a:r>
              <a:rPr lang="ar-SA" altLang="en-US" sz="1200" i="1" dirty="0">
                <a:solidFill>
                  <a:srgbClr val="5B6770"/>
                </a:solidFill>
              </a:rPr>
              <a:t>المخططات رُسمت توضيحيًا اعتمادًا على مفاهيم المرجع؛ والصور التوضيحية مأخوذة من ملف المادة.</a:t>
            </a:r>
            <a:endParaRPr lang="ar-SA"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Interior Studio">
  <a:themeElements>
    <a:clrScheme name="Interior Studio">
      <a:dk1>
        <a:srgbClr val="1F2224"/>
      </a:dk1>
      <a:lt1>
        <a:srgbClr val="FFFFFF"/>
      </a:lt1>
      <a:dk2>
        <a:srgbClr val="3A4146"/>
      </a:dk2>
      <a:lt2>
        <a:srgbClr val="EEF0F0"/>
      </a:lt2>
      <a:accent1>
        <a:srgbClr val="C2593A"/>
      </a:accent1>
      <a:accent2>
        <a:srgbClr val="2F6B6A"/>
      </a:accent2>
      <a:accent3>
        <a:srgbClr val="8A9A9B"/>
      </a:accent3>
      <a:accent4>
        <a:srgbClr val="D9A441"/>
      </a:accent4>
      <a:accent5>
        <a:srgbClr val="5B6770"/>
      </a:accent5>
      <a:accent6>
        <a:srgbClr val="B9C4C4"/>
      </a:accent6>
      <a:hlink>
        <a:srgbClr val="2F6B6A"/>
      </a:hlink>
      <a:folHlink>
        <a:srgbClr val="5B6770"/>
      </a:folHlink>
    </a:clrScheme>
    <a:fontScheme name="Interior Studi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01 — Introduction to Interior Design</dc:title>
  <dc:subject>Introduction to Interior Design &amp; Fundamentals — Studio 3</dc:subject>
  <dc:creator>Studio 3</dc:creator>
  <cp:lastModifiedBy>Studio 3</cp:lastModifiedBy>
  <cp:revision>1</cp:revision>
  <dcterms:created xsi:type="dcterms:W3CDTF">2026-10-07T21:03:31Z</dcterms:created>
  <dcterms:modified xsi:type="dcterms:W3CDTF">2026-10-07T21:03:31Z</dcterms:modified>
</cp:coreProperties>
</file>